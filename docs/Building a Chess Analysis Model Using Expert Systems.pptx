
<file path=[Content_Types].xml><?xml version="1.0" encoding="utf-8"?>
<Types xmlns="http://schemas.openxmlformats.org/package/2006/content-types">
  <Default Extension="gif" ContentType="image/gif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4" r:id="rId1"/>
  </p:sldMasterIdLst>
  <p:sldIdLst>
    <p:sldId id="256" r:id="rId2"/>
    <p:sldId id="261" r:id="rId3"/>
    <p:sldId id="260" r:id="rId4"/>
    <p:sldId id="262" r:id="rId5"/>
    <p:sldId id="264" r:id="rId6"/>
    <p:sldId id="257" r:id="rId7"/>
    <p:sldId id="265" r:id="rId8"/>
    <p:sldId id="266" r:id="rId9"/>
    <p:sldId id="258" r:id="rId10"/>
    <p:sldId id="259" r:id="rId11"/>
    <p:sldId id="263" r:id="rId12"/>
    <p:sldId id="267" r:id="rId13"/>
    <p:sldId id="268" r:id="rId14"/>
    <p:sldId id="277" r:id="rId15"/>
    <p:sldId id="269" r:id="rId16"/>
    <p:sldId id="279" r:id="rId17"/>
    <p:sldId id="280" r:id="rId18"/>
    <p:sldId id="278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9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5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A7A63A-E6C5-4BD8-AC43-695AFD19899D}" type="doc">
      <dgm:prSet loTypeId="urn:microsoft.com/office/officeart/2005/8/layout/process1" loCatId="process" qsTypeId="urn:microsoft.com/office/officeart/2005/8/quickstyle/3d4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77119E6-7318-42CC-84DF-3E5B3E9508A8}">
      <dgm:prSet phldrT="[Text]" phldr="0"/>
      <dgm:spPr/>
      <dgm:t>
        <a:bodyPr/>
        <a:lstStyle/>
        <a:p>
          <a:r>
            <a:rPr lang="en-US" b="0" cap="none" spc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rPr>
            <a:t>intro</a:t>
          </a:r>
          <a:endParaRPr lang="en-US" b="0" cap="none" spc="0" dirty="0">
            <a:ln w="0"/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gm:t>
    </dgm:pt>
    <dgm:pt modelId="{0C8B7203-999C-4060-BD04-60AAFDD7B56A}" type="parTrans" cxnId="{7D6923A3-CD64-47EA-8C95-905F72FB2347}">
      <dgm:prSet/>
      <dgm:spPr/>
      <dgm:t>
        <a:bodyPr/>
        <a:lstStyle/>
        <a:p>
          <a:endParaRPr lang="en-US" b="0" cap="none" spc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gm:t>
    </dgm:pt>
    <dgm:pt modelId="{11C0640A-87D8-4EF7-9A6E-D397D9E30301}" type="sibTrans" cxnId="{7D6923A3-CD64-47EA-8C95-905F72FB2347}">
      <dgm:prSet/>
      <dgm:spPr/>
      <dgm:t>
        <a:bodyPr/>
        <a:lstStyle/>
        <a:p>
          <a:endParaRPr lang="en-US" b="0" cap="none" spc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gm:t>
    </dgm:pt>
    <dgm:pt modelId="{AC2C75F2-0C54-48E5-8148-99588670D226}">
      <dgm:prSet phldrT="[Text]" phldr="0"/>
      <dgm:spPr/>
      <dgm:t>
        <a:bodyPr/>
        <a:lstStyle/>
        <a:p>
          <a:r>
            <a:rPr lang="en-US" b="0" cap="none" spc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rPr>
            <a:t>Expert systems</a:t>
          </a:r>
        </a:p>
      </dgm:t>
    </dgm:pt>
    <dgm:pt modelId="{800D590F-0377-4693-8827-17641871766B}" type="parTrans" cxnId="{B47C8A3D-AC33-4D54-AC64-501B4782486F}">
      <dgm:prSet/>
      <dgm:spPr/>
      <dgm:t>
        <a:bodyPr/>
        <a:lstStyle/>
        <a:p>
          <a:endParaRPr lang="en-US" b="0" cap="none" spc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gm:t>
    </dgm:pt>
    <dgm:pt modelId="{227A0CA2-CA9B-4680-8AD0-532AD3933FCA}" type="sibTrans" cxnId="{B47C8A3D-AC33-4D54-AC64-501B4782486F}">
      <dgm:prSet/>
      <dgm:spPr/>
      <dgm:t>
        <a:bodyPr/>
        <a:lstStyle/>
        <a:p>
          <a:endParaRPr lang="en-US" b="0" cap="none" spc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gm:t>
    </dgm:pt>
    <dgm:pt modelId="{1DCE6FBC-0836-446F-88D5-449F9240F9CB}">
      <dgm:prSet phldrT="[Text]" phldr="0"/>
      <dgm:spPr/>
      <dgm:t>
        <a:bodyPr/>
        <a:lstStyle/>
        <a:p>
          <a:r>
            <a:rPr lang="en-US" b="0" cap="none" spc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rPr>
            <a:t>LLM</a:t>
          </a:r>
          <a:endParaRPr lang="en-US" b="0" cap="none" spc="0" dirty="0">
            <a:ln w="0"/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gm:t>
    </dgm:pt>
    <dgm:pt modelId="{2F99F013-4F44-434C-95DA-B24A3374D6D1}" type="parTrans" cxnId="{4D25057A-A6DF-44F1-8640-98BFD7EBF2B0}">
      <dgm:prSet/>
      <dgm:spPr/>
      <dgm:t>
        <a:bodyPr/>
        <a:lstStyle/>
        <a:p>
          <a:endParaRPr lang="en-US" b="0" cap="none" spc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gm:t>
    </dgm:pt>
    <dgm:pt modelId="{CE666D2F-836B-4416-B64D-74D0DE5A2D74}" type="sibTrans" cxnId="{4D25057A-A6DF-44F1-8640-98BFD7EBF2B0}">
      <dgm:prSet/>
      <dgm:spPr/>
      <dgm:t>
        <a:bodyPr/>
        <a:lstStyle/>
        <a:p>
          <a:endParaRPr lang="en-US" b="0" cap="none" spc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gm:t>
    </dgm:pt>
    <dgm:pt modelId="{229DDE35-5DCC-43D5-AC85-252B39117AD5}">
      <dgm:prSet/>
      <dgm:spPr/>
      <dgm:t>
        <a:bodyPr/>
        <a:lstStyle/>
        <a:p>
          <a:r>
            <a:rPr lang="en-US" b="0" cap="none" spc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rPr>
            <a:t>Chess coach</a:t>
          </a:r>
          <a:endParaRPr lang="en-US" b="0" cap="none" spc="0" dirty="0">
            <a:ln w="0"/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gm:t>
    </dgm:pt>
    <dgm:pt modelId="{B2CA7350-49EB-42F9-BDBC-2C7C14375E3D}" type="parTrans" cxnId="{97FDB23C-E6DD-474D-B2FB-A16119C13D1E}">
      <dgm:prSet/>
      <dgm:spPr/>
      <dgm:t>
        <a:bodyPr/>
        <a:lstStyle/>
        <a:p>
          <a:endParaRPr lang="en-US" b="0" cap="none" spc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gm:t>
    </dgm:pt>
    <dgm:pt modelId="{8B232588-BE7E-43A6-A49C-EF82BB6810DE}" type="sibTrans" cxnId="{97FDB23C-E6DD-474D-B2FB-A16119C13D1E}">
      <dgm:prSet/>
      <dgm:spPr/>
      <dgm:t>
        <a:bodyPr/>
        <a:lstStyle/>
        <a:p>
          <a:endParaRPr lang="en-US" b="0" cap="none" spc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gm:t>
    </dgm:pt>
    <dgm:pt modelId="{FC64BA33-3A8A-4928-8102-88F6C22D6778}">
      <dgm:prSet/>
      <dgm:spPr/>
      <dgm:t>
        <a:bodyPr/>
        <a:lstStyle/>
        <a:p>
          <a:r>
            <a:rPr lang="en-US" b="0" cap="none" spc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rPr>
            <a:t>conclusion</a:t>
          </a:r>
        </a:p>
      </dgm:t>
    </dgm:pt>
    <dgm:pt modelId="{FE6EBB7E-BCA8-4CF7-A477-89855C049526}" type="parTrans" cxnId="{AB356BC6-8B7F-415A-A0A1-32156A135B39}">
      <dgm:prSet/>
      <dgm:spPr/>
      <dgm:t>
        <a:bodyPr/>
        <a:lstStyle/>
        <a:p>
          <a:endParaRPr lang="en-US" b="0" cap="none" spc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gm:t>
    </dgm:pt>
    <dgm:pt modelId="{AABE9C4A-AD14-460A-90A0-4E7790C16680}" type="sibTrans" cxnId="{AB356BC6-8B7F-415A-A0A1-32156A135B39}">
      <dgm:prSet/>
      <dgm:spPr/>
      <dgm:t>
        <a:bodyPr/>
        <a:lstStyle/>
        <a:p>
          <a:endParaRPr lang="en-US" b="0" cap="none" spc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gm:t>
    </dgm:pt>
    <dgm:pt modelId="{818B30D8-3DB2-45BD-B50C-29E3A0C2CD70}" type="pres">
      <dgm:prSet presAssocID="{84A7A63A-E6C5-4BD8-AC43-695AFD19899D}" presName="Name0" presStyleCnt="0">
        <dgm:presLayoutVars>
          <dgm:dir/>
          <dgm:resizeHandles val="exact"/>
        </dgm:presLayoutVars>
      </dgm:prSet>
      <dgm:spPr/>
    </dgm:pt>
    <dgm:pt modelId="{2F484D4E-5FC9-4199-B0AE-B4DA3235535B}" type="pres">
      <dgm:prSet presAssocID="{B77119E6-7318-42CC-84DF-3E5B3E9508A8}" presName="node" presStyleLbl="node1" presStyleIdx="0" presStyleCnt="5">
        <dgm:presLayoutVars>
          <dgm:bulletEnabled val="1"/>
        </dgm:presLayoutVars>
      </dgm:prSet>
      <dgm:spPr/>
    </dgm:pt>
    <dgm:pt modelId="{A7312F88-7052-42C6-B28A-1406DE327902}" type="pres">
      <dgm:prSet presAssocID="{11C0640A-87D8-4EF7-9A6E-D397D9E30301}" presName="sibTrans" presStyleLbl="sibTrans2D1" presStyleIdx="0" presStyleCnt="4"/>
      <dgm:spPr/>
    </dgm:pt>
    <dgm:pt modelId="{BBB87220-900F-4D24-815E-FF36ECB43306}" type="pres">
      <dgm:prSet presAssocID="{11C0640A-87D8-4EF7-9A6E-D397D9E30301}" presName="connectorText" presStyleLbl="sibTrans2D1" presStyleIdx="0" presStyleCnt="4"/>
      <dgm:spPr/>
    </dgm:pt>
    <dgm:pt modelId="{FE9D190A-C6EB-4141-975F-15D271D510BB}" type="pres">
      <dgm:prSet presAssocID="{AC2C75F2-0C54-48E5-8148-99588670D226}" presName="node" presStyleLbl="node1" presStyleIdx="1" presStyleCnt="5">
        <dgm:presLayoutVars>
          <dgm:bulletEnabled val="1"/>
        </dgm:presLayoutVars>
      </dgm:prSet>
      <dgm:spPr/>
    </dgm:pt>
    <dgm:pt modelId="{4EBFA4B3-22AD-465E-9328-219A1FD2AE9A}" type="pres">
      <dgm:prSet presAssocID="{227A0CA2-CA9B-4680-8AD0-532AD3933FCA}" presName="sibTrans" presStyleLbl="sibTrans2D1" presStyleIdx="1" presStyleCnt="4"/>
      <dgm:spPr/>
    </dgm:pt>
    <dgm:pt modelId="{C2262E5D-9B94-4B67-AA7E-0D26C730FA47}" type="pres">
      <dgm:prSet presAssocID="{227A0CA2-CA9B-4680-8AD0-532AD3933FCA}" presName="connectorText" presStyleLbl="sibTrans2D1" presStyleIdx="1" presStyleCnt="4"/>
      <dgm:spPr/>
    </dgm:pt>
    <dgm:pt modelId="{7F727E30-33D1-4D5C-B2F9-1D8B4302E735}" type="pres">
      <dgm:prSet presAssocID="{1DCE6FBC-0836-446F-88D5-449F9240F9CB}" presName="node" presStyleLbl="node1" presStyleIdx="2" presStyleCnt="5">
        <dgm:presLayoutVars>
          <dgm:bulletEnabled val="1"/>
        </dgm:presLayoutVars>
      </dgm:prSet>
      <dgm:spPr/>
    </dgm:pt>
    <dgm:pt modelId="{E5C9F71E-17EC-477E-BD0E-A1EC1C40468F}" type="pres">
      <dgm:prSet presAssocID="{CE666D2F-836B-4416-B64D-74D0DE5A2D74}" presName="sibTrans" presStyleLbl="sibTrans2D1" presStyleIdx="2" presStyleCnt="4"/>
      <dgm:spPr/>
    </dgm:pt>
    <dgm:pt modelId="{B23C2609-8D9A-48F6-BC08-3C326D9FBCA2}" type="pres">
      <dgm:prSet presAssocID="{CE666D2F-836B-4416-B64D-74D0DE5A2D74}" presName="connectorText" presStyleLbl="sibTrans2D1" presStyleIdx="2" presStyleCnt="4"/>
      <dgm:spPr/>
    </dgm:pt>
    <dgm:pt modelId="{6DFD458D-707C-448D-B068-3FCF0C23DCC1}" type="pres">
      <dgm:prSet presAssocID="{229DDE35-5DCC-43D5-AC85-252B39117AD5}" presName="node" presStyleLbl="node1" presStyleIdx="3" presStyleCnt="5">
        <dgm:presLayoutVars>
          <dgm:bulletEnabled val="1"/>
        </dgm:presLayoutVars>
      </dgm:prSet>
      <dgm:spPr/>
    </dgm:pt>
    <dgm:pt modelId="{FB3C55D6-525A-4787-A911-08082B3A03C5}" type="pres">
      <dgm:prSet presAssocID="{8B232588-BE7E-43A6-A49C-EF82BB6810DE}" presName="sibTrans" presStyleLbl="sibTrans2D1" presStyleIdx="3" presStyleCnt="4"/>
      <dgm:spPr/>
    </dgm:pt>
    <dgm:pt modelId="{4874976F-4933-4D21-86F4-80489F082EA8}" type="pres">
      <dgm:prSet presAssocID="{8B232588-BE7E-43A6-A49C-EF82BB6810DE}" presName="connectorText" presStyleLbl="sibTrans2D1" presStyleIdx="3" presStyleCnt="4"/>
      <dgm:spPr/>
    </dgm:pt>
    <dgm:pt modelId="{ADE9E9DF-DCE1-425F-B879-8931137DEF23}" type="pres">
      <dgm:prSet presAssocID="{FC64BA33-3A8A-4928-8102-88F6C22D6778}" presName="node" presStyleLbl="node1" presStyleIdx="4" presStyleCnt="5">
        <dgm:presLayoutVars>
          <dgm:bulletEnabled val="1"/>
        </dgm:presLayoutVars>
      </dgm:prSet>
      <dgm:spPr/>
    </dgm:pt>
  </dgm:ptLst>
  <dgm:cxnLst>
    <dgm:cxn modelId="{852AFF02-DCD4-406E-9391-C91A88EC45A6}" type="presOf" srcId="{AC2C75F2-0C54-48E5-8148-99588670D226}" destId="{FE9D190A-C6EB-4141-975F-15D271D510BB}" srcOrd="0" destOrd="0" presId="urn:microsoft.com/office/officeart/2005/8/layout/process1"/>
    <dgm:cxn modelId="{024D4803-CB06-494F-A381-030733F70556}" type="presOf" srcId="{8B232588-BE7E-43A6-A49C-EF82BB6810DE}" destId="{FB3C55D6-525A-4787-A911-08082B3A03C5}" srcOrd="0" destOrd="0" presId="urn:microsoft.com/office/officeart/2005/8/layout/process1"/>
    <dgm:cxn modelId="{E3465403-A746-4BBF-B96C-FEE1B29C0C28}" type="presOf" srcId="{B77119E6-7318-42CC-84DF-3E5B3E9508A8}" destId="{2F484D4E-5FC9-4199-B0AE-B4DA3235535B}" srcOrd="0" destOrd="0" presId="urn:microsoft.com/office/officeart/2005/8/layout/process1"/>
    <dgm:cxn modelId="{60F0ED09-1362-4190-AA2B-C20AEEEFB2CE}" type="presOf" srcId="{CE666D2F-836B-4416-B64D-74D0DE5A2D74}" destId="{E5C9F71E-17EC-477E-BD0E-A1EC1C40468F}" srcOrd="0" destOrd="0" presId="urn:microsoft.com/office/officeart/2005/8/layout/process1"/>
    <dgm:cxn modelId="{97FDB23C-E6DD-474D-B2FB-A16119C13D1E}" srcId="{84A7A63A-E6C5-4BD8-AC43-695AFD19899D}" destId="{229DDE35-5DCC-43D5-AC85-252B39117AD5}" srcOrd="3" destOrd="0" parTransId="{B2CA7350-49EB-42F9-BDBC-2C7C14375E3D}" sibTransId="{8B232588-BE7E-43A6-A49C-EF82BB6810DE}"/>
    <dgm:cxn modelId="{B47C8A3D-AC33-4D54-AC64-501B4782486F}" srcId="{84A7A63A-E6C5-4BD8-AC43-695AFD19899D}" destId="{AC2C75F2-0C54-48E5-8148-99588670D226}" srcOrd="1" destOrd="0" parTransId="{800D590F-0377-4693-8827-17641871766B}" sibTransId="{227A0CA2-CA9B-4680-8AD0-532AD3933FCA}"/>
    <dgm:cxn modelId="{00AB095E-5583-4E7D-BD66-CF9A9630873B}" type="presOf" srcId="{11C0640A-87D8-4EF7-9A6E-D397D9E30301}" destId="{A7312F88-7052-42C6-B28A-1406DE327902}" srcOrd="0" destOrd="0" presId="urn:microsoft.com/office/officeart/2005/8/layout/process1"/>
    <dgm:cxn modelId="{4D25057A-A6DF-44F1-8640-98BFD7EBF2B0}" srcId="{84A7A63A-E6C5-4BD8-AC43-695AFD19899D}" destId="{1DCE6FBC-0836-446F-88D5-449F9240F9CB}" srcOrd="2" destOrd="0" parTransId="{2F99F013-4F44-434C-95DA-B24A3374D6D1}" sibTransId="{CE666D2F-836B-4416-B64D-74D0DE5A2D74}"/>
    <dgm:cxn modelId="{0ADCCA87-0A1E-453A-940F-CD17DE38BC3D}" type="presOf" srcId="{CE666D2F-836B-4416-B64D-74D0DE5A2D74}" destId="{B23C2609-8D9A-48F6-BC08-3C326D9FBCA2}" srcOrd="1" destOrd="0" presId="urn:microsoft.com/office/officeart/2005/8/layout/process1"/>
    <dgm:cxn modelId="{9800DC97-81C7-4D37-BC76-3A2B9A393E87}" type="presOf" srcId="{227A0CA2-CA9B-4680-8AD0-532AD3933FCA}" destId="{4EBFA4B3-22AD-465E-9328-219A1FD2AE9A}" srcOrd="0" destOrd="0" presId="urn:microsoft.com/office/officeart/2005/8/layout/process1"/>
    <dgm:cxn modelId="{7D6923A3-CD64-47EA-8C95-905F72FB2347}" srcId="{84A7A63A-E6C5-4BD8-AC43-695AFD19899D}" destId="{B77119E6-7318-42CC-84DF-3E5B3E9508A8}" srcOrd="0" destOrd="0" parTransId="{0C8B7203-999C-4060-BD04-60AAFDD7B56A}" sibTransId="{11C0640A-87D8-4EF7-9A6E-D397D9E30301}"/>
    <dgm:cxn modelId="{AB356BC6-8B7F-415A-A0A1-32156A135B39}" srcId="{84A7A63A-E6C5-4BD8-AC43-695AFD19899D}" destId="{FC64BA33-3A8A-4928-8102-88F6C22D6778}" srcOrd="4" destOrd="0" parTransId="{FE6EBB7E-BCA8-4CF7-A477-89855C049526}" sibTransId="{AABE9C4A-AD14-460A-90A0-4E7790C16680}"/>
    <dgm:cxn modelId="{EFE693C9-DDF8-4C8B-B0CC-76A8039FE899}" type="presOf" srcId="{11C0640A-87D8-4EF7-9A6E-D397D9E30301}" destId="{BBB87220-900F-4D24-815E-FF36ECB43306}" srcOrd="1" destOrd="0" presId="urn:microsoft.com/office/officeart/2005/8/layout/process1"/>
    <dgm:cxn modelId="{9E9C1DD1-8A36-48F9-96E6-43A8715A562A}" type="presOf" srcId="{FC64BA33-3A8A-4928-8102-88F6C22D6778}" destId="{ADE9E9DF-DCE1-425F-B879-8931137DEF23}" srcOrd="0" destOrd="0" presId="urn:microsoft.com/office/officeart/2005/8/layout/process1"/>
    <dgm:cxn modelId="{335C06D8-C873-48FB-A0EE-4A41456B55C1}" type="presOf" srcId="{1DCE6FBC-0836-446F-88D5-449F9240F9CB}" destId="{7F727E30-33D1-4D5C-B2F9-1D8B4302E735}" srcOrd="0" destOrd="0" presId="urn:microsoft.com/office/officeart/2005/8/layout/process1"/>
    <dgm:cxn modelId="{F83C08E1-E09C-4AFE-893A-B24A4AD6091F}" type="presOf" srcId="{8B232588-BE7E-43A6-A49C-EF82BB6810DE}" destId="{4874976F-4933-4D21-86F4-80489F082EA8}" srcOrd="1" destOrd="0" presId="urn:microsoft.com/office/officeart/2005/8/layout/process1"/>
    <dgm:cxn modelId="{F90090FB-C736-40FC-B1E6-303FC14A050D}" type="presOf" srcId="{84A7A63A-E6C5-4BD8-AC43-695AFD19899D}" destId="{818B30D8-3DB2-45BD-B50C-29E3A0C2CD70}" srcOrd="0" destOrd="0" presId="urn:microsoft.com/office/officeart/2005/8/layout/process1"/>
    <dgm:cxn modelId="{3775E0FB-2590-4B28-8CDA-49959B7BF144}" type="presOf" srcId="{227A0CA2-CA9B-4680-8AD0-532AD3933FCA}" destId="{C2262E5D-9B94-4B67-AA7E-0D26C730FA47}" srcOrd="1" destOrd="0" presId="urn:microsoft.com/office/officeart/2005/8/layout/process1"/>
    <dgm:cxn modelId="{4FF417FC-1A05-4373-863E-B81507CBD947}" type="presOf" srcId="{229DDE35-5DCC-43D5-AC85-252B39117AD5}" destId="{6DFD458D-707C-448D-B068-3FCF0C23DCC1}" srcOrd="0" destOrd="0" presId="urn:microsoft.com/office/officeart/2005/8/layout/process1"/>
    <dgm:cxn modelId="{74BA1759-3AC0-43C6-8FC7-915B2D3999EB}" type="presParOf" srcId="{818B30D8-3DB2-45BD-B50C-29E3A0C2CD70}" destId="{2F484D4E-5FC9-4199-B0AE-B4DA3235535B}" srcOrd="0" destOrd="0" presId="urn:microsoft.com/office/officeart/2005/8/layout/process1"/>
    <dgm:cxn modelId="{EA352F6A-0C89-4C8F-87B0-48F033BE4813}" type="presParOf" srcId="{818B30D8-3DB2-45BD-B50C-29E3A0C2CD70}" destId="{A7312F88-7052-42C6-B28A-1406DE327902}" srcOrd="1" destOrd="0" presId="urn:microsoft.com/office/officeart/2005/8/layout/process1"/>
    <dgm:cxn modelId="{1CB6BFF7-FC5B-47A7-8B72-D2157DB63F69}" type="presParOf" srcId="{A7312F88-7052-42C6-B28A-1406DE327902}" destId="{BBB87220-900F-4D24-815E-FF36ECB43306}" srcOrd="0" destOrd="0" presId="urn:microsoft.com/office/officeart/2005/8/layout/process1"/>
    <dgm:cxn modelId="{4D7FDCF5-19D3-44C0-A5FB-35950A2ADDA1}" type="presParOf" srcId="{818B30D8-3DB2-45BD-B50C-29E3A0C2CD70}" destId="{FE9D190A-C6EB-4141-975F-15D271D510BB}" srcOrd="2" destOrd="0" presId="urn:microsoft.com/office/officeart/2005/8/layout/process1"/>
    <dgm:cxn modelId="{319DC534-A758-4D89-B19A-65C9042A8FE0}" type="presParOf" srcId="{818B30D8-3DB2-45BD-B50C-29E3A0C2CD70}" destId="{4EBFA4B3-22AD-465E-9328-219A1FD2AE9A}" srcOrd="3" destOrd="0" presId="urn:microsoft.com/office/officeart/2005/8/layout/process1"/>
    <dgm:cxn modelId="{01C612BF-6C90-482E-8833-995FE755B77C}" type="presParOf" srcId="{4EBFA4B3-22AD-465E-9328-219A1FD2AE9A}" destId="{C2262E5D-9B94-4B67-AA7E-0D26C730FA47}" srcOrd="0" destOrd="0" presId="urn:microsoft.com/office/officeart/2005/8/layout/process1"/>
    <dgm:cxn modelId="{A370089C-3CD2-44DB-917C-D75B350FC939}" type="presParOf" srcId="{818B30D8-3DB2-45BD-B50C-29E3A0C2CD70}" destId="{7F727E30-33D1-4D5C-B2F9-1D8B4302E735}" srcOrd="4" destOrd="0" presId="urn:microsoft.com/office/officeart/2005/8/layout/process1"/>
    <dgm:cxn modelId="{1440F4DC-7F27-4F84-9745-8B3CA4E728C8}" type="presParOf" srcId="{818B30D8-3DB2-45BD-B50C-29E3A0C2CD70}" destId="{E5C9F71E-17EC-477E-BD0E-A1EC1C40468F}" srcOrd="5" destOrd="0" presId="urn:microsoft.com/office/officeart/2005/8/layout/process1"/>
    <dgm:cxn modelId="{55B570FC-75B6-4F21-8B8A-70DF978FF4E9}" type="presParOf" srcId="{E5C9F71E-17EC-477E-BD0E-A1EC1C40468F}" destId="{B23C2609-8D9A-48F6-BC08-3C326D9FBCA2}" srcOrd="0" destOrd="0" presId="urn:microsoft.com/office/officeart/2005/8/layout/process1"/>
    <dgm:cxn modelId="{62FFB3E1-0F57-42BF-B11E-9BB3F7124404}" type="presParOf" srcId="{818B30D8-3DB2-45BD-B50C-29E3A0C2CD70}" destId="{6DFD458D-707C-448D-B068-3FCF0C23DCC1}" srcOrd="6" destOrd="0" presId="urn:microsoft.com/office/officeart/2005/8/layout/process1"/>
    <dgm:cxn modelId="{F1C11613-D0BE-454D-BDDC-E4F6E51C0265}" type="presParOf" srcId="{818B30D8-3DB2-45BD-B50C-29E3A0C2CD70}" destId="{FB3C55D6-525A-4787-A911-08082B3A03C5}" srcOrd="7" destOrd="0" presId="urn:microsoft.com/office/officeart/2005/8/layout/process1"/>
    <dgm:cxn modelId="{5DF4DEB2-F93A-4C7B-B3CF-ACEC31CEECC5}" type="presParOf" srcId="{FB3C55D6-525A-4787-A911-08082B3A03C5}" destId="{4874976F-4933-4D21-86F4-80489F082EA8}" srcOrd="0" destOrd="0" presId="urn:microsoft.com/office/officeart/2005/8/layout/process1"/>
    <dgm:cxn modelId="{DC841538-55FE-4B63-95BD-A9D309B5C1EC}" type="presParOf" srcId="{818B30D8-3DB2-45BD-B50C-29E3A0C2CD70}" destId="{ADE9E9DF-DCE1-425F-B879-8931137DEF23}" srcOrd="8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F484D4E-5FC9-4199-B0AE-B4DA3235535B}">
      <dsp:nvSpPr>
        <dsp:cNvPr id="0" name=""/>
        <dsp:cNvSpPr/>
      </dsp:nvSpPr>
      <dsp:spPr>
        <a:xfrm>
          <a:off x="4836" y="1321022"/>
          <a:ext cx="1499443" cy="89966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kern="1200" cap="none" spc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rPr>
            <a:t>intro</a:t>
          </a:r>
          <a:endParaRPr lang="en-US" sz="2500" b="0" kern="1200" cap="none" spc="0" dirty="0">
            <a:ln w="0"/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sp:txBody>
      <dsp:txXfrm>
        <a:off x="31186" y="1347372"/>
        <a:ext cx="1446743" cy="846966"/>
      </dsp:txXfrm>
    </dsp:sp>
    <dsp:sp modelId="{A7312F88-7052-42C6-B28A-1406DE327902}">
      <dsp:nvSpPr>
        <dsp:cNvPr id="0" name=""/>
        <dsp:cNvSpPr/>
      </dsp:nvSpPr>
      <dsp:spPr>
        <a:xfrm>
          <a:off x="1654224" y="1584925"/>
          <a:ext cx="317881" cy="37186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z="-70000" extrusionH="1700" prstMaterial="translucentPowder">
          <a:bevelT w="25400" h="6350" prst="softRound"/>
          <a:bevelB w="0" h="0" prst="convex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b="0" kern="1200" cap="none" spc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sp:txBody>
      <dsp:txXfrm>
        <a:off x="1654224" y="1659297"/>
        <a:ext cx="222517" cy="223117"/>
      </dsp:txXfrm>
    </dsp:sp>
    <dsp:sp modelId="{FE9D190A-C6EB-4141-975F-15D271D510BB}">
      <dsp:nvSpPr>
        <dsp:cNvPr id="0" name=""/>
        <dsp:cNvSpPr/>
      </dsp:nvSpPr>
      <dsp:spPr>
        <a:xfrm>
          <a:off x="2104057" y="1321022"/>
          <a:ext cx="1499443" cy="89966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kern="1200" cap="none" spc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rPr>
            <a:t>Expert systems</a:t>
          </a:r>
        </a:p>
      </dsp:txBody>
      <dsp:txXfrm>
        <a:off x="2130407" y="1347372"/>
        <a:ext cx="1446743" cy="846966"/>
      </dsp:txXfrm>
    </dsp:sp>
    <dsp:sp modelId="{4EBFA4B3-22AD-465E-9328-219A1FD2AE9A}">
      <dsp:nvSpPr>
        <dsp:cNvPr id="0" name=""/>
        <dsp:cNvSpPr/>
      </dsp:nvSpPr>
      <dsp:spPr>
        <a:xfrm>
          <a:off x="3753445" y="1584925"/>
          <a:ext cx="317881" cy="37186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z="-70000" extrusionH="1700" prstMaterial="translucentPowder">
          <a:bevelT w="25400" h="6350" prst="softRound"/>
          <a:bevelB w="0" h="0" prst="convex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b="0" kern="1200" cap="none" spc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sp:txBody>
      <dsp:txXfrm>
        <a:off x="3753445" y="1659297"/>
        <a:ext cx="222517" cy="223117"/>
      </dsp:txXfrm>
    </dsp:sp>
    <dsp:sp modelId="{7F727E30-33D1-4D5C-B2F9-1D8B4302E735}">
      <dsp:nvSpPr>
        <dsp:cNvPr id="0" name=""/>
        <dsp:cNvSpPr/>
      </dsp:nvSpPr>
      <dsp:spPr>
        <a:xfrm>
          <a:off x="4203278" y="1321022"/>
          <a:ext cx="1499443" cy="89966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kern="1200" cap="none" spc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rPr>
            <a:t>LLM</a:t>
          </a:r>
          <a:endParaRPr lang="en-US" sz="2500" b="0" kern="1200" cap="none" spc="0" dirty="0">
            <a:ln w="0"/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sp:txBody>
      <dsp:txXfrm>
        <a:off x="4229628" y="1347372"/>
        <a:ext cx="1446743" cy="846966"/>
      </dsp:txXfrm>
    </dsp:sp>
    <dsp:sp modelId="{E5C9F71E-17EC-477E-BD0E-A1EC1C40468F}">
      <dsp:nvSpPr>
        <dsp:cNvPr id="0" name=""/>
        <dsp:cNvSpPr/>
      </dsp:nvSpPr>
      <dsp:spPr>
        <a:xfrm>
          <a:off x="5852666" y="1584925"/>
          <a:ext cx="317881" cy="37186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z="-70000" extrusionH="1700" prstMaterial="translucentPowder">
          <a:bevelT w="25400" h="6350" prst="softRound"/>
          <a:bevelB w="0" h="0" prst="convex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b="0" kern="1200" cap="none" spc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sp:txBody>
      <dsp:txXfrm>
        <a:off x="5852666" y="1659297"/>
        <a:ext cx="222517" cy="223117"/>
      </dsp:txXfrm>
    </dsp:sp>
    <dsp:sp modelId="{6DFD458D-707C-448D-B068-3FCF0C23DCC1}">
      <dsp:nvSpPr>
        <dsp:cNvPr id="0" name=""/>
        <dsp:cNvSpPr/>
      </dsp:nvSpPr>
      <dsp:spPr>
        <a:xfrm>
          <a:off x="6302499" y="1321022"/>
          <a:ext cx="1499443" cy="89966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kern="1200" cap="none" spc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rPr>
            <a:t>Chess coach</a:t>
          </a:r>
          <a:endParaRPr lang="en-US" sz="2500" b="0" kern="1200" cap="none" spc="0" dirty="0">
            <a:ln w="0"/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sp:txBody>
      <dsp:txXfrm>
        <a:off x="6328849" y="1347372"/>
        <a:ext cx="1446743" cy="846966"/>
      </dsp:txXfrm>
    </dsp:sp>
    <dsp:sp modelId="{FB3C55D6-525A-4787-A911-08082B3A03C5}">
      <dsp:nvSpPr>
        <dsp:cNvPr id="0" name=""/>
        <dsp:cNvSpPr/>
      </dsp:nvSpPr>
      <dsp:spPr>
        <a:xfrm>
          <a:off x="7951886" y="1584925"/>
          <a:ext cx="317881" cy="37186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z="-70000" extrusionH="1700" prstMaterial="translucentPowder">
          <a:bevelT w="25400" h="6350" prst="softRound"/>
          <a:bevelB w="0" h="0" prst="convex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b="0" kern="1200" cap="none" spc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sp:txBody>
      <dsp:txXfrm>
        <a:off x="7951886" y="1659297"/>
        <a:ext cx="222517" cy="223117"/>
      </dsp:txXfrm>
    </dsp:sp>
    <dsp:sp modelId="{ADE9E9DF-DCE1-425F-B879-8931137DEF23}">
      <dsp:nvSpPr>
        <dsp:cNvPr id="0" name=""/>
        <dsp:cNvSpPr/>
      </dsp:nvSpPr>
      <dsp:spPr>
        <a:xfrm>
          <a:off x="8401719" y="1321022"/>
          <a:ext cx="1499443" cy="89966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kern="1200" cap="none" spc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rPr>
            <a:t>conclusion</a:t>
          </a:r>
        </a:p>
      </dsp:txBody>
      <dsp:txXfrm>
        <a:off x="8428069" y="1347372"/>
        <a:ext cx="1446743" cy="84696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AF87552C-F3CC-4795-A4FB-D9A389313C3B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06D36C7C-AAA9-43ED-B33E-7F20ECC3B9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14988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7552C-F3CC-4795-A4FB-D9A389313C3B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36C7C-AAA9-43ED-B33E-7F20ECC3B9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49242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7552C-F3CC-4795-A4FB-D9A389313C3B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36C7C-AAA9-43ED-B33E-7F20ECC3B9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2413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7552C-F3CC-4795-A4FB-D9A389313C3B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36C7C-AAA9-43ED-B33E-7F20ECC3B9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2232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7552C-F3CC-4795-A4FB-D9A389313C3B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36C7C-AAA9-43ED-B33E-7F20ECC3B9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57763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7552C-F3CC-4795-A4FB-D9A389313C3B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36C7C-AAA9-43ED-B33E-7F20ECC3B9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63435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7552C-F3CC-4795-A4FB-D9A389313C3B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36C7C-AAA9-43ED-B33E-7F20ECC3B9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91976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7552C-F3CC-4795-A4FB-D9A389313C3B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36C7C-AAA9-43ED-B33E-7F20ECC3B9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53563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7552C-F3CC-4795-A4FB-D9A389313C3B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36C7C-AAA9-43ED-B33E-7F20ECC3B9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3554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7552C-F3CC-4795-A4FB-D9A389313C3B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36C7C-AAA9-43ED-B33E-7F20ECC3B9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58456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7552C-F3CC-4795-A4FB-D9A389313C3B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36C7C-AAA9-43ED-B33E-7F20ECC3B9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12629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7552C-F3CC-4795-A4FB-D9A389313C3B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36C7C-AAA9-43ED-B33E-7F20ECC3B97B}" type="slidenum">
              <a:rPr lang="en-US" smtClean="0"/>
              <a:t>‹#›</a:t>
            </a:fld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141276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7552C-F3CC-4795-A4FB-D9A389313C3B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36C7C-AAA9-43ED-B33E-7F20ECC3B9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3490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7552C-F3CC-4795-A4FB-D9A389313C3B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36C7C-AAA9-43ED-B33E-7F20ECC3B9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37731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7552C-F3CC-4795-A4FB-D9A389313C3B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36C7C-AAA9-43ED-B33E-7F20ECC3B9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9491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7552C-F3CC-4795-A4FB-D9A389313C3B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36C7C-AAA9-43ED-B33E-7F20ECC3B9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026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7552C-F3CC-4795-A4FB-D9A389313C3B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36C7C-AAA9-43ED-B33E-7F20ECC3B9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8116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87552C-F3CC-4795-A4FB-D9A389313C3B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D36C7C-AAA9-43ED-B33E-7F20ECC3B9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761988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  <p:sldLayoutId id="2147483816" r:id="rId12"/>
    <p:sldLayoutId id="2147483817" r:id="rId13"/>
    <p:sldLayoutId id="2147483818" r:id="rId14"/>
    <p:sldLayoutId id="2147483819" r:id="rId15"/>
    <p:sldLayoutId id="2147483820" r:id="rId16"/>
    <p:sldLayoutId id="2147483821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05BE4-8670-9060-1BA4-1DAF38C2A72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Building a Chess Analysis Model Using Expert Systems + LLMs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E50086-9DE0-E02F-B8A4-FF232B1A889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From engine evaluations to human-like commentary</a:t>
            </a:r>
          </a:p>
        </p:txBody>
      </p:sp>
      <p:pic>
        <p:nvPicPr>
          <p:cNvPr id="1028" name="Picture 4" descr="had to change the sign today...">
            <a:extLst>
              <a:ext uri="{FF2B5EF4-FFF2-40B4-BE49-F238E27FC236}">
                <a16:creationId xmlns:a16="http://schemas.microsoft.com/office/drawing/2014/main" id="{F3AD66B4-904E-A9B8-339E-F0B07E87E0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14596" y="4148604"/>
            <a:ext cx="2580242" cy="22949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148918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DA6F1-FDE5-8193-C74A-55D1F22050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 of content</a:t>
            </a: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8D24D060-43C0-8095-DA9C-C3D68FA98DB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54217432"/>
              </p:ext>
            </p:extLst>
          </p:nvPr>
        </p:nvGraphicFramePr>
        <p:xfrm>
          <a:off x="1141413" y="2249488"/>
          <a:ext cx="9906000" cy="35417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292597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5D2C9-5A58-A37B-93B6-24A0298A9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pic>
        <p:nvPicPr>
          <p:cNvPr id="5122" name="Picture 2" descr="Chess Meme">
            <a:extLst>
              <a:ext uri="{FF2B5EF4-FFF2-40B4-BE49-F238E27FC236}">
                <a16:creationId xmlns:a16="http://schemas.microsoft.com/office/drawing/2014/main" id="{7BF5F3F2-8D5E-7B2C-A6AB-EEED42E569E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6083" y="1322526"/>
            <a:ext cx="5655981" cy="45507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AF68934-7B7E-525A-577B-AE04015FFC17}"/>
              </a:ext>
            </a:extLst>
          </p:cNvPr>
          <p:cNvSpPr txBox="1"/>
          <p:nvPr/>
        </p:nvSpPr>
        <p:spPr>
          <a:xfrm>
            <a:off x="1210234" y="2039704"/>
            <a:ext cx="3706907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Chess is one of the hardest strategy games ever created.</a:t>
            </a:r>
            <a:br>
              <a:rPr lang="en-US" sz="2400" dirty="0"/>
            </a:br>
            <a:r>
              <a:rPr lang="en-US" sz="2400" dirty="0"/>
              <a:t>Understanding positions and plans is not easy.</a:t>
            </a:r>
            <a:br>
              <a:rPr lang="en-US" sz="2400" dirty="0"/>
            </a:br>
            <a:r>
              <a:rPr lang="en-US" sz="2400" dirty="0"/>
              <a:t>That’s why even strong players need guidance and why a good coach matters.</a:t>
            </a:r>
          </a:p>
        </p:txBody>
      </p:sp>
    </p:spTree>
    <p:extLst>
      <p:ext uri="{BB962C8B-B14F-4D97-AF65-F5344CB8AC3E}">
        <p14:creationId xmlns:p14="http://schemas.microsoft.com/office/powerpoint/2010/main" val="12872435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511863-E94F-E7BC-7391-F7ED2179E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the expert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6F2810-3D36-EB1A-95BF-8E57C7454B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249486"/>
            <a:ext cx="5228012" cy="3721007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Expert System:</a:t>
            </a:r>
            <a:endParaRPr lang="en-US" dirty="0"/>
          </a:p>
          <a:p>
            <a:r>
              <a:rPr lang="en-US" dirty="0"/>
              <a:t>A rule-based AI system</a:t>
            </a:r>
          </a:p>
          <a:p>
            <a:r>
              <a:rPr lang="en-US" dirty="0"/>
              <a:t>Uses knowledge from human experts</a:t>
            </a:r>
          </a:p>
          <a:p>
            <a:r>
              <a:rPr lang="en-US" dirty="0"/>
              <a:t>Applies logical rules to solve problems</a:t>
            </a:r>
          </a:p>
          <a:p>
            <a:r>
              <a:rPr lang="en-US" dirty="0"/>
              <a:t>One of the earliest forms of Artificial Intelligence</a:t>
            </a:r>
          </a:p>
          <a:p>
            <a:endParaRPr lang="en-US" dirty="0"/>
          </a:p>
        </p:txBody>
      </p:sp>
      <p:pic>
        <p:nvPicPr>
          <p:cNvPr id="6146" name="Picture 2" descr="What is an Expert System? | Bala Subramanyam Lanka">
            <a:extLst>
              <a:ext uri="{FF2B5EF4-FFF2-40B4-BE49-F238E27FC236}">
                <a16:creationId xmlns:a16="http://schemas.microsoft.com/office/drawing/2014/main" id="{10E845CD-CD3F-CC2D-582F-9610F26BC2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5619" y="2097088"/>
            <a:ext cx="5424675" cy="212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140872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CC0FAA-3E1F-1C2D-53E7-1A44A978DF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Chess engine history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A76D2D-C438-5622-63CC-1226BA95B2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9366" y="2097088"/>
            <a:ext cx="5057682" cy="3514165"/>
          </a:xfrm>
        </p:spPr>
        <p:txBody>
          <a:bodyPr/>
          <a:lstStyle/>
          <a:p>
            <a:r>
              <a:rPr lang="en-US" dirty="0"/>
              <a:t>1950s–1960s: First chess programs created using simple brute-force search.</a:t>
            </a:r>
          </a:p>
          <a:p>
            <a:r>
              <a:rPr lang="en-US" dirty="0"/>
              <a:t>1970s–1980s: Engines begin using minimax + alpha-beta pruning to search deeper.</a:t>
            </a:r>
          </a:p>
        </p:txBody>
      </p:sp>
      <p:pic>
        <p:nvPicPr>
          <p:cNvPr id="1026" name="Picture 2" descr="Everything You Need to Know About Chess Engines – House of Staunton">
            <a:extLst>
              <a:ext uri="{FF2B5EF4-FFF2-40B4-BE49-F238E27FC236}">
                <a16:creationId xmlns:a16="http://schemas.microsoft.com/office/drawing/2014/main" id="{85B5AE56-3AB1-A1BC-3F8F-E7FB03C022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07019" y="1434416"/>
            <a:ext cx="4790421" cy="43650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067762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B35679-F66A-8612-B7BE-B2B26DB3CE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Deep blue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0750E8-4F08-A225-FB80-4415331F1A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249487"/>
            <a:ext cx="4483940" cy="3989995"/>
          </a:xfrm>
        </p:spPr>
        <p:txBody>
          <a:bodyPr/>
          <a:lstStyle/>
          <a:p>
            <a:r>
              <a:rPr lang="en-US" dirty="0"/>
              <a:t>Chess engines are a very good chess players today</a:t>
            </a:r>
          </a:p>
          <a:p>
            <a:r>
              <a:rPr lang="en-US" dirty="0"/>
              <a:t>Deep Blue became the first machine to win a chess game against a reigning world champion under regular time controls.</a:t>
            </a:r>
          </a:p>
        </p:txBody>
      </p:sp>
      <p:pic>
        <p:nvPicPr>
          <p:cNvPr id="2054" name="Picture 6" descr="Deep Blue computer beats world chess champion – archive, 1996 | Chess | The  Guardian">
            <a:extLst>
              <a:ext uri="{FF2B5EF4-FFF2-40B4-BE49-F238E27FC236}">
                <a16:creationId xmlns:a16="http://schemas.microsoft.com/office/drawing/2014/main" id="{2E782055-5662-2681-F113-FEFC836B6C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7095" y="2321205"/>
            <a:ext cx="5531222" cy="33187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36745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FA5D4-D442-3A13-6E78-69B09952EA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4507" y="219589"/>
            <a:ext cx="9905998" cy="1478570"/>
          </a:xfrm>
        </p:spPr>
        <p:txBody>
          <a:bodyPr/>
          <a:lstStyle/>
          <a:p>
            <a:r>
              <a:rPr lang="en-US" dirty="0"/>
              <a:t>Stockfish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9A5963-49F7-F3D4-229B-CAD90F8892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751945"/>
            <a:ext cx="9905999" cy="3927195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Search Algorithm: Alpha-Beta Pruning with Enhancements</a:t>
            </a:r>
          </a:p>
          <a:p>
            <a:r>
              <a:rPr lang="en-US" dirty="0"/>
              <a:t>Position Evaluation Function</a:t>
            </a:r>
          </a:p>
          <a:p>
            <a:pPr lvl="1"/>
            <a:r>
              <a:rPr lang="en-US" sz="1800" dirty="0"/>
              <a:t>Material balance</a:t>
            </a:r>
          </a:p>
          <a:p>
            <a:pPr lvl="1"/>
            <a:r>
              <a:rPr lang="en-US" sz="1800" dirty="0"/>
              <a:t>Piece-square tables </a:t>
            </a:r>
          </a:p>
          <a:p>
            <a:pPr lvl="1"/>
            <a:r>
              <a:rPr lang="en-US" sz="1800" dirty="0"/>
              <a:t>Pawn structure</a:t>
            </a:r>
          </a:p>
          <a:p>
            <a:r>
              <a:rPr lang="en-US" dirty="0"/>
              <a:t>Neural Network Evaluation (NNUE)</a:t>
            </a:r>
          </a:p>
          <a:p>
            <a:r>
              <a:rPr lang="en-US" dirty="0"/>
              <a:t>Multithreading &amp; SIMD Optimization</a:t>
            </a:r>
          </a:p>
          <a:p>
            <a:r>
              <a:rPr lang="en-US" dirty="0"/>
              <a:t>Transposition Table (TT)</a:t>
            </a:r>
          </a:p>
          <a:p>
            <a:r>
              <a:rPr lang="en-US" dirty="0"/>
              <a:t>3600-3700 ELO</a:t>
            </a:r>
          </a:p>
          <a:p>
            <a:endParaRPr lang="en-US" dirty="0"/>
          </a:p>
          <a:p>
            <a:pPr marL="457200" lvl="1" indent="0">
              <a:buNone/>
            </a:pPr>
            <a:endParaRPr lang="en-US" sz="1800" dirty="0"/>
          </a:p>
          <a:p>
            <a:endParaRPr lang="en-US" dirty="0"/>
          </a:p>
        </p:txBody>
      </p:sp>
      <p:pic>
        <p:nvPicPr>
          <p:cNvPr id="2050" name="Picture 2" descr="Use The Latest And Most Powerful Version Of Stockfish Right On Chess.com -  Chess.com">
            <a:extLst>
              <a:ext uri="{FF2B5EF4-FFF2-40B4-BE49-F238E27FC236}">
                <a16:creationId xmlns:a16="http://schemas.microsoft.com/office/drawing/2014/main" id="{4CACFBDD-CD0E-5F3E-6C46-A0AE7FAFEC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2703" y="2462864"/>
            <a:ext cx="5556625" cy="31256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702356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93EC7-654F-CD5E-8729-789DF0787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Alpha zero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6AD3BC-150A-7124-5D4F-9AB6B5C547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Pure self-play reinforcement learning</a:t>
            </a:r>
          </a:p>
          <a:p>
            <a:r>
              <a:rPr lang="en-US" dirty="0"/>
              <a:t>AlphaZero learns everything from scratch</a:t>
            </a:r>
            <a:br>
              <a:rPr lang="en-US" dirty="0"/>
            </a:br>
            <a:br>
              <a:rPr lang="en-US" dirty="0"/>
            </a:br>
            <a:endParaRPr lang="en-US" dirty="0"/>
          </a:p>
          <a:p>
            <a:r>
              <a:rPr lang="en-US" dirty="0"/>
              <a:t>AlphaZero combines:</a:t>
            </a:r>
          </a:p>
          <a:p>
            <a:pPr lvl="1"/>
            <a:r>
              <a:rPr lang="en-US" sz="1800" dirty="0"/>
              <a:t>Monte Carlo Tree Search (MCTS) – for planning and exploration</a:t>
            </a:r>
          </a:p>
          <a:p>
            <a:pPr lvl="1"/>
            <a:r>
              <a:rPr lang="en-US" sz="1800" dirty="0"/>
              <a:t>Deep Neural Network – to guide MCTS and evaluate positions</a:t>
            </a:r>
          </a:p>
          <a:p>
            <a:pPr lvl="1"/>
            <a:r>
              <a:rPr lang="en-US" sz="1800" dirty="0"/>
              <a:t>Reinforcement Learning via Self-Play – to improve over time</a:t>
            </a:r>
          </a:p>
          <a:p>
            <a:r>
              <a:rPr lang="en-US" dirty="0"/>
              <a:t>3500-4000+ Elo	</a:t>
            </a:r>
            <a:endParaRPr lang="en-US" sz="2200" dirty="0"/>
          </a:p>
          <a:p>
            <a:endParaRPr lang="en-US" dirty="0"/>
          </a:p>
        </p:txBody>
      </p:sp>
      <p:pic>
        <p:nvPicPr>
          <p:cNvPr id="3074" name="Picture 2" descr="AlphaZero vs the Drawn Evaluation - Chess.com">
            <a:extLst>
              <a:ext uri="{FF2B5EF4-FFF2-40B4-BE49-F238E27FC236}">
                <a16:creationId xmlns:a16="http://schemas.microsoft.com/office/drawing/2014/main" id="{B1601E57-851D-9AD3-2CED-F0F96E049D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6387" y="1626488"/>
            <a:ext cx="4256973" cy="23938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447671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382E2-2309-9F51-12B2-8BA24B38F2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Chess engine evaluation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129064-BC2D-EA23-8D7F-29B65EA85C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6296" y="2191216"/>
            <a:ext cx="3551741" cy="3895819"/>
          </a:xfrm>
        </p:spPr>
        <p:txBody>
          <a:bodyPr/>
          <a:lstStyle/>
          <a:p>
            <a:r>
              <a:rPr lang="en-US" dirty="0"/>
              <a:t>They can evaluate a position and assign a number to it.</a:t>
            </a:r>
          </a:p>
          <a:p>
            <a:endParaRPr lang="en-US" dirty="0"/>
          </a:p>
        </p:txBody>
      </p:sp>
      <p:pic>
        <p:nvPicPr>
          <p:cNvPr id="2052" name="Picture 4" descr="Evaluation bar and the best line - Chess Forums - Chess.com">
            <a:extLst>
              <a:ext uri="{FF2B5EF4-FFF2-40B4-BE49-F238E27FC236}">
                <a16:creationId xmlns:a16="http://schemas.microsoft.com/office/drawing/2014/main" id="{9C1A765D-7F72-0E22-C33D-88B44D5EFD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4249" y="2007441"/>
            <a:ext cx="7113363" cy="35163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479816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C54655-CCDE-AF45-E258-B918E4E123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515424"/>
            <a:ext cx="9905998" cy="1478570"/>
          </a:xfrm>
        </p:spPr>
        <p:txBody>
          <a:bodyPr/>
          <a:lstStyle/>
          <a:p>
            <a:r>
              <a:rPr lang="en-US" dirty="0"/>
              <a:t>How can we use them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7F1BE1-0150-7F6E-4C2D-87ECB9B2BF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6"/>
            <a:ext cx="4815635" cy="3721007"/>
          </a:xfrm>
        </p:spPr>
        <p:txBody>
          <a:bodyPr/>
          <a:lstStyle/>
          <a:p>
            <a:r>
              <a:rPr lang="en-US" dirty="0"/>
              <a:t>As beginner player you can’t use this expert system outputs directly</a:t>
            </a:r>
            <a:br>
              <a:rPr lang="en-US" dirty="0"/>
            </a:br>
            <a:r>
              <a:rPr lang="en-US" dirty="0"/>
              <a:t>because they are very complex and you don’t understand the expert thinking process</a:t>
            </a:r>
          </a:p>
        </p:txBody>
      </p:sp>
      <p:pic>
        <p:nvPicPr>
          <p:cNvPr id="4098" name="Picture 2" descr="How To Think In Chess - Chess.com">
            <a:extLst>
              <a:ext uri="{FF2B5EF4-FFF2-40B4-BE49-F238E27FC236}">
                <a16:creationId xmlns:a16="http://schemas.microsoft.com/office/drawing/2014/main" id="{670E6291-87B5-3DCF-DD86-E34172DA0A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4412" y="1559858"/>
            <a:ext cx="5283798" cy="3872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313674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709072-A386-0D09-D0C4-A1C90087D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LLM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2A51A9-EFE4-FF8B-4CF3-FED13B5545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249487"/>
            <a:ext cx="4954588" cy="3541714"/>
          </a:xfrm>
        </p:spPr>
        <p:txBody>
          <a:bodyPr/>
          <a:lstStyle/>
          <a:p>
            <a:r>
              <a:rPr lang="en-US" i="1" dirty="0"/>
              <a:t>Nowadays, nearly everyone uses LLMs</a:t>
            </a:r>
          </a:p>
          <a:p>
            <a:r>
              <a:rPr lang="en-US" dirty="0"/>
              <a:t>LLMs can understand and generate human language very fluently.</a:t>
            </a:r>
          </a:p>
          <a:p>
            <a:r>
              <a:rPr lang="en-US" dirty="0"/>
              <a:t>LLMs are AI models trained on massive text datasets</a:t>
            </a:r>
          </a:p>
        </p:txBody>
      </p:sp>
      <p:pic>
        <p:nvPicPr>
          <p:cNvPr id="4098" name="Picture 2" descr="10 Real-World Applications of Large Language Models (LLMs) in 2025">
            <a:extLst>
              <a:ext uri="{FF2B5EF4-FFF2-40B4-BE49-F238E27FC236}">
                <a16:creationId xmlns:a16="http://schemas.microsoft.com/office/drawing/2014/main" id="{0F983BBF-B0C4-8F92-A0BC-2F08E472E7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6636" y="2182906"/>
            <a:ext cx="5276370" cy="23084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490012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CE011-50F2-F2E9-6AC0-488EE445D2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Transformer Architecture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3D3C269-3E02-68D7-EE88-0700DB4577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7"/>
            <a:ext cx="4228447" cy="3541714"/>
          </a:xfrm>
        </p:spPr>
        <p:txBody>
          <a:bodyPr/>
          <a:lstStyle/>
          <a:p>
            <a:r>
              <a:rPr lang="en-US" dirty="0"/>
              <a:t>Introduced in 2017 by 'Attention Is All You Need</a:t>
            </a:r>
          </a:p>
          <a:p>
            <a:r>
              <a:rPr lang="en-US" dirty="0"/>
              <a:t>Replaced RNNs and LSTMs with parallel processing</a:t>
            </a:r>
          </a:p>
          <a:p>
            <a:r>
              <a:rPr lang="en-US" dirty="0"/>
              <a:t>Uses self-attention to understand relationships between words</a:t>
            </a:r>
          </a:p>
        </p:txBody>
      </p:sp>
      <p:pic>
        <p:nvPicPr>
          <p:cNvPr id="5122" name="Picture 2" descr="What is Transformer Architecture and How It Works?">
            <a:extLst>
              <a:ext uri="{FF2B5EF4-FFF2-40B4-BE49-F238E27FC236}">
                <a16:creationId xmlns:a16="http://schemas.microsoft.com/office/drawing/2014/main" id="{DEBE6258-51A6-CADA-7F88-887958FB26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7359" y="1911443"/>
            <a:ext cx="6218366" cy="32567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395690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B5C8F1-0114-5C8D-634C-67BFA383AD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GPT-2 Architecture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F50B91-1FAF-C420-FAEB-99EC0AB99A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7918" y="2361546"/>
            <a:ext cx="2682035" cy="3541714"/>
          </a:xfrm>
        </p:spPr>
        <p:txBody>
          <a:bodyPr/>
          <a:lstStyle/>
          <a:p>
            <a:r>
              <a:rPr lang="en-US" dirty="0"/>
              <a:t>11 transformer block</a:t>
            </a:r>
          </a:p>
          <a:p>
            <a:r>
              <a:rPr lang="en-US" dirty="0"/>
              <a:t>12 attention head</a:t>
            </a: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67D5B10-BAA4-4078-C1DB-5BC2084B43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6623" y="1667571"/>
            <a:ext cx="9027459" cy="4606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47419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B3973-A2D9-607B-7DFF-9B7406D45A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Tokenizer and embedding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7DDD65-A0B4-DF55-A9DA-986D8B8092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50,257 vocab size</a:t>
            </a:r>
          </a:p>
          <a:p>
            <a:r>
              <a:rPr lang="en-US" dirty="0"/>
              <a:t>768 embedding size</a:t>
            </a:r>
          </a:p>
        </p:txBody>
      </p:sp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0C94F91-31E1-E132-CE0C-9707F73423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9966" y="1804145"/>
            <a:ext cx="7349062" cy="4435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53795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64777E-D8C2-D7F3-C255-FBFA6CB377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Self-Attention Mechanism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2BC1A6-63EE-2EC1-6C45-1698815320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7"/>
            <a:ext cx="4690129" cy="3411725"/>
          </a:xfrm>
        </p:spPr>
        <p:txBody>
          <a:bodyPr>
            <a:normAutofit fontScale="92500"/>
          </a:bodyPr>
          <a:lstStyle/>
          <a:p>
            <a:r>
              <a:rPr lang="en-US" dirty="0"/>
              <a:t>Allows the model to focus on relevant parts of a sentence</a:t>
            </a:r>
          </a:p>
          <a:p>
            <a:r>
              <a:rPr lang="en-US" dirty="0"/>
              <a:t>Computes Query, Key, Value vectors</a:t>
            </a:r>
          </a:p>
          <a:p>
            <a:r>
              <a:rPr lang="en-US" dirty="0"/>
              <a:t>Multi-head attention improves expressiveness</a:t>
            </a:r>
          </a:p>
          <a:p>
            <a:r>
              <a:rPr lang="en-US" dirty="0"/>
              <a:t> Enables context understanding over long text</a:t>
            </a:r>
          </a:p>
          <a:p>
            <a:endParaRPr lang="en-US" dirty="0"/>
          </a:p>
        </p:txBody>
      </p:sp>
      <p:pic>
        <p:nvPicPr>
          <p:cNvPr id="6146" name="Picture 2" descr="What is Self-Attention and impact on Large Language Models (LLM)">
            <a:extLst>
              <a:ext uri="{FF2B5EF4-FFF2-40B4-BE49-F238E27FC236}">
                <a16:creationId xmlns:a16="http://schemas.microsoft.com/office/drawing/2014/main" id="{3B566992-6C0D-1643-78E0-951371EC54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6720" y="1981761"/>
            <a:ext cx="5413560" cy="27067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016478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40AA7-C0F9-6C6C-3063-A4410EE59C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0707" y="224071"/>
            <a:ext cx="9905998" cy="1478570"/>
          </a:xfrm>
        </p:spPr>
        <p:txBody>
          <a:bodyPr/>
          <a:lstStyle/>
          <a:p>
            <a:r>
              <a:rPr lang="en-US" dirty="0"/>
              <a:t>Attention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83A4889-9895-F298-6072-D4A9253939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73623" y="1612993"/>
            <a:ext cx="8355106" cy="4783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89233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8F65A9-BE0A-5C47-D120-D79064F6F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decoder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0282DE-94B4-013A-B137-153B6F9ACC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7176" y="2249487"/>
            <a:ext cx="2586319" cy="3541714"/>
          </a:xfrm>
        </p:spPr>
        <p:txBody>
          <a:bodyPr/>
          <a:lstStyle/>
          <a:p>
            <a:r>
              <a:rPr lang="en-US" dirty="0" err="1"/>
              <a:t>Softmax</a:t>
            </a:r>
            <a:r>
              <a:rPr lang="en-US" dirty="0"/>
              <a:t> </a:t>
            </a:r>
            <a:r>
              <a:rPr lang="en-US" dirty="0" err="1"/>
              <a:t>func</a:t>
            </a:r>
            <a:endParaRPr lang="en-US" dirty="0"/>
          </a:p>
          <a:p>
            <a:r>
              <a:rPr lang="en-US" dirty="0"/>
              <a:t>Probabilistic output</a:t>
            </a:r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1AF1867-2994-8874-29D9-057B57698D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6282" y="1865372"/>
            <a:ext cx="8234083" cy="4237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81024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B121A-B487-036B-4113-B93479E1D7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3" name="Screen Recording 12">
            <a:hlinkClick r:id="" action="ppaction://media"/>
            <a:extLst>
              <a:ext uri="{FF2B5EF4-FFF2-40B4-BE49-F238E27FC236}">
                <a16:creationId xmlns:a16="http://schemas.microsoft.com/office/drawing/2014/main" id="{BDD4636E-E141-4716-E5CD-DB2C26AFDFCE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-442581"/>
            <a:ext cx="12281553" cy="7264722"/>
          </a:xfrm>
        </p:spPr>
      </p:pic>
    </p:spTree>
    <p:extLst>
      <p:ext uri="{BB962C8B-B14F-4D97-AF65-F5344CB8AC3E}">
        <p14:creationId xmlns:p14="http://schemas.microsoft.com/office/powerpoint/2010/main" val="15417366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7930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F03189-B3DD-B1DB-BCC5-A01740910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LLMs Are Trained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551AE2-22AF-1DDC-9E08-C4DE4D29EF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2435" y="2451193"/>
            <a:ext cx="9262129" cy="3541714"/>
          </a:xfrm>
        </p:spPr>
        <p:txBody>
          <a:bodyPr/>
          <a:lstStyle/>
          <a:p>
            <a:r>
              <a:rPr lang="en-US" dirty="0"/>
              <a:t>Trained on massive corpora (web, books, code)</a:t>
            </a:r>
          </a:p>
          <a:p>
            <a:r>
              <a:rPr lang="en-US" dirty="0"/>
              <a:t>Objective: predict next token (autoregressive)</a:t>
            </a:r>
          </a:p>
          <a:p>
            <a:r>
              <a:rPr lang="en-US" dirty="0"/>
              <a:t>Fine-tuning for specific tasks (chat, coding, summarization)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08647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6662C-E27C-448D-660B-9BFA66C4C4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can combine them</a:t>
            </a:r>
          </a:p>
        </p:txBody>
      </p:sp>
      <p:pic>
        <p:nvPicPr>
          <p:cNvPr id="11" name="Content Placeholder 10" descr="A diagram of a computer&#10;&#10;AI-generated content may be incorrect.">
            <a:extLst>
              <a:ext uri="{FF2B5EF4-FFF2-40B4-BE49-F238E27FC236}">
                <a16:creationId xmlns:a16="http://schemas.microsoft.com/office/drawing/2014/main" id="{F3F7D567-3D2C-DC66-2A8C-B04C2C16C7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7045" y="1688461"/>
            <a:ext cx="7176247" cy="4784164"/>
          </a:xfrm>
        </p:spPr>
      </p:pic>
      <p:sp>
        <p:nvSpPr>
          <p:cNvPr id="8" name="AutoShape 2" descr="Generated image">
            <a:extLst>
              <a:ext uri="{FF2B5EF4-FFF2-40B4-BE49-F238E27FC236}">
                <a16:creationId xmlns:a16="http://schemas.microsoft.com/office/drawing/2014/main" id="{1549099E-0C94-DEED-1308-FC081EA9E5C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24685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578DCA-5413-9734-6829-9594A3E694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Real example</a:t>
            </a:r>
          </a:p>
        </p:txBody>
      </p:sp>
      <p:pic>
        <p:nvPicPr>
          <p:cNvPr id="5" name="Content Placeholder 4" descr="A screenshot of a video game&#10;&#10;AI-generated content may be incorrect.">
            <a:extLst>
              <a:ext uri="{FF2B5EF4-FFF2-40B4-BE49-F238E27FC236}">
                <a16:creationId xmlns:a16="http://schemas.microsoft.com/office/drawing/2014/main" id="{5EAF9632-F3CE-63A4-5458-BD16AB8944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67332" y="1599457"/>
            <a:ext cx="8572963" cy="5043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73180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D15D98-B711-6A11-0DAE-272B1C0C47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E3574B-2A0F-8932-7908-8A5CC9546B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7"/>
            <a:ext cx="10160001" cy="3503613"/>
          </a:xfrm>
        </p:spPr>
        <p:txBody>
          <a:bodyPr/>
          <a:lstStyle/>
          <a:p>
            <a:r>
              <a:rPr lang="en-US" dirty="0"/>
              <a:t>Neural models + symbolic/expert systems = more reliable, interpretable, and useful intelligence.</a:t>
            </a:r>
          </a:p>
        </p:txBody>
      </p:sp>
      <p:pic>
        <p:nvPicPr>
          <p:cNvPr id="8194" name="Picture 2" descr="Grandmaster Chess on GOG.com">
            <a:extLst>
              <a:ext uri="{FF2B5EF4-FFF2-40B4-BE49-F238E27FC236}">
                <a16:creationId xmlns:a16="http://schemas.microsoft.com/office/drawing/2014/main" id="{47BC7601-E368-71B2-16B6-A510B0F04C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8110" y="3024187"/>
            <a:ext cx="5900352" cy="2728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713867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8BA75-81BB-B632-FF66-0A2A862602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6188" y="2261581"/>
            <a:ext cx="9905998" cy="1478570"/>
          </a:xfrm>
        </p:spPr>
        <p:txBody>
          <a:bodyPr/>
          <a:lstStyle/>
          <a:p>
            <a:r>
              <a:rPr lang="en-US" dirty="0"/>
              <a:t>Acknowledgments</a:t>
            </a:r>
          </a:p>
        </p:txBody>
      </p:sp>
    </p:spTree>
    <p:extLst>
      <p:ext uri="{BB962C8B-B14F-4D97-AF65-F5344CB8AC3E}">
        <p14:creationId xmlns:p14="http://schemas.microsoft.com/office/powerpoint/2010/main" val="791064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376DD-9596-28D9-824D-4681D94714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74DFEF-4F23-6D66-646B-238BA34DC1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5250" y="1658143"/>
            <a:ext cx="9905999" cy="4752182"/>
          </a:xfrm>
        </p:spPr>
        <p:txBody>
          <a:bodyPr>
            <a:normAutofit fontScale="40000" lnSpcReduction="20000"/>
          </a:bodyPr>
          <a:lstStyle/>
          <a:p>
            <a:pPr>
              <a:buNone/>
            </a:pPr>
            <a:r>
              <a:rPr lang="en-US" b="1" dirty="0"/>
              <a:t>1. Deep Blue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Campbell, M., </a:t>
            </a:r>
            <a:r>
              <a:rPr lang="en-US" dirty="0" err="1"/>
              <a:t>Hoane</a:t>
            </a:r>
            <a:r>
              <a:rPr lang="en-US" dirty="0"/>
              <a:t>, A. J., &amp; Hsu, F.-H. (2002). </a:t>
            </a:r>
            <a:r>
              <a:rPr lang="en-US" i="1" dirty="0"/>
              <a:t>Deep Blue</a:t>
            </a:r>
            <a:r>
              <a:rPr lang="en-US" dirty="0"/>
              <a:t>. </a:t>
            </a:r>
            <a:r>
              <a:rPr lang="en-US" b="1" dirty="0"/>
              <a:t>Artificial Intelligence</a:t>
            </a:r>
            <a:r>
              <a:rPr lang="en-US" dirty="0"/>
              <a:t>, 134(1–2), 57–83.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Hsu, F.-H. (2002). </a:t>
            </a:r>
            <a:r>
              <a:rPr lang="en-US" i="1" dirty="0"/>
              <a:t>Behind Deep Blue: Building the Computer that Defeated the World Chess Champion</a:t>
            </a:r>
            <a:r>
              <a:rPr lang="en-US" dirty="0"/>
              <a:t>. Princeton University Press.</a:t>
            </a:r>
          </a:p>
          <a:p>
            <a:pPr>
              <a:buNone/>
            </a:pPr>
            <a:r>
              <a:rPr lang="en-US" b="1" dirty="0"/>
              <a:t>2. Stockfish / Classical Search Engines</a:t>
            </a:r>
            <a:br>
              <a:rPr lang="en-US" dirty="0"/>
            </a:br>
            <a:r>
              <a:rPr lang="en-US" i="1" dirty="0"/>
              <a:t>(No formal Stockfish paper exists — these cover classical engine methods &amp; evaluation models used by engines like Stockfish)</a:t>
            </a:r>
            <a:endParaRPr lang="en-US" dirty="0"/>
          </a:p>
          <a:p>
            <a:pPr>
              <a:buNone/>
            </a:pPr>
            <a:r>
              <a:rPr lang="en-US" b="1" dirty="0"/>
              <a:t>3. AlphaZero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Silver, D., Hubert, T., </a:t>
            </a:r>
            <a:r>
              <a:rPr lang="en-US" dirty="0" err="1"/>
              <a:t>Schrittwieser</a:t>
            </a:r>
            <a:r>
              <a:rPr lang="en-US" dirty="0"/>
              <a:t>, J., et al. (2018). </a:t>
            </a:r>
            <a:r>
              <a:rPr lang="en-US" i="1" dirty="0"/>
              <a:t>A General Reinforcement Learning Algorithm that Masters Chess, Shogi, and Go through Self-Play</a:t>
            </a:r>
            <a:r>
              <a:rPr lang="en-US" dirty="0"/>
              <a:t>. </a:t>
            </a:r>
            <a:r>
              <a:rPr lang="en-US" b="1" dirty="0"/>
              <a:t>Science</a:t>
            </a:r>
            <a:r>
              <a:rPr lang="en-US" dirty="0"/>
              <a:t>, 362(6419), 1140–1144.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Schrittwieser</a:t>
            </a:r>
            <a:r>
              <a:rPr lang="en-US" dirty="0"/>
              <a:t>, J., et al. (2020). </a:t>
            </a:r>
            <a:r>
              <a:rPr lang="en-US" i="1" dirty="0"/>
              <a:t>Mastering Atari, Go, Chess and Shogi by Planning with a Learned Model</a:t>
            </a:r>
            <a:r>
              <a:rPr lang="en-US" dirty="0"/>
              <a:t>. </a:t>
            </a:r>
            <a:r>
              <a:rPr lang="en-US" b="1" dirty="0"/>
              <a:t>Nature</a:t>
            </a:r>
            <a:r>
              <a:rPr lang="en-US" dirty="0"/>
              <a:t>, 588, 604–609.</a:t>
            </a:r>
          </a:p>
          <a:p>
            <a:pPr>
              <a:buNone/>
            </a:pPr>
            <a:r>
              <a:rPr lang="en-US" b="1" dirty="0"/>
              <a:t>4. Transformer Architecture &amp; LLM Foundations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Vaswani, A., </a:t>
            </a:r>
            <a:r>
              <a:rPr lang="en-US" dirty="0" err="1"/>
              <a:t>Shazeer</a:t>
            </a:r>
            <a:r>
              <a:rPr lang="en-US" dirty="0"/>
              <a:t>, N., Parmar, N., et al. (2017). </a:t>
            </a:r>
            <a:r>
              <a:rPr lang="en-US" i="1" dirty="0"/>
              <a:t>Attention Is All You Need</a:t>
            </a:r>
            <a:r>
              <a:rPr lang="en-US" dirty="0"/>
              <a:t>. </a:t>
            </a:r>
            <a:r>
              <a:rPr lang="en-US" b="1" dirty="0"/>
              <a:t>Advances in Neural Information Processing Systems (</a:t>
            </a:r>
            <a:r>
              <a:rPr lang="en-US" b="1" dirty="0" err="1"/>
              <a:t>NeurIPS</a:t>
            </a:r>
            <a:r>
              <a:rPr lang="en-US" b="1" dirty="0"/>
              <a:t>)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Devlin, J., Chang, M.-W., Lee, K., &amp; Toutanova, K. (2019). </a:t>
            </a:r>
            <a:r>
              <a:rPr lang="en-US" i="1" dirty="0"/>
              <a:t>BERT: Pre-training of Deep Bidirectional Transformers for Language Understanding</a:t>
            </a:r>
            <a:r>
              <a:rPr lang="en-US" dirty="0"/>
              <a:t>. </a:t>
            </a:r>
            <a:r>
              <a:rPr lang="en-US" b="1" dirty="0"/>
              <a:t>NAACL-HLT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Brown, T., Mann, B., Ryder, N., et al. (2020). </a:t>
            </a:r>
            <a:r>
              <a:rPr lang="en-US" i="1" dirty="0"/>
              <a:t>Language Models Are Few-Shot Learners</a:t>
            </a:r>
            <a:r>
              <a:rPr lang="en-US" dirty="0"/>
              <a:t>. </a:t>
            </a:r>
            <a:r>
              <a:rPr lang="en-US" b="1" dirty="0" err="1"/>
              <a:t>NeurIPS</a:t>
            </a:r>
            <a:r>
              <a:rPr lang="en-US" dirty="0"/>
              <a:t>, 33.</a:t>
            </a:r>
          </a:p>
          <a:p>
            <a:pPr>
              <a:buNone/>
            </a:pPr>
            <a:r>
              <a:rPr lang="en-US" b="1" dirty="0"/>
              <a:t>5. Neural Network Evaluation for Chess (NNUE / learned eval)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Yamazaki, Y. (2020). </a:t>
            </a:r>
            <a:r>
              <a:rPr lang="en-US" i="1" dirty="0"/>
              <a:t>Efficiently Updatable Neural Network Architecture for Shogi Evaluation Functions</a:t>
            </a:r>
            <a:r>
              <a:rPr lang="en-US" dirty="0"/>
              <a:t>. </a:t>
            </a:r>
            <a:r>
              <a:rPr lang="en-US" b="1" dirty="0"/>
              <a:t>ACM Transactions on Intelligent Systems and Technology</a:t>
            </a:r>
            <a:r>
              <a:rPr lang="en-US" dirty="0"/>
              <a:t> (original NNUE concept).</a:t>
            </a:r>
          </a:p>
          <a:p>
            <a:pPr>
              <a:buNone/>
            </a:pPr>
            <a:r>
              <a:rPr lang="en-US" b="1" dirty="0"/>
              <a:t>6. General Computer Chess Theory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Levy, D. N.-L. &amp; Newborn, M. (1991). </a:t>
            </a:r>
            <a:r>
              <a:rPr lang="en-US" i="1" dirty="0"/>
              <a:t>How Computers Play Chess</a:t>
            </a:r>
            <a:r>
              <a:rPr lang="en-US" dirty="0"/>
              <a:t>. Computer Science Press.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Marsland, T. (1986). </a:t>
            </a:r>
            <a:r>
              <a:rPr lang="en-US" i="1" dirty="0"/>
              <a:t>Computer Chess and Search Strategies</a:t>
            </a:r>
            <a:r>
              <a:rPr lang="en-US" dirty="0"/>
              <a:t>. </a:t>
            </a:r>
            <a:r>
              <a:rPr lang="en-US" b="1" dirty="0"/>
              <a:t>IEEE Computer</a:t>
            </a:r>
            <a:r>
              <a:rPr lang="en-US" dirty="0"/>
              <a:t>, 19(12), 78–86.</a:t>
            </a:r>
          </a:p>
        </p:txBody>
      </p:sp>
    </p:spTree>
    <p:extLst>
      <p:ext uri="{BB962C8B-B14F-4D97-AF65-F5344CB8AC3E}">
        <p14:creationId xmlns:p14="http://schemas.microsoft.com/office/powerpoint/2010/main" val="122224944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FB33A-1143-0117-4248-C8040E253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4963" y="2499706"/>
            <a:ext cx="9905998" cy="1478570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99994725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157</TotalTime>
  <Words>813</Words>
  <Application>Microsoft Office PowerPoint</Application>
  <PresentationFormat>Widescreen</PresentationFormat>
  <Paragraphs>95</Paragraphs>
  <Slides>25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Tw Cen MT</vt:lpstr>
      <vt:lpstr>Circuit</vt:lpstr>
      <vt:lpstr>Building a Chess Analysis Model Using Expert Systems + LLMs</vt:lpstr>
      <vt:lpstr>Table of content</vt:lpstr>
      <vt:lpstr>Introduction</vt:lpstr>
      <vt:lpstr>What is the expert system</vt:lpstr>
      <vt:lpstr>Chess engine history</vt:lpstr>
      <vt:lpstr>Deep blue</vt:lpstr>
      <vt:lpstr>Stockfish</vt:lpstr>
      <vt:lpstr>Alpha zero</vt:lpstr>
      <vt:lpstr>Chess engine evaluation</vt:lpstr>
      <vt:lpstr>How can we use them</vt:lpstr>
      <vt:lpstr>LLM</vt:lpstr>
      <vt:lpstr>Transformer Architecture</vt:lpstr>
      <vt:lpstr>GPT-2 Architecture</vt:lpstr>
      <vt:lpstr>Tokenizer and embedding</vt:lpstr>
      <vt:lpstr>Self-Attention Mechanism</vt:lpstr>
      <vt:lpstr>Attention</vt:lpstr>
      <vt:lpstr>decoder</vt:lpstr>
      <vt:lpstr>PowerPoint Presentation</vt:lpstr>
      <vt:lpstr>How LLMs Are Trained</vt:lpstr>
      <vt:lpstr>How can combine them</vt:lpstr>
      <vt:lpstr>Real example</vt:lpstr>
      <vt:lpstr>Conclusion</vt:lpstr>
      <vt:lpstr>Acknowledgments</vt:lpstr>
      <vt:lpstr>References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 h</dc:creator>
  <cp:lastModifiedBy>s h</cp:lastModifiedBy>
  <cp:revision>3</cp:revision>
  <dcterms:created xsi:type="dcterms:W3CDTF">2025-12-08T13:39:47Z</dcterms:created>
  <dcterms:modified xsi:type="dcterms:W3CDTF">2025-12-11T11:16:30Z</dcterms:modified>
</cp:coreProperties>
</file>