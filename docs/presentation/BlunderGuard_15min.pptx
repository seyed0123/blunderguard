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jpeg" ContentType="image/jpeg"/>
  <Override PartName="/ppt/media/image4.png" ContentType="image/png"/>
  <Override PartName="/ppt/media/image3.png" ContentType="image/png"/>
  <Override PartName="/ppt/media/image5.png" ContentType="image/png"/>
  <Override PartName="/ppt/slides/_rels/slide11.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4EBB80B7-7122-4463-9D73-C739CA1622F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sldImg"/>
          </p:nvPr>
        </p:nvSpPr>
        <p:spPr>
          <a:xfrm>
            <a:off x="1143000" y="685800"/>
            <a:ext cx="4571640" cy="3428640"/>
          </a:xfrm>
          <a:prstGeom prst="rect">
            <a:avLst/>
          </a:prstGeom>
          <a:ln w="0">
            <a:noFill/>
          </a:ln>
        </p:spPr>
      </p:sp>
      <p:sp>
        <p:nvSpPr>
          <p:cNvPr id="41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rtl="1">
              <a:lnSpc>
                <a:spcPct val="100000"/>
              </a:lnSpc>
              <a:buNone/>
            </a:pPr>
            <a:r>
              <a:rPr b="0" lang="hi-IN" sz="1400" spc="-1" strike="noStrike">
                <a:solidFill>
                  <a:srgbClr val="000000"/>
                </a:solidFill>
                <a:latin typeface="B Nazanin"/>
              </a:rPr>
              <a:t>زمان پیشنهادی: </a:t>
            </a:r>
            <a:r>
              <a:rPr b="0" lang="en-US" sz="1400" spc="-1" strike="noStrike">
                <a:solidFill>
                  <a:srgbClr val="000000"/>
                </a:solidFill>
                <a:latin typeface="B Nazanin"/>
              </a:rPr>
              <a:t>30</a:t>
            </a:r>
            <a:r>
              <a:rPr b="0" lang="en-US" sz="1400" spc="-1" strike="noStrike">
                <a:solidFill>
                  <a:srgbClr val="000000"/>
                </a:solidFill>
                <a:latin typeface="B Nazanin"/>
              </a:rPr>
              <a:t> ثانیه</a:t>
            </a:r>
            <a:endParaRPr b="0" lang="en-US" sz="1400" spc="-1" strike="noStrike">
              <a:solidFill>
                <a:srgbClr val="000000"/>
              </a:solidFill>
              <a:latin typeface="Arial"/>
            </a:endParaRPr>
          </a:p>
          <a:p>
            <a:pPr marL="216000" indent="0" rtl="1">
              <a:lnSpc>
                <a:spcPct val="100000"/>
              </a:lnSpc>
              <a:buNone/>
            </a:pPr>
            <a:endParaRPr b="0" lang="en-US" sz="1400" spc="-1" strike="noStrike">
              <a:solidFill>
                <a:srgbClr val="000000"/>
              </a:solidFill>
              <a:latin typeface="Arial"/>
            </a:endParaRPr>
          </a:p>
          <a:p>
            <a:pPr marL="216000" indent="0" rtl="1">
              <a:lnSpc>
                <a:spcPct val="100000"/>
              </a:lnSpc>
              <a:buNone/>
            </a:pPr>
            <a:r>
              <a:rPr b="0" lang="hi-IN" sz="1400" spc="-1" strike="noStrike">
                <a:solidFill>
                  <a:srgbClr val="000000"/>
                </a:solidFill>
                <a:latin typeface="B Nazanin"/>
              </a:rPr>
              <a:t>سلام. موضوع پروژه من تولید توضیح قابل فهم برای حرکت‌های شطرنج با ترکیب موتور تحلیل و مدل زبانی است. نام پیاده‌سازی </a:t>
            </a:r>
            <a:r>
              <a:rPr b="0" lang="en-US" sz="1400" spc="-1" strike="noStrike">
                <a:solidFill>
                  <a:srgbClr val="000000"/>
                </a:solidFill>
                <a:latin typeface="B Nazanin"/>
              </a:rPr>
              <a:t>BlunderGuard</a:t>
            </a:r>
            <a:r>
              <a:rPr b="0" lang="en-US" sz="1400" spc="-1" strike="noStrike">
                <a:solidFill>
                  <a:srgbClr val="000000"/>
                </a:solidFill>
                <a:latin typeface="B Nazanin"/>
              </a:rPr>
              <a:t> است. تصویر اولیه ارائه را نگه داشته‌ام تا مسئله را یادآوری کند: دیدن اشتباه آسان‌تر از فهمیدن علت آن است. در این ارائه ابتدا روش، سپس آزمایش و در پایان محدودیت‌های نتایج را توضیح می‌دهم.</a:t>
            </a:r>
            <a:endParaRPr b="0" lang="en-US" sz="1400" spc="-1" strike="noStrike">
              <a:solidFill>
                <a:srgbClr val="000000"/>
              </a:solidFill>
              <a:latin typeface="Arial"/>
            </a:endParaRPr>
          </a:p>
        </p:txBody>
      </p:sp>
      <p:sp>
        <p:nvSpPr>
          <p:cNvPr id="416"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4E6C294-2119-4FA4-AC90-9D6A5C366C4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sldImg"/>
          </p:nvPr>
        </p:nvSpPr>
        <p:spPr>
          <a:xfrm>
            <a:off x="1143000" y="685800"/>
            <a:ext cx="4571640" cy="3428640"/>
          </a:xfrm>
          <a:prstGeom prst="rect">
            <a:avLst/>
          </a:prstGeom>
          <a:ln w="0">
            <a:noFill/>
          </a:ln>
        </p:spPr>
      </p:sp>
      <p:sp>
        <p:nvSpPr>
          <p:cNvPr id="41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rtl="1">
              <a:lnSpc>
                <a:spcPct val="100000"/>
              </a:lnSpc>
              <a:buNone/>
            </a:pPr>
            <a:r>
              <a:rPr b="0" lang="hi-IN" sz="1400" spc="-1" strike="noStrike">
                <a:solidFill>
                  <a:srgbClr val="000000"/>
                </a:solidFill>
                <a:latin typeface="B Nazanin"/>
              </a:rPr>
              <a:t>زمان پیشنهادی: </a:t>
            </a:r>
            <a:r>
              <a:rPr b="0" lang="en-US" sz="1400" spc="-1" strike="noStrike">
                <a:solidFill>
                  <a:srgbClr val="000000"/>
                </a:solidFill>
                <a:latin typeface="B Nazanin"/>
              </a:rPr>
              <a:t>60</a:t>
            </a:r>
            <a:r>
              <a:rPr b="0" lang="en-US" sz="1400" spc="-1" strike="noStrike">
                <a:solidFill>
                  <a:srgbClr val="000000"/>
                </a:solidFill>
                <a:latin typeface="B Nazanin"/>
              </a:rPr>
              <a:t> ثانیه</a:t>
            </a:r>
            <a:endParaRPr b="0" lang="en-US" sz="1400" spc="-1" strike="noStrike">
              <a:solidFill>
                <a:srgbClr val="000000"/>
              </a:solidFill>
              <a:latin typeface="Arial"/>
            </a:endParaRPr>
          </a:p>
          <a:p>
            <a:pPr marL="216000" indent="0" rtl="1">
              <a:lnSpc>
                <a:spcPct val="100000"/>
              </a:lnSpc>
              <a:buNone/>
            </a:pPr>
            <a:endParaRPr b="0" lang="en-US" sz="1400" spc="-1" strike="noStrike">
              <a:solidFill>
                <a:srgbClr val="000000"/>
              </a:solidFill>
              <a:latin typeface="Arial"/>
            </a:endParaRPr>
          </a:p>
          <a:p>
            <a:pPr marL="216000" indent="0" rtl="1">
              <a:lnSpc>
                <a:spcPct val="100000"/>
              </a:lnSpc>
              <a:buNone/>
            </a:pPr>
            <a:r>
              <a:rPr b="0" lang="hi-IN" sz="1400" spc="-1" strike="noStrike">
                <a:solidFill>
                  <a:srgbClr val="000000"/>
                </a:solidFill>
                <a:latin typeface="B Nazanin"/>
              </a:rPr>
              <a:t>در تصویر، خروجی عددی و دنباله حرکت‌های یک موتور شطرنج دیده می‌شود. بازیکن باتجربه ممکن است از روی این خروجی علت خطا را پیدا کند، ولی بازیکن مبتدی معمولاً نمی‌داند چه تهدیدی ایجاد شده و چرا حرکت بهتری وجود داشته است. هدف پروژه جایگزین کردن موتور نیست؛ موتور ارزیابی می‌کند و مدل زبانی باید همان شواهد را توضیح دهد. مثال ساده این است که به جای گفتن امتیاز کم شد، توضیح دهیم کدام مهره بی‌دفاع مانده یا چه تهدیدی نادیده گرفته شده است. این تصویر از ارائه اولیه حفظ شده و صرفاً شکل خروجی موتور را نشان می‌دهد. در ادامه سؤال اصلی این است که آیا متن تولیدشده واقعاً با شواهد سازگار می‌ماند؟</a:t>
            </a:r>
            <a:endParaRPr b="0" lang="en-US" sz="1400" spc="-1" strike="noStrike">
              <a:solidFill>
                <a:srgbClr val="000000"/>
              </a:solidFill>
              <a:latin typeface="Arial"/>
            </a:endParaRPr>
          </a:p>
        </p:txBody>
      </p:sp>
      <p:sp>
        <p:nvSpPr>
          <p:cNvPr id="419"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FA5CCE8-8C70-4B7E-866E-F94A3B2C49D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sldImg"/>
          </p:nvPr>
        </p:nvSpPr>
        <p:spPr>
          <a:xfrm>
            <a:off x="1143000" y="685800"/>
            <a:ext cx="4571640" cy="3428640"/>
          </a:xfrm>
          <a:prstGeom prst="rect">
            <a:avLst/>
          </a:prstGeom>
          <a:ln w="0">
            <a:noFill/>
          </a:ln>
        </p:spPr>
      </p:sp>
      <p:sp>
        <p:nvSpPr>
          <p:cNvPr id="42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rtl="1">
              <a:lnSpc>
                <a:spcPct val="100000"/>
              </a:lnSpc>
              <a:buNone/>
            </a:pPr>
            <a:r>
              <a:rPr b="0" lang="hi-IN" sz="1400" spc="-1" strike="noStrike">
                <a:solidFill>
                  <a:srgbClr val="000000"/>
                </a:solidFill>
                <a:latin typeface="B Nazanin"/>
              </a:rPr>
              <a:t>زمان پیشنهادی: </a:t>
            </a:r>
            <a:r>
              <a:rPr b="0" lang="en-US" sz="1400" spc="-1" strike="noStrike">
                <a:solidFill>
                  <a:srgbClr val="000000"/>
                </a:solidFill>
                <a:latin typeface="B Nazanin"/>
              </a:rPr>
              <a:t>60</a:t>
            </a:r>
            <a:r>
              <a:rPr b="0" lang="en-US" sz="1400" spc="-1" strike="noStrike">
                <a:solidFill>
                  <a:srgbClr val="000000"/>
                </a:solidFill>
                <a:latin typeface="B Nazanin"/>
              </a:rPr>
              <a:t> ثانیه</a:t>
            </a:r>
            <a:endParaRPr b="0" lang="en-US" sz="1400" spc="-1" strike="noStrike">
              <a:solidFill>
                <a:srgbClr val="000000"/>
              </a:solidFill>
              <a:latin typeface="Arial"/>
            </a:endParaRPr>
          </a:p>
          <a:p>
            <a:pPr marL="216000" indent="0" rtl="1">
              <a:lnSpc>
                <a:spcPct val="100000"/>
              </a:lnSpc>
              <a:buNone/>
            </a:pPr>
            <a:endParaRPr b="0" lang="en-US" sz="1400" spc="-1" strike="noStrike">
              <a:solidFill>
                <a:srgbClr val="000000"/>
              </a:solidFill>
              <a:latin typeface="Arial"/>
            </a:endParaRPr>
          </a:p>
          <a:p>
            <a:pPr marL="216000" indent="0" rtl="1">
              <a:lnSpc>
                <a:spcPct val="100000"/>
              </a:lnSpc>
              <a:buNone/>
            </a:pPr>
            <a:r>
              <a:rPr b="0" lang="hi-IN" sz="1400" spc="-1" strike="noStrike">
                <a:solidFill>
                  <a:srgbClr val="000000"/>
                </a:solidFill>
                <a:latin typeface="B Nazanin"/>
              </a:rPr>
              <a:t>سه بخش اصلی کار را از هم جدا می‌کنم. بخش اول ساخت سامانه‌ای است که موقعیت و حرکت را به موتور می‌دهد و شواهد را برای توضیح آماده می‌کند. بخش دوم سازگار کردن یک مدل کوچک با متن‌های حوزه شطرنج است. بخش سوم ارزیابی خروجی مدل‌ها روی موقعیت‌های مشترک است. این تفکیک مهم است، چون کار کردن نرم‌افزار به معنی درست بودن توضیح نیست و آموزش روی متن شطرنج نیز به تنهایی درک صفحه را ثابت نمی‌کند. پرسش پژوهشی من درباره وفاداری توضیح به شواهد است. برای پاسخ، هم امتیاز کلی را می‌بینیم و هم مؤلفه‌های صحت و وفاداری را جداگانه بررسی می‌کنیم.</a:t>
            </a:r>
            <a:endParaRPr b="0" lang="en-US" sz="1400" spc="-1" strike="noStrike">
              <a:solidFill>
                <a:srgbClr val="000000"/>
              </a:solidFill>
              <a:latin typeface="Arial"/>
            </a:endParaRPr>
          </a:p>
        </p:txBody>
      </p:sp>
      <p:sp>
        <p:nvSpPr>
          <p:cNvPr id="422"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8C7183B-DCA4-4103-A2E9-F35E4FA7876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sldImg"/>
          </p:nvPr>
        </p:nvSpPr>
        <p:spPr>
          <a:xfrm>
            <a:off x="1143000" y="685800"/>
            <a:ext cx="4571640" cy="3428640"/>
          </a:xfrm>
          <a:prstGeom prst="rect">
            <a:avLst/>
          </a:prstGeom>
          <a:ln w="0">
            <a:noFill/>
          </a:ln>
        </p:spPr>
      </p:sp>
      <p:sp>
        <p:nvSpPr>
          <p:cNvPr id="42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rtl="1">
              <a:lnSpc>
                <a:spcPct val="100000"/>
              </a:lnSpc>
              <a:buNone/>
            </a:pPr>
            <a:r>
              <a:rPr b="0" lang="hi-IN" sz="1400" spc="-1" strike="noStrike">
                <a:solidFill>
                  <a:srgbClr val="000000"/>
                </a:solidFill>
                <a:latin typeface="B Nazanin"/>
              </a:rPr>
              <a:t>زمان پیشنهادی: </a:t>
            </a:r>
            <a:r>
              <a:rPr b="0" lang="en-US" sz="1400" spc="-1" strike="noStrike">
                <a:solidFill>
                  <a:srgbClr val="000000"/>
                </a:solidFill>
                <a:latin typeface="B Nazanin"/>
              </a:rPr>
              <a:t>90</a:t>
            </a:r>
            <a:r>
              <a:rPr b="0" lang="en-US" sz="1400" spc="-1" strike="noStrike">
                <a:solidFill>
                  <a:srgbClr val="000000"/>
                </a:solidFill>
                <a:latin typeface="B Nazanin"/>
              </a:rPr>
              <a:t> ثانیه</a:t>
            </a:r>
            <a:endParaRPr b="0" lang="en-US" sz="1400" spc="-1" strike="noStrike">
              <a:solidFill>
                <a:srgbClr val="000000"/>
              </a:solidFill>
              <a:latin typeface="Arial"/>
            </a:endParaRPr>
          </a:p>
          <a:p>
            <a:pPr marL="216000" indent="0" rtl="1">
              <a:lnSpc>
                <a:spcPct val="100000"/>
              </a:lnSpc>
              <a:buNone/>
            </a:pPr>
            <a:endParaRPr b="0" lang="en-US" sz="1400" spc="-1" strike="noStrike">
              <a:solidFill>
                <a:srgbClr val="000000"/>
              </a:solidFill>
              <a:latin typeface="Arial"/>
            </a:endParaRPr>
          </a:p>
          <a:p>
            <a:pPr marL="216000" indent="0" rtl="1">
              <a:lnSpc>
                <a:spcPct val="100000"/>
              </a:lnSpc>
              <a:buNone/>
            </a:pPr>
            <a:r>
              <a:rPr b="0" lang="hi-IN" sz="1400" spc="-1" strike="noStrike">
                <a:solidFill>
                  <a:srgbClr val="000000"/>
                </a:solidFill>
                <a:latin typeface="B Nazanin"/>
              </a:rPr>
              <a:t>این شکل همان نمودار مسیر کلی در ارائه اولیه است. ورودی، وضعیت صفحه و حرکت انجام‌شده است. در پیاده‌سازی، وضعیت قبل و بعد از حرکت تحلیل می‌شود؛ عمق پیش‌فرض استاک‌فیش </a:t>
            </a:r>
            <a:r>
              <a:rPr b="0" lang="hi-IN" sz="1400" spc="-1" strike="noStrike">
                <a:solidFill>
                  <a:srgbClr val="000000"/>
                </a:solidFill>
                <a:latin typeface="B Nazanin"/>
              </a:rPr>
              <a:t>۱۷</a:t>
            </a:r>
            <a:r>
              <a:rPr b="0" lang="en-US" sz="1400" spc="-1" strike="noStrike">
                <a:solidFill>
                  <a:srgbClr val="000000"/>
                </a:solidFill>
                <a:latin typeface="B Nazanin"/>
              </a:rPr>
              <a:t> است و تا سه ادامه بررسی می‌شود. علاوه بر خروجی موتور، ویژگی‌هایی مانند مهره‌های آویزان، امنیت شاه، مرکز و ساختار پیاده با قواعد برنامه استخراج می‌شوند. تفاوت ویژگی‌های قبل و بعد به ساخت زمینه برای مدل کمک می‌کند. مدل سپس توضیح کوتاهی برای کاربر تولید می‌کند. باید تأکید کنم که این قواعد بی‌خطا نیستند و قرار دادن شواهد در ورودی نیز تضمین نمی‌کند مدل از آن‌ها درست استفاده کند. نمودار، مسیر طراحی سامانه را نشان می‌دهد؛ اعتبار توضیح را باید جداگانه با ارزیابی سنجید. در نسخه محلی، مدل از طریق </a:t>
            </a:r>
            <a:r>
              <a:rPr b="0" lang="en-US" sz="1400" spc="-1" strike="noStrike">
                <a:solidFill>
                  <a:srgbClr val="000000"/>
                </a:solidFill>
                <a:latin typeface="B Nazanin"/>
              </a:rPr>
              <a:t>llama.cpp</a:t>
            </a:r>
            <a:r>
              <a:rPr b="0" lang="en-US" sz="1400" spc="-1" strike="noStrike">
                <a:solidFill>
                  <a:srgbClr val="000000"/>
                </a:solidFill>
                <a:latin typeface="B Nazanin"/>
              </a:rPr>
              <a:t> اجرا می‌شود و رابط کاربر به سرویس پشتی متصل است.</a:t>
            </a:r>
            <a:endParaRPr b="0" lang="en-US" sz="1400" spc="-1" strike="noStrike">
              <a:solidFill>
                <a:srgbClr val="000000"/>
              </a:solidFill>
              <a:latin typeface="Arial"/>
            </a:endParaRPr>
          </a:p>
        </p:txBody>
      </p:sp>
      <p:sp>
        <p:nvSpPr>
          <p:cNvPr id="425"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D4F5DE3-832F-4E2F-9785-999B18E528C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sldImg"/>
          </p:nvPr>
        </p:nvSpPr>
        <p:spPr>
          <a:xfrm>
            <a:off x="1143000" y="685800"/>
            <a:ext cx="4571640" cy="3428640"/>
          </a:xfrm>
          <a:prstGeom prst="rect">
            <a:avLst/>
          </a:prstGeom>
          <a:ln w="0">
            <a:noFill/>
          </a:ln>
        </p:spPr>
      </p:sp>
      <p:sp>
        <p:nvSpPr>
          <p:cNvPr id="42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rtl="1">
              <a:lnSpc>
                <a:spcPct val="100000"/>
              </a:lnSpc>
              <a:buNone/>
            </a:pPr>
            <a:r>
              <a:rPr b="0" lang="hi-IN" sz="1400" spc="-1" strike="noStrike">
                <a:solidFill>
                  <a:srgbClr val="000000"/>
                </a:solidFill>
                <a:latin typeface="B Nazanin"/>
              </a:rPr>
              <a:t>زمان پیشنهادی: </a:t>
            </a:r>
            <a:r>
              <a:rPr b="0" lang="en-US" sz="1400" spc="-1" strike="noStrike">
                <a:solidFill>
                  <a:srgbClr val="000000"/>
                </a:solidFill>
                <a:latin typeface="B Nazanin"/>
              </a:rPr>
              <a:t>75</a:t>
            </a:r>
            <a:r>
              <a:rPr b="0" lang="en-US" sz="1400" spc="-1" strike="noStrike">
                <a:solidFill>
                  <a:srgbClr val="000000"/>
                </a:solidFill>
                <a:latin typeface="B Nazanin"/>
              </a:rPr>
              <a:t> ثانیه</a:t>
            </a:r>
            <a:endParaRPr b="0" lang="en-US" sz="1400" spc="-1" strike="noStrike">
              <a:solidFill>
                <a:srgbClr val="000000"/>
              </a:solidFill>
              <a:latin typeface="Arial"/>
            </a:endParaRPr>
          </a:p>
          <a:p>
            <a:pPr marL="216000" indent="0" rtl="1">
              <a:lnSpc>
                <a:spcPct val="100000"/>
              </a:lnSpc>
              <a:buNone/>
            </a:pPr>
            <a:endParaRPr b="0" lang="en-US" sz="1400" spc="-1" strike="noStrike">
              <a:solidFill>
                <a:srgbClr val="000000"/>
              </a:solidFill>
              <a:latin typeface="Arial"/>
            </a:endParaRPr>
          </a:p>
          <a:p>
            <a:pPr marL="216000" indent="0" rtl="1">
              <a:lnSpc>
                <a:spcPct val="100000"/>
              </a:lnSpc>
              <a:buNone/>
            </a:pPr>
            <a:r>
              <a:rPr b="0" lang="hi-IN" sz="1400" spc="-1" strike="noStrike">
                <a:solidFill>
                  <a:srgbClr val="000000"/>
                </a:solidFill>
                <a:latin typeface="B Nazanin"/>
              </a:rPr>
              <a:t>مدل پایه در دفترچه آموزش </a:t>
            </a:r>
            <a:r>
              <a:rPr b="0" lang="en-US" sz="1400" spc="-1" strike="noStrike">
                <a:solidFill>
                  <a:srgbClr val="000000"/>
                </a:solidFill>
                <a:latin typeface="B Nazanin"/>
              </a:rPr>
              <a:t>Qwen3</a:t>
            </a:r>
            <a:r>
              <a:rPr b="0" lang="en-US" sz="1400" spc="-1" strike="noStrike">
                <a:solidFill>
                  <a:srgbClr val="000000"/>
                </a:solidFill>
                <a:latin typeface="B Nazanin"/>
              </a:rPr>
              <a:t> با اندازه </a:t>
            </a:r>
            <a:r>
              <a:rPr b="0" lang="hi-IN" sz="1400" spc="-1" strike="noStrike">
                <a:solidFill>
                  <a:srgbClr val="000000"/>
                </a:solidFill>
                <a:latin typeface="B Nazanin"/>
              </a:rPr>
              <a:t>۱٫۷</a:t>
            </a:r>
            <a:r>
              <a:rPr b="0" lang="en-US" sz="1400" spc="-1" strike="noStrike">
                <a:solidFill>
                  <a:srgbClr val="000000"/>
                </a:solidFill>
                <a:latin typeface="B Nazanin"/>
              </a:rPr>
              <a:t> میلیارد پارامتر است. برای کاهش هزینه آموزش از </a:t>
            </a:r>
            <a:r>
              <a:rPr b="0" lang="en-US" sz="1400" spc="-1" strike="noStrike">
                <a:solidFill>
                  <a:srgbClr val="000000"/>
                </a:solidFill>
                <a:latin typeface="B Nazanin"/>
              </a:rPr>
              <a:t>LoRA</a:t>
            </a:r>
            <a:r>
              <a:rPr b="0" lang="en-US" sz="1400" spc="-1" strike="noStrike">
                <a:solidFill>
                  <a:srgbClr val="000000"/>
                </a:solidFill>
                <a:latin typeface="B Nazanin"/>
              </a:rPr>
              <a:t> استفاده شده و داده آموزشی متن کتاب‌های شطرنج بوده است. نکته تعیین‌کننده این است که این متن‌ها جفت‌های صریح موقعیت صفحه و توضیح صحیح نیستند. بنابراین انتظار داریم مدل با زبان و اصطلاحات شطرنج آشنا شود، ولی از این آموزش به تنهایی نمی‌توان یادگیری تحلیل دقیق یک موقعیت را نتیجه گرفت. خروجی برای اجرای محلی به قالب </a:t>
            </a:r>
            <a:r>
              <a:rPr b="0" lang="en-US" sz="1400" spc="-1" strike="noStrike">
                <a:solidFill>
                  <a:srgbClr val="000000"/>
                </a:solidFill>
                <a:latin typeface="B Nazanin"/>
              </a:rPr>
              <a:t>GGUF</a:t>
            </a:r>
            <a:r>
              <a:rPr b="0" lang="en-US" sz="1400" spc="-1" strike="noStrike">
                <a:solidFill>
                  <a:srgbClr val="000000"/>
                </a:solidFill>
                <a:latin typeface="B Nazanin"/>
              </a:rPr>
              <a:t> با کوانتیزه‌سازی </a:t>
            </a:r>
            <a:r>
              <a:rPr b="0" lang="en-US" sz="1400" spc="-1" strike="noStrike">
                <a:solidFill>
                  <a:srgbClr val="000000"/>
                </a:solidFill>
                <a:latin typeface="B Nazanin"/>
              </a:rPr>
              <a:t>Q8</a:t>
            </a:r>
            <a:r>
              <a:rPr b="0" lang="en-US" sz="1400" spc="-1" strike="noStrike">
                <a:solidFill>
                  <a:srgbClr val="000000"/>
                </a:solidFill>
                <a:latin typeface="B Nazanin"/>
              </a:rPr>
              <a:t> تبدیل شده است. در نتایج این مدل با نام </a:t>
            </a:r>
            <a:r>
              <a:rPr b="0" lang="en-US" sz="1400" spc="-1" strike="noStrike">
                <a:solidFill>
                  <a:srgbClr val="000000"/>
                </a:solidFill>
                <a:latin typeface="B Nazanin"/>
              </a:rPr>
              <a:t>Chess Q8</a:t>
            </a:r>
            <a:r>
              <a:rPr b="0" lang="en-US" sz="1400" spc="-1" strike="noStrike">
                <a:solidFill>
                  <a:srgbClr val="000000"/>
                </a:solidFill>
                <a:latin typeface="B Nazanin"/>
              </a:rPr>
              <a:t> دیده می‌شود. چون مقایسه کنترل‌شده قبل و بعد از آموزش نداریم، ادعا نمی‌کنم که آموزش حتماً کیفیت تحلیل را بهتر کرده است. این محدودیت را هنگام تفسیر نتایج نگه می‌داریم.</a:t>
            </a:r>
            <a:endParaRPr b="0" lang="en-US" sz="1400" spc="-1" strike="noStrike">
              <a:solidFill>
                <a:srgbClr val="000000"/>
              </a:solidFill>
              <a:latin typeface="Arial"/>
            </a:endParaRPr>
          </a:p>
        </p:txBody>
      </p:sp>
      <p:sp>
        <p:nvSpPr>
          <p:cNvPr id="428"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74A09EB-A038-4797-89DA-3D4F2ED5054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sldImg"/>
          </p:nvPr>
        </p:nvSpPr>
        <p:spPr>
          <a:xfrm>
            <a:off x="1143000" y="685800"/>
            <a:ext cx="4571640" cy="3428640"/>
          </a:xfrm>
          <a:prstGeom prst="rect">
            <a:avLst/>
          </a:prstGeom>
          <a:ln w="0">
            <a:noFill/>
          </a:ln>
        </p:spPr>
      </p:sp>
      <p:sp>
        <p:nvSpPr>
          <p:cNvPr id="43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rtl="1">
              <a:lnSpc>
                <a:spcPct val="100000"/>
              </a:lnSpc>
              <a:buNone/>
            </a:pPr>
            <a:r>
              <a:rPr b="0" lang="hi-IN" sz="1400" spc="-1" strike="noStrike">
                <a:solidFill>
                  <a:srgbClr val="000000"/>
                </a:solidFill>
                <a:latin typeface="B Nazanin"/>
              </a:rPr>
              <a:t>زمان پیشنهادی: </a:t>
            </a:r>
            <a:r>
              <a:rPr b="0" lang="en-US" sz="1400" spc="-1" strike="noStrike">
                <a:solidFill>
                  <a:srgbClr val="000000"/>
                </a:solidFill>
                <a:latin typeface="B Nazanin"/>
              </a:rPr>
              <a:t>75</a:t>
            </a:r>
            <a:r>
              <a:rPr b="0" lang="en-US" sz="1400" spc="-1" strike="noStrike">
                <a:solidFill>
                  <a:srgbClr val="000000"/>
                </a:solidFill>
                <a:latin typeface="B Nazanin"/>
              </a:rPr>
              <a:t> ثانیه</a:t>
            </a:r>
            <a:endParaRPr b="0" lang="en-US" sz="1400" spc="-1" strike="noStrike">
              <a:solidFill>
                <a:srgbClr val="000000"/>
              </a:solidFill>
              <a:latin typeface="Arial"/>
            </a:endParaRPr>
          </a:p>
          <a:p>
            <a:pPr marL="216000" indent="0" rtl="1">
              <a:lnSpc>
                <a:spcPct val="100000"/>
              </a:lnSpc>
              <a:buNone/>
            </a:pPr>
            <a:endParaRPr b="0" lang="en-US" sz="1400" spc="-1" strike="noStrike">
              <a:solidFill>
                <a:srgbClr val="000000"/>
              </a:solidFill>
              <a:latin typeface="Arial"/>
            </a:endParaRPr>
          </a:p>
          <a:p>
            <a:pPr marL="216000" indent="0" rtl="1">
              <a:lnSpc>
                <a:spcPct val="100000"/>
              </a:lnSpc>
              <a:buNone/>
            </a:pPr>
            <a:r>
              <a:rPr b="0" lang="hi-IN" sz="1400" spc="-1" strike="noStrike">
                <a:solidFill>
                  <a:srgbClr val="000000"/>
                </a:solidFill>
                <a:latin typeface="B Nazanin"/>
              </a:rPr>
              <a:t>مجموعه ارزیابی شامل </a:t>
            </a:r>
            <a:r>
              <a:rPr b="0" lang="hi-IN" sz="1400" spc="-1" strike="noStrike">
                <a:solidFill>
                  <a:srgbClr val="000000"/>
                </a:solidFill>
                <a:latin typeface="B Nazanin"/>
              </a:rPr>
              <a:t>۶۰</a:t>
            </a:r>
            <a:r>
              <a:rPr b="0" lang="en-US" sz="1400" spc="-1" strike="noStrike">
                <a:solidFill>
                  <a:srgbClr val="000000"/>
                </a:solidFill>
                <a:latin typeface="B Nazanin"/>
              </a:rPr>
              <a:t> موقعیت است: </a:t>
            </a:r>
            <a:r>
              <a:rPr b="0" lang="hi-IN" sz="1400" spc="-1" strike="noStrike">
                <a:solidFill>
                  <a:srgbClr val="000000"/>
                </a:solidFill>
                <a:latin typeface="B Nazanin"/>
              </a:rPr>
              <a:t>۲۰</a:t>
            </a:r>
            <a:r>
              <a:rPr b="0" lang="en-US" sz="1400" spc="-1" strike="noStrike">
                <a:solidFill>
                  <a:srgbClr val="000000"/>
                </a:solidFill>
                <a:latin typeface="B Nazanin"/>
              </a:rPr>
              <a:t> موقعیت از هر گروه مبتدی، متوسط و پیشرفته. گروه‌بندی با میانگین ریتینگ دو بازیکن بازی مبدأ انجام شده؛ کمتر از </a:t>
            </a:r>
            <a:r>
              <a:rPr b="0" lang="hi-IN" sz="1400" spc="-1" strike="noStrike">
                <a:solidFill>
                  <a:srgbClr val="000000"/>
                </a:solidFill>
                <a:latin typeface="B Nazanin"/>
              </a:rPr>
              <a:t>۱۲۰۰</a:t>
            </a:r>
            <a:r>
              <a:rPr b="0" lang="hi-IN" sz="1400" spc="-1" strike="noStrike">
                <a:solidFill>
                  <a:srgbClr val="000000"/>
                </a:solidFill>
                <a:latin typeface="B Nazanin"/>
              </a:rPr>
              <a:t>، از </a:t>
            </a:r>
            <a:r>
              <a:rPr b="0" lang="hi-IN" sz="1400" spc="-1" strike="noStrike">
                <a:solidFill>
                  <a:srgbClr val="000000"/>
                </a:solidFill>
                <a:latin typeface="B Nazanin"/>
              </a:rPr>
              <a:t>۱۲۰۰</a:t>
            </a:r>
            <a:r>
              <a:rPr b="0" lang="en-US" sz="1400" spc="-1" strike="noStrike">
                <a:solidFill>
                  <a:srgbClr val="000000"/>
                </a:solidFill>
                <a:latin typeface="B Nazanin"/>
              </a:rPr>
              <a:t> تا کمتر از </a:t>
            </a:r>
            <a:r>
              <a:rPr b="0" lang="hi-IN" sz="1400" spc="-1" strike="noStrike">
                <a:solidFill>
                  <a:srgbClr val="000000"/>
                </a:solidFill>
                <a:latin typeface="B Nazanin"/>
              </a:rPr>
              <a:t>۱۸۰۰</a:t>
            </a:r>
            <a:r>
              <a:rPr b="0" lang="hi-IN" sz="1400" spc="-1" strike="noStrike">
                <a:solidFill>
                  <a:srgbClr val="000000"/>
                </a:solidFill>
                <a:latin typeface="B Nazanin"/>
              </a:rPr>
              <a:t>، و </a:t>
            </a:r>
            <a:r>
              <a:rPr b="0" lang="hi-IN" sz="1400" spc="-1" strike="noStrike">
                <a:solidFill>
                  <a:srgbClr val="000000"/>
                </a:solidFill>
                <a:latin typeface="B Nazanin"/>
              </a:rPr>
              <a:t>۱۸۰۰</a:t>
            </a:r>
            <a:r>
              <a:rPr b="0" lang="en-US" sz="1400" spc="-1" strike="noStrike">
                <a:solidFill>
                  <a:srgbClr val="000000"/>
                </a:solidFill>
                <a:latin typeface="B Nazanin"/>
              </a:rPr>
              <a:t> به بالا. پس این برچسب‌ها را نباید اندازه‌گیری مستقیم دشواری موقعیت دانست. برای هر موقعیت خروجی </a:t>
            </a:r>
            <a:r>
              <a:rPr b="0" lang="hi-IN" sz="1400" spc="-1" strike="noStrike">
                <a:solidFill>
                  <a:srgbClr val="000000"/>
                </a:solidFill>
                <a:latin typeface="B Nazanin"/>
              </a:rPr>
              <a:t>۱۱</a:t>
            </a:r>
            <a:r>
              <a:rPr b="0" lang="en-US" sz="1400" spc="-1" strike="noStrike">
                <a:solidFill>
                  <a:srgbClr val="000000"/>
                </a:solidFill>
                <a:latin typeface="B Nazanin"/>
              </a:rPr>
              <a:t> مدل وجود دارد و در مجموع </a:t>
            </a:r>
            <a:r>
              <a:rPr b="0" lang="hi-IN" sz="1400" spc="-1" strike="noStrike">
                <a:solidFill>
                  <a:srgbClr val="000000"/>
                </a:solidFill>
                <a:latin typeface="B Nazanin"/>
              </a:rPr>
              <a:t>۶۶۰</a:t>
            </a:r>
            <a:r>
              <a:rPr b="0" lang="en-US" sz="1400" spc="-1" strike="noStrike">
                <a:solidFill>
                  <a:srgbClr val="000000"/>
                </a:solidFill>
                <a:latin typeface="B Nazanin"/>
              </a:rPr>
              <a:t> پاسخ امتیاز گرفته‌اند. تطبیق با گروه و شناسه ردیف انجام شده تا مقایسه بر مبنای موقعیت مشترک باشد. داور ثابت </a:t>
            </a:r>
            <a:r>
              <a:rPr b="0" lang="en-US" sz="1400" spc="-1" strike="noStrike">
                <a:solidFill>
                  <a:srgbClr val="000000"/>
                </a:solidFill>
                <a:latin typeface="B Nazanin"/>
              </a:rPr>
              <a:t>gemma4-12b</a:t>
            </a:r>
            <a:r>
              <a:rPr b="0" lang="en-US" sz="1400" spc="-1" strike="noStrike">
                <a:solidFill>
                  <a:srgbClr val="000000"/>
                </a:solidFill>
                <a:latin typeface="B Nazanin"/>
              </a:rPr>
              <a:t> است. در عین حال، اجرای مدل‌ها الزاماً سخت‌افزار یا تنظیمات تولید یکسان ندارد؛ این آزمایش مقایسه پاسخ‌های ثبت‌شده است، نه آزمایش سرعت یا هزینه.</a:t>
            </a:r>
            <a:endParaRPr b="0" lang="en-US" sz="1400" spc="-1" strike="noStrike">
              <a:solidFill>
                <a:srgbClr val="000000"/>
              </a:solidFill>
              <a:latin typeface="Arial"/>
            </a:endParaRPr>
          </a:p>
        </p:txBody>
      </p:sp>
      <p:sp>
        <p:nvSpPr>
          <p:cNvPr id="431"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84112CC-D33B-4207-8497-CD7B17BC0D7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PlaceHolder 1"/>
          <p:cNvSpPr>
            <a:spLocks noGrp="1"/>
          </p:cNvSpPr>
          <p:nvPr>
            <p:ph type="sldImg"/>
          </p:nvPr>
        </p:nvSpPr>
        <p:spPr>
          <a:xfrm>
            <a:off x="1143000" y="685800"/>
            <a:ext cx="4571640" cy="3428640"/>
          </a:xfrm>
          <a:prstGeom prst="rect">
            <a:avLst/>
          </a:prstGeom>
          <a:ln w="0">
            <a:noFill/>
          </a:ln>
        </p:spPr>
      </p:sp>
      <p:sp>
        <p:nvSpPr>
          <p:cNvPr id="43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rtl="1">
              <a:lnSpc>
                <a:spcPct val="100000"/>
              </a:lnSpc>
              <a:buNone/>
            </a:pPr>
            <a:r>
              <a:rPr b="0" lang="hi-IN" sz="1400" spc="-1" strike="noStrike">
                <a:solidFill>
                  <a:srgbClr val="000000"/>
                </a:solidFill>
                <a:latin typeface="B Nazanin"/>
              </a:rPr>
              <a:t>زمان پیشنهادی: </a:t>
            </a:r>
            <a:r>
              <a:rPr b="0" lang="en-US" sz="1400" spc="-1" strike="noStrike">
                <a:solidFill>
                  <a:srgbClr val="000000"/>
                </a:solidFill>
                <a:latin typeface="B Nazanin"/>
              </a:rPr>
              <a:t>75</a:t>
            </a:r>
            <a:r>
              <a:rPr b="0" lang="en-US" sz="1400" spc="-1" strike="noStrike">
                <a:solidFill>
                  <a:srgbClr val="000000"/>
                </a:solidFill>
                <a:latin typeface="B Nazanin"/>
              </a:rPr>
              <a:t> ثانیه</a:t>
            </a:r>
            <a:endParaRPr b="0" lang="en-US" sz="1400" spc="-1" strike="noStrike">
              <a:solidFill>
                <a:srgbClr val="000000"/>
              </a:solidFill>
              <a:latin typeface="Arial"/>
            </a:endParaRPr>
          </a:p>
          <a:p>
            <a:pPr marL="216000" indent="0" rtl="1">
              <a:lnSpc>
                <a:spcPct val="100000"/>
              </a:lnSpc>
              <a:buNone/>
            </a:pPr>
            <a:endParaRPr b="0" lang="en-US" sz="1400" spc="-1" strike="noStrike">
              <a:solidFill>
                <a:srgbClr val="000000"/>
              </a:solidFill>
              <a:latin typeface="Arial"/>
            </a:endParaRPr>
          </a:p>
          <a:p>
            <a:pPr marL="216000" indent="0" rtl="1">
              <a:lnSpc>
                <a:spcPct val="100000"/>
              </a:lnSpc>
              <a:buNone/>
            </a:pPr>
            <a:r>
              <a:rPr b="0" lang="hi-IN" sz="1400" spc="-1" strike="noStrike">
                <a:solidFill>
                  <a:srgbClr val="000000"/>
                </a:solidFill>
                <a:latin typeface="B Nazanin"/>
              </a:rPr>
              <a:t>هر پاسخ در پنج مؤلفه از صفر تا ده امتیاز می‌گیرد. صحت </a:t>
            </a:r>
            <a:r>
              <a:rPr b="0" lang="hi-IN" sz="1400" spc="-1" strike="noStrike">
                <a:solidFill>
                  <a:srgbClr val="000000"/>
                </a:solidFill>
                <a:latin typeface="B Nazanin"/>
              </a:rPr>
              <a:t>۳۵</a:t>
            </a:r>
            <a:r>
              <a:rPr b="0" lang="en-US" sz="1400" spc="-1" strike="noStrike">
                <a:solidFill>
                  <a:srgbClr val="000000"/>
                </a:solidFill>
                <a:latin typeface="B Nazanin"/>
              </a:rPr>
              <a:t> درصد و وفاداری </a:t>
            </a:r>
            <a:r>
              <a:rPr b="0" lang="hi-IN" sz="1400" spc="-1" strike="noStrike">
                <a:solidFill>
                  <a:srgbClr val="000000"/>
                </a:solidFill>
                <a:latin typeface="B Nazanin"/>
              </a:rPr>
              <a:t>۲۵</a:t>
            </a:r>
            <a:r>
              <a:rPr b="0" lang="en-US" sz="1400" spc="-1" strike="noStrike">
                <a:solidFill>
                  <a:srgbClr val="000000"/>
                </a:solidFill>
                <a:latin typeface="B Nazanin"/>
              </a:rPr>
              <a:t> درصد وزن دارند؛ در نتیجه مجموعاً </a:t>
            </a:r>
            <a:r>
              <a:rPr b="0" lang="hi-IN" sz="1400" spc="-1" strike="noStrike">
                <a:solidFill>
                  <a:srgbClr val="000000"/>
                </a:solidFill>
                <a:latin typeface="B Nazanin"/>
              </a:rPr>
              <a:t>۶۰</a:t>
            </a:r>
            <a:r>
              <a:rPr b="0" lang="en-US" sz="1400" spc="-1" strike="noStrike">
                <a:solidFill>
                  <a:srgbClr val="000000"/>
                </a:solidFill>
                <a:latin typeface="B Nazanin"/>
              </a:rPr>
              <a:t> درصد امتیاز به این دو اختصاص یافته است. مفید بودن </a:t>
            </a:r>
            <a:r>
              <a:rPr b="0" lang="hi-IN" sz="1400" spc="-1" strike="noStrike">
                <a:solidFill>
                  <a:srgbClr val="000000"/>
                </a:solidFill>
                <a:latin typeface="B Nazanin"/>
              </a:rPr>
              <a:t>۲۰</a:t>
            </a:r>
            <a:r>
              <a:rPr b="0" lang="en-US" sz="1400" spc="-1" strike="noStrike">
                <a:solidFill>
                  <a:srgbClr val="000000"/>
                </a:solidFill>
                <a:latin typeface="B Nazanin"/>
              </a:rPr>
              <a:t> درصد و پیروی از دستور و روانی هر کدام </a:t>
            </a:r>
            <a:r>
              <a:rPr b="0" lang="hi-IN" sz="1400" spc="-1" strike="noStrike">
                <a:solidFill>
                  <a:srgbClr val="000000"/>
                </a:solidFill>
                <a:latin typeface="B Nazanin"/>
              </a:rPr>
              <a:t>۱۰</a:t>
            </a:r>
            <a:r>
              <a:rPr b="0" lang="en-US" sz="1400" spc="-1" strike="noStrike">
                <a:solidFill>
                  <a:srgbClr val="000000"/>
                </a:solidFill>
                <a:latin typeface="B Nazanin"/>
              </a:rPr>
              <a:t> درصد هستند. امتیاز کلی میانگین وزنی این مؤلفه‌هاست. محدودیت مهم اینجاست که داور متن پاسخ و متن مرجع را مقایسه می‌کند و مستقیماً صفحه را با موتور بررسی نمی‌کند. بنابراین بهتر است نتایج را هم‌سویی با مرجع تحت این داور بنامیم و نه اثبات مستقل صحت تمام جزئیات شطرنجی. همچنین روانی بالا می‌تواند بخشی از امتیاز را بالا ببرد حتی وقتی محتوای شطرنجی ضعیف است. در اسلاید بعد رتبه کلی را می‌بینیم و سپس این اختلاف را باز می‌کنیم.</a:t>
            </a:r>
            <a:endParaRPr b="0" lang="en-US" sz="1400" spc="-1" strike="noStrike">
              <a:solidFill>
                <a:srgbClr val="000000"/>
              </a:solidFill>
              <a:latin typeface="Arial"/>
            </a:endParaRPr>
          </a:p>
        </p:txBody>
      </p:sp>
      <p:sp>
        <p:nvSpPr>
          <p:cNvPr id="434"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3C8BA00-22D1-42DB-964F-ABDDF42A520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sldImg"/>
          </p:nvPr>
        </p:nvSpPr>
        <p:spPr>
          <a:xfrm>
            <a:off x="1143000" y="685800"/>
            <a:ext cx="4571640" cy="3428640"/>
          </a:xfrm>
          <a:prstGeom prst="rect">
            <a:avLst/>
          </a:prstGeom>
          <a:ln w="0">
            <a:noFill/>
          </a:ln>
        </p:spPr>
      </p:sp>
      <p:sp>
        <p:nvSpPr>
          <p:cNvPr id="43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rtl="1">
              <a:lnSpc>
                <a:spcPct val="100000"/>
              </a:lnSpc>
              <a:buNone/>
            </a:pPr>
            <a:r>
              <a:rPr b="0" lang="hi-IN" sz="1400" spc="-1" strike="noStrike">
                <a:solidFill>
                  <a:srgbClr val="000000"/>
                </a:solidFill>
                <a:latin typeface="B Nazanin"/>
              </a:rPr>
              <a:t>زمان پیشنهادی: </a:t>
            </a:r>
            <a:r>
              <a:rPr b="0" lang="en-US" sz="1400" spc="-1" strike="noStrike">
                <a:solidFill>
                  <a:srgbClr val="000000"/>
                </a:solidFill>
                <a:latin typeface="B Nazanin"/>
              </a:rPr>
              <a:t>90</a:t>
            </a:r>
            <a:r>
              <a:rPr b="0" lang="en-US" sz="1400" spc="-1" strike="noStrike">
                <a:solidFill>
                  <a:srgbClr val="000000"/>
                </a:solidFill>
                <a:latin typeface="B Nazanin"/>
              </a:rPr>
              <a:t> ثانیه</a:t>
            </a:r>
            <a:endParaRPr b="0" lang="en-US" sz="1400" spc="-1" strike="noStrike">
              <a:solidFill>
                <a:srgbClr val="000000"/>
              </a:solidFill>
              <a:latin typeface="Arial"/>
            </a:endParaRPr>
          </a:p>
          <a:p>
            <a:pPr marL="216000" indent="0" rtl="1">
              <a:lnSpc>
                <a:spcPct val="100000"/>
              </a:lnSpc>
              <a:buNone/>
            </a:pPr>
            <a:endParaRPr b="0" lang="en-US" sz="1400" spc="-1" strike="noStrike">
              <a:solidFill>
                <a:srgbClr val="000000"/>
              </a:solidFill>
              <a:latin typeface="Arial"/>
            </a:endParaRPr>
          </a:p>
          <a:p>
            <a:pPr marL="216000" indent="0" rtl="1">
              <a:lnSpc>
                <a:spcPct val="100000"/>
              </a:lnSpc>
              <a:buNone/>
            </a:pPr>
            <a:r>
              <a:rPr b="0" lang="hi-IN" sz="1400" spc="-1" strike="noStrike">
                <a:solidFill>
                  <a:srgbClr val="000000"/>
                </a:solidFill>
                <a:latin typeface="B Nazanin"/>
              </a:rPr>
              <a:t>این نمودار نتایج نهایی </a:t>
            </a:r>
            <a:r>
              <a:rPr b="0" lang="hi-IN" sz="1400" spc="-1" strike="noStrike">
                <a:solidFill>
                  <a:srgbClr val="000000"/>
                </a:solidFill>
                <a:latin typeface="B Nazanin"/>
              </a:rPr>
              <a:t>۱۱</a:t>
            </a:r>
            <a:r>
              <a:rPr b="0" lang="en-US" sz="1400" spc="-1" strike="noStrike">
                <a:solidFill>
                  <a:srgbClr val="000000"/>
                </a:solidFill>
                <a:latin typeface="B Nazanin"/>
              </a:rPr>
              <a:t> مدل را نشان می‌دهد. بهترین میانگین همچنان </a:t>
            </a:r>
            <a:r>
              <a:rPr b="0" lang="en-US" sz="1400" spc="-1" strike="noStrike">
                <a:solidFill>
                  <a:srgbClr val="000000"/>
                </a:solidFill>
                <a:latin typeface="B Nazanin"/>
              </a:rPr>
              <a:t>GPT-5.5</a:t>
            </a:r>
            <a:r>
              <a:rPr b="0" lang="en-US" sz="1400" spc="-1" strike="noStrike">
                <a:solidFill>
                  <a:srgbClr val="000000"/>
                </a:solidFill>
                <a:latin typeface="B Nazanin"/>
              </a:rPr>
              <a:t> با </a:t>
            </a:r>
            <a:r>
              <a:rPr b="0" lang="hi-IN" sz="1400" spc="-1" strike="noStrike">
                <a:solidFill>
                  <a:srgbClr val="000000"/>
                </a:solidFill>
                <a:latin typeface="B Nazanin"/>
              </a:rPr>
              <a:t>۷٫۳۱</a:t>
            </a:r>
            <a:r>
              <a:rPr b="0" lang="en-US" sz="1400" spc="-1" strike="noStrike">
                <a:solidFill>
                  <a:srgbClr val="000000"/>
                </a:solidFill>
                <a:latin typeface="B Nazanin"/>
              </a:rPr>
              <a:t> است. امتیاز مدل محلی مبتنی بر </a:t>
            </a:r>
            <a:r>
              <a:rPr b="0" lang="en-US" sz="1400" spc="-1" strike="noStrike">
                <a:solidFill>
                  <a:srgbClr val="000000"/>
                </a:solidFill>
                <a:latin typeface="B Nazanin"/>
              </a:rPr>
              <a:t>Qwen3-1.7B</a:t>
            </a:r>
            <a:r>
              <a:rPr b="0" lang="en-US" sz="1400" spc="-1" strike="noStrike">
                <a:solidFill>
                  <a:srgbClr val="000000"/>
                </a:solidFill>
                <a:latin typeface="B Nazanin"/>
              </a:rPr>
              <a:t> اکنون </a:t>
            </a:r>
            <a:r>
              <a:rPr b="0" lang="hi-IN" sz="1400" spc="-1" strike="noStrike">
                <a:solidFill>
                  <a:srgbClr val="000000"/>
                </a:solidFill>
                <a:latin typeface="B Nazanin"/>
              </a:rPr>
              <a:t>۲٫۸۶</a:t>
            </a:r>
            <a:r>
              <a:rPr b="0" lang="en-US" sz="1400" spc="-1" strike="noStrike">
                <a:solidFill>
                  <a:srgbClr val="000000"/>
                </a:solidFill>
                <a:latin typeface="B Nazanin"/>
              </a:rPr>
              <a:t> است. نکته جالب، نزدیکی مدل </a:t>
            </a:r>
            <a:r>
              <a:rPr b="0" lang="hi-IN" sz="1400" spc="-1" strike="noStrike">
                <a:solidFill>
                  <a:srgbClr val="000000"/>
                </a:solidFill>
                <a:latin typeface="B Nazanin"/>
              </a:rPr>
              <a:t>۱٫۷</a:t>
            </a:r>
            <a:r>
              <a:rPr b="0" lang="en-US" sz="1400" spc="-1" strike="noStrike">
                <a:solidFill>
                  <a:srgbClr val="000000"/>
                </a:solidFill>
                <a:latin typeface="B Nazanin"/>
              </a:rPr>
              <a:t> میلیاردپارامتری به چند مدل بزرگ‌تر است. در این اسلاید تمام </a:t>
            </a:r>
            <a:r>
              <a:rPr b="0" lang="hi-IN" sz="1400" spc="-1" strike="noStrike">
                <a:solidFill>
                  <a:srgbClr val="000000"/>
                </a:solidFill>
                <a:latin typeface="B Nazanin"/>
              </a:rPr>
              <a:t>۱۱</a:t>
            </a:r>
            <a:r>
              <a:rPr b="0" lang="en-US" sz="1400" spc="-1" strike="noStrike">
                <a:solidFill>
                  <a:srgbClr val="000000"/>
                </a:solidFill>
                <a:latin typeface="B Nazanin"/>
              </a:rPr>
              <a:t> مدل آمده‌اند تا مقایسه انتخابی تصویر کلی را پنهان نکند. فاصله با مدل‌های قوی‌تر همچنان قابل توجه است. اسلاید بعد مقایسه نزدیک‌تر مدل کوچک را نشان می‌دهد.</a:t>
            </a:r>
            <a:endParaRPr b="0" lang="en-US" sz="1400" spc="-1" strike="noStrike">
              <a:solidFill>
                <a:srgbClr val="000000"/>
              </a:solidFill>
              <a:latin typeface="Arial"/>
            </a:endParaRPr>
          </a:p>
        </p:txBody>
      </p:sp>
      <p:sp>
        <p:nvSpPr>
          <p:cNvPr id="437"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E3AD943-39BB-4B2E-9E91-D1158F1BCEC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sldImg"/>
          </p:nvPr>
        </p:nvSpPr>
        <p:spPr>
          <a:xfrm>
            <a:off x="1143000" y="685800"/>
            <a:ext cx="4571640" cy="3428640"/>
          </a:xfrm>
          <a:prstGeom prst="rect">
            <a:avLst/>
          </a:prstGeom>
          <a:ln w="0">
            <a:noFill/>
          </a:ln>
        </p:spPr>
      </p:sp>
      <p:sp>
        <p:nvSpPr>
          <p:cNvPr id="43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rtl="1">
              <a:lnSpc>
                <a:spcPct val="100000"/>
              </a:lnSpc>
              <a:buNone/>
            </a:pPr>
            <a:r>
              <a:rPr b="0" lang="hi-IN" sz="1400" spc="-1" strike="noStrike">
                <a:solidFill>
                  <a:srgbClr val="000000"/>
                </a:solidFill>
                <a:latin typeface="B Nazanin"/>
              </a:rPr>
              <a:t>زمان پیشنهادی: </a:t>
            </a:r>
            <a:r>
              <a:rPr b="0" lang="en-US" sz="1400" spc="-1" strike="noStrike">
                <a:solidFill>
                  <a:srgbClr val="000000"/>
                </a:solidFill>
                <a:latin typeface="B Nazanin"/>
              </a:rPr>
              <a:t>75</a:t>
            </a:r>
            <a:r>
              <a:rPr b="0" lang="en-US" sz="1400" spc="-1" strike="noStrike">
                <a:solidFill>
                  <a:srgbClr val="000000"/>
                </a:solidFill>
                <a:latin typeface="B Nazanin"/>
              </a:rPr>
              <a:t> ثانیه</a:t>
            </a:r>
            <a:endParaRPr b="0" lang="en-US" sz="1400" spc="-1" strike="noStrike">
              <a:solidFill>
                <a:srgbClr val="000000"/>
              </a:solidFill>
              <a:latin typeface="Arial"/>
            </a:endParaRPr>
          </a:p>
          <a:p>
            <a:pPr marL="216000" indent="0" rtl="1">
              <a:lnSpc>
                <a:spcPct val="100000"/>
              </a:lnSpc>
              <a:buNone/>
            </a:pPr>
            <a:endParaRPr b="0" lang="en-US" sz="1400" spc="-1" strike="noStrike">
              <a:solidFill>
                <a:srgbClr val="000000"/>
              </a:solidFill>
              <a:latin typeface="Arial"/>
            </a:endParaRPr>
          </a:p>
          <a:p>
            <a:pPr marL="216000" indent="0" rtl="1">
              <a:lnSpc>
                <a:spcPct val="100000"/>
              </a:lnSpc>
              <a:buNone/>
            </a:pPr>
            <a:r>
              <a:rPr b="0" lang="hi-IN" sz="1400" spc="-1" strike="noStrike">
                <a:solidFill>
                  <a:srgbClr val="000000"/>
                </a:solidFill>
                <a:latin typeface="B Nazanin"/>
              </a:rPr>
              <a:t>مدل اختصاصی با </a:t>
            </a:r>
            <a:r>
              <a:rPr b="0" lang="hi-IN" sz="1400" spc="-1" strike="noStrike">
                <a:solidFill>
                  <a:srgbClr val="000000"/>
                </a:solidFill>
                <a:latin typeface="B Nazanin"/>
              </a:rPr>
              <a:t>۱٫۷</a:t>
            </a:r>
            <a:r>
              <a:rPr b="0" lang="en-US" sz="1400" spc="-1" strike="noStrike">
                <a:solidFill>
                  <a:srgbClr val="000000"/>
                </a:solidFill>
                <a:latin typeface="B Nazanin"/>
              </a:rPr>
              <a:t> میلیارد پارامتر به میانگین </a:t>
            </a:r>
            <a:r>
              <a:rPr b="0" lang="hi-IN" sz="1400" spc="-1" strike="noStrike">
                <a:solidFill>
                  <a:srgbClr val="000000"/>
                </a:solidFill>
                <a:latin typeface="B Nazanin"/>
              </a:rPr>
              <a:t>۲٫۸۵۸۳</a:t>
            </a:r>
            <a:r>
              <a:rPr b="0" lang="en-US" sz="1400" spc="-1" strike="noStrike">
                <a:solidFill>
                  <a:srgbClr val="000000"/>
                </a:solidFill>
                <a:latin typeface="B Nazanin"/>
              </a:rPr>
              <a:t> رسیده است. مدل </a:t>
            </a:r>
            <a:r>
              <a:rPr b="0" lang="en-US" sz="1400" spc="-1" strike="noStrike">
                <a:solidFill>
                  <a:srgbClr val="000000"/>
                </a:solidFill>
                <a:latin typeface="B Nazanin"/>
              </a:rPr>
              <a:t>Llama</a:t>
            </a:r>
            <a:r>
              <a:rPr b="0" lang="en-US" sz="1400" spc="-1" strike="noStrike">
                <a:solidFill>
                  <a:srgbClr val="000000"/>
                </a:solidFill>
                <a:latin typeface="B Nazanin"/>
              </a:rPr>
              <a:t> با سه میلیارد پارامتر </a:t>
            </a:r>
            <a:r>
              <a:rPr b="0" lang="hi-IN" sz="1400" spc="-1" strike="noStrike">
                <a:solidFill>
                  <a:srgbClr val="000000"/>
                </a:solidFill>
                <a:latin typeface="B Nazanin"/>
              </a:rPr>
              <a:t>۲٫۸۵۵۰</a:t>
            </a:r>
            <a:r>
              <a:rPr b="0" lang="en-US" sz="1400" spc="-1" strike="noStrike">
                <a:solidFill>
                  <a:srgbClr val="000000"/>
                </a:solidFill>
                <a:latin typeface="B Nazanin"/>
              </a:rPr>
              <a:t> دارد، پس هر دو با دو رقم اعشار </a:t>
            </a:r>
            <a:r>
              <a:rPr b="0" lang="hi-IN" sz="1400" spc="-1" strike="noStrike">
                <a:solidFill>
                  <a:srgbClr val="000000"/>
                </a:solidFill>
                <a:latin typeface="B Nazanin"/>
              </a:rPr>
              <a:t>۲٫۸۶</a:t>
            </a:r>
            <a:r>
              <a:rPr b="0" lang="en-US" sz="1400" spc="-1" strike="noStrike">
                <a:solidFill>
                  <a:srgbClr val="000000"/>
                </a:solidFill>
                <a:latin typeface="B Nazanin"/>
              </a:rPr>
              <a:t> دیده می‌شوند. این اختلاف بسیار کوچک را برتری معنادار نمی‌نامیم. امتیاز مدل ما به </a:t>
            </a:r>
            <a:r>
              <a:rPr b="0" lang="en-US" sz="1400" spc="-1" strike="noStrike">
                <a:solidFill>
                  <a:srgbClr val="000000"/>
                </a:solidFill>
                <a:latin typeface="B Nazanin"/>
              </a:rPr>
              <a:t>Gemma 4</a:t>
            </a:r>
            <a:r>
              <a:rPr b="0" lang="en-US" sz="1400" spc="-1" strike="noStrike">
                <a:solidFill>
                  <a:srgbClr val="000000"/>
                </a:solidFill>
                <a:latin typeface="B Nazanin"/>
              </a:rPr>
              <a:t> با </a:t>
            </a:r>
            <a:r>
              <a:rPr b="0" lang="hi-IN" sz="1400" spc="-1" strike="noStrike">
                <a:solidFill>
                  <a:srgbClr val="000000"/>
                </a:solidFill>
                <a:latin typeface="B Nazanin"/>
              </a:rPr>
              <a:t>۲٫۹۰</a:t>
            </a:r>
            <a:r>
              <a:rPr b="0" lang="en-US" sz="1400" spc="-1" strike="noStrike">
                <a:solidFill>
                  <a:srgbClr val="000000"/>
                </a:solidFill>
                <a:latin typeface="B Nazanin"/>
              </a:rPr>
              <a:t> و </a:t>
            </a:r>
            <a:r>
              <a:rPr b="0" lang="en-US" sz="1400" spc="-1" strike="noStrike">
                <a:solidFill>
                  <a:srgbClr val="000000"/>
                </a:solidFill>
                <a:latin typeface="B Nazanin"/>
              </a:rPr>
              <a:t>Gemma 3</a:t>
            </a:r>
            <a:r>
              <a:rPr b="0" lang="en-US" sz="1400" spc="-1" strike="noStrike">
                <a:solidFill>
                  <a:srgbClr val="000000"/>
                </a:solidFill>
                <a:latin typeface="B Nazanin"/>
              </a:rPr>
              <a:t> با </a:t>
            </a:r>
            <a:r>
              <a:rPr b="0" lang="hi-IN" sz="1400" spc="-1" strike="noStrike">
                <a:solidFill>
                  <a:srgbClr val="000000"/>
                </a:solidFill>
                <a:latin typeface="B Nazanin"/>
              </a:rPr>
              <a:t>۲٫۹۵</a:t>
            </a:r>
            <a:r>
              <a:rPr b="0" lang="en-US" sz="1400" spc="-1" strike="noStrike">
                <a:solidFill>
                  <a:srgbClr val="000000"/>
                </a:solidFill>
                <a:latin typeface="B Nazanin"/>
              </a:rPr>
              <a:t> هم نزدیک است. این نتیجه برای یک مدل کوچک امیدوارکننده است و نشان می‌دهد اندازه بزرگ‌تر در این آزمایش به تنهایی تضمین امتیاز بهتر نیست. بااین‌حال، معماری و آموزش مدل‌ها متفاوت است و مدل </a:t>
            </a:r>
            <a:r>
              <a:rPr b="0" lang="en-US" sz="1400" spc="-1" strike="noStrike">
                <a:solidFill>
                  <a:srgbClr val="000000"/>
                </a:solidFill>
                <a:latin typeface="B Nazanin"/>
              </a:rPr>
              <a:t>26B A4B</a:t>
            </a:r>
            <a:r>
              <a:rPr b="0" lang="en-US" sz="1400" spc="-1" strike="noStrike">
                <a:solidFill>
                  <a:srgbClr val="000000"/>
                </a:solidFill>
                <a:latin typeface="B Nazanin"/>
              </a:rPr>
              <a:t> تعداد پارامتر فعال متفاوتی از تعداد کل دارد. سرعت یا مصرف منابع را اندازه نگرفته‌ایم. نتیجه دقیق، نزدیکی میانگین در همین مجموعه است.</a:t>
            </a:r>
            <a:endParaRPr b="0" lang="en-US" sz="1400" spc="-1" strike="noStrike">
              <a:solidFill>
                <a:srgbClr val="000000"/>
              </a:solidFill>
              <a:latin typeface="Arial"/>
            </a:endParaRPr>
          </a:p>
        </p:txBody>
      </p:sp>
      <p:sp>
        <p:nvSpPr>
          <p:cNvPr id="440" name="PlaceHolder 3"/>
          <p:cNvSpPr>
            <a:spLocks noGrp="1"/>
          </p:cNvSpPr>
          <p:nvPr>
            <p:ph type="sldNum" idx="4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76FD029-FD7F-4C61-8EC4-1E6B1C91638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sldImg"/>
          </p:nvPr>
        </p:nvSpPr>
        <p:spPr>
          <a:xfrm>
            <a:off x="1143000" y="685800"/>
            <a:ext cx="4571640" cy="3428640"/>
          </a:xfrm>
          <a:prstGeom prst="rect">
            <a:avLst/>
          </a:prstGeom>
          <a:ln w="0">
            <a:noFill/>
          </a:ln>
        </p:spPr>
      </p:sp>
      <p:sp>
        <p:nvSpPr>
          <p:cNvPr id="44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rtl="1">
              <a:lnSpc>
                <a:spcPct val="100000"/>
              </a:lnSpc>
              <a:buNone/>
            </a:pPr>
            <a:r>
              <a:rPr b="0" lang="hi-IN" sz="1400" spc="-1" strike="noStrike">
                <a:solidFill>
                  <a:srgbClr val="000000"/>
                </a:solidFill>
                <a:latin typeface="B Nazanin"/>
              </a:rPr>
              <a:t>زمان پیشنهادی: </a:t>
            </a:r>
            <a:r>
              <a:rPr b="0" lang="en-US" sz="1400" spc="-1" strike="noStrike">
                <a:solidFill>
                  <a:srgbClr val="000000"/>
                </a:solidFill>
                <a:latin typeface="B Nazanin"/>
              </a:rPr>
              <a:t>105</a:t>
            </a:r>
            <a:r>
              <a:rPr b="0" lang="en-US" sz="1400" spc="-1" strike="noStrike">
                <a:solidFill>
                  <a:srgbClr val="000000"/>
                </a:solidFill>
                <a:latin typeface="B Nazanin"/>
              </a:rPr>
              <a:t> ثانیه</a:t>
            </a:r>
            <a:endParaRPr b="0" lang="en-US" sz="1400" spc="-1" strike="noStrike">
              <a:solidFill>
                <a:srgbClr val="000000"/>
              </a:solidFill>
              <a:latin typeface="Arial"/>
            </a:endParaRPr>
          </a:p>
          <a:p>
            <a:pPr marL="216000" indent="0" rtl="1">
              <a:lnSpc>
                <a:spcPct val="100000"/>
              </a:lnSpc>
              <a:buNone/>
            </a:pPr>
            <a:endParaRPr b="0" lang="en-US" sz="1400" spc="-1" strike="noStrike">
              <a:solidFill>
                <a:srgbClr val="000000"/>
              </a:solidFill>
              <a:latin typeface="Arial"/>
            </a:endParaRPr>
          </a:p>
          <a:p>
            <a:pPr marL="216000" indent="0" rtl="1">
              <a:lnSpc>
                <a:spcPct val="100000"/>
              </a:lnSpc>
              <a:buNone/>
            </a:pPr>
            <a:r>
              <a:rPr b="0" lang="hi-IN" sz="1400" spc="-1" strike="noStrike">
                <a:solidFill>
                  <a:srgbClr val="000000"/>
                </a:solidFill>
                <a:latin typeface="B Nazanin"/>
              </a:rPr>
              <a:t>این نمونه مستقیماً از ردیف </a:t>
            </a:r>
            <a:r>
              <a:rPr b="0" lang="en-US" sz="1400" spc="-1" strike="noStrike">
                <a:solidFill>
                  <a:srgbClr val="000000"/>
                </a:solidFill>
                <a:latin typeface="B Nazanin"/>
              </a:rPr>
              <a:t>advanced</a:t>
            </a:r>
            <a:r>
              <a:rPr b="0" lang="en-US" sz="1400" spc="-1" strike="noStrike">
                <a:solidFill>
                  <a:srgbClr val="000000"/>
                </a:solidFill>
                <a:latin typeface="B Nazanin"/>
              </a:rPr>
              <a:t> با شناسه </a:t>
            </a:r>
            <a:r>
              <a:rPr b="0" lang="en-US" sz="1400" spc="-1" strike="noStrike">
                <a:solidFill>
                  <a:srgbClr val="000000"/>
                </a:solidFill>
                <a:latin typeface="B Nazanin"/>
              </a:rPr>
              <a:t>g1_m38</a:t>
            </a:r>
            <a:r>
              <a:rPr b="0" lang="en-US" sz="1400" spc="-1" strike="noStrike">
                <a:solidFill>
                  <a:srgbClr val="000000"/>
                </a:solidFill>
                <a:latin typeface="B Nazanin"/>
              </a:rPr>
              <a:t> در مجموعه ارزیابی آمده است. حرکت ثبت‌شده </a:t>
            </a:r>
            <a:r>
              <a:rPr b="0" lang="en-US" sz="1400" spc="-1" strike="noStrike">
                <a:solidFill>
                  <a:srgbClr val="000000"/>
                </a:solidFill>
                <a:latin typeface="B Nazanin"/>
              </a:rPr>
              <a:t>Bxf8</a:t>
            </a:r>
            <a:r>
              <a:rPr b="0" lang="en-US" sz="1400" spc="-1" strike="noStrike">
                <a:solidFill>
                  <a:srgbClr val="000000"/>
                </a:solidFill>
                <a:latin typeface="B Nazanin"/>
              </a:rPr>
              <a:t> است؛ فیل رخ را در خانه </a:t>
            </a:r>
            <a:r>
              <a:rPr b="0" lang="en-US" sz="1400" spc="-1" strike="noStrike">
                <a:solidFill>
                  <a:srgbClr val="000000"/>
                </a:solidFill>
                <a:latin typeface="B Nazanin"/>
              </a:rPr>
              <a:t>f8</a:t>
            </a:r>
            <a:r>
              <a:rPr b="0" lang="en-US" sz="1400" spc="-1" strike="noStrike">
                <a:solidFill>
                  <a:srgbClr val="000000"/>
                </a:solidFill>
                <a:latin typeface="B Nazanin"/>
              </a:rPr>
              <a:t> می‌گیرد. ابتدا چند ثانیه به دو صفحه نگاه کنید تا تغییر موقعیت روشن شود. مدل محلی در شروع پاسخ به جای این حرکت درباره </a:t>
            </a:r>
            <a:r>
              <a:rPr b="0" lang="en-US" sz="1400" spc="-1" strike="noStrike">
                <a:solidFill>
                  <a:srgbClr val="000000"/>
                </a:solidFill>
                <a:latin typeface="B Nazanin"/>
              </a:rPr>
              <a:t>Nxe4</a:t>
            </a:r>
            <a:r>
              <a:rPr b="0" lang="en-US" sz="1400" spc="-1" strike="noStrike">
                <a:solidFill>
                  <a:srgbClr val="000000"/>
                </a:solidFill>
                <a:latin typeface="B Nazanin"/>
              </a:rPr>
              <a:t> صحبت می‌کند و سپس حرکت و تهدیدهای دیگری را توضیح می‌دهد. همین عدم تطبیق حرکت نشان می‌دهد پاسخ به موقعیت مورد نظر متصل نمانده است. طبق داور، صحت و وفاداری هر دو صفر شده‌اند، ولی روانی ده است. پیروی از دستور هم ده و مفید بودن صفر بوده، بنابراین امتیاز وزنی دو به دست آمده است. متن مرجع درباره بی‌دفاع ماندن فیل و پیامد تاکتیکی معامله هشدار می‌دهد؛ آن را به عنوان توضیح مرجع گزارش می‌کنم، نه تحلیل مستقلی که اینجا دوباره با موتور تأیید شده باشد. این نمونه برای نمایش یک شکست انتخاب شده و جایگزین میانگین کل داده‌ها نیست. پیام اصلی این است که کنترل نام حرکت و اتصال متن به صفحه باید بخشی از سامانه نهایی باشد.</a:t>
            </a:r>
            <a:endParaRPr b="0" lang="en-US" sz="1400" spc="-1" strike="noStrike">
              <a:solidFill>
                <a:srgbClr val="000000"/>
              </a:solidFill>
              <a:latin typeface="Arial"/>
            </a:endParaRPr>
          </a:p>
        </p:txBody>
      </p:sp>
      <p:sp>
        <p:nvSpPr>
          <p:cNvPr id="443" name="PlaceHolder 3"/>
          <p:cNvSpPr>
            <a:spLocks noGrp="1"/>
          </p:cNvSpPr>
          <p:nvPr>
            <p:ph type="sldNum" idx="4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9B8AB9B-1259-4C93-9FA8-1AACBE27C8E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sldImg"/>
          </p:nvPr>
        </p:nvSpPr>
        <p:spPr>
          <a:xfrm>
            <a:off x="1143000" y="685800"/>
            <a:ext cx="4571640" cy="3428640"/>
          </a:xfrm>
          <a:prstGeom prst="rect">
            <a:avLst/>
          </a:prstGeom>
          <a:ln w="0">
            <a:noFill/>
          </a:ln>
        </p:spPr>
      </p:sp>
      <p:sp>
        <p:nvSpPr>
          <p:cNvPr id="44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rtl="1">
              <a:lnSpc>
                <a:spcPct val="100000"/>
              </a:lnSpc>
              <a:buNone/>
            </a:pPr>
            <a:r>
              <a:rPr b="0" lang="hi-IN" sz="1400" spc="-1" strike="noStrike">
                <a:solidFill>
                  <a:srgbClr val="000000"/>
                </a:solidFill>
                <a:latin typeface="B Nazanin"/>
              </a:rPr>
              <a:t>زمان پیشنهادی: </a:t>
            </a:r>
            <a:r>
              <a:rPr b="0" lang="en-US" sz="1400" spc="-1" strike="noStrike">
                <a:solidFill>
                  <a:srgbClr val="000000"/>
                </a:solidFill>
                <a:latin typeface="B Nazanin"/>
              </a:rPr>
              <a:t>75</a:t>
            </a:r>
            <a:r>
              <a:rPr b="0" lang="en-US" sz="1400" spc="-1" strike="noStrike">
                <a:solidFill>
                  <a:srgbClr val="000000"/>
                </a:solidFill>
                <a:latin typeface="B Nazanin"/>
              </a:rPr>
              <a:t> ثانیه</a:t>
            </a:r>
            <a:endParaRPr b="0" lang="en-US" sz="1400" spc="-1" strike="noStrike">
              <a:solidFill>
                <a:srgbClr val="000000"/>
              </a:solidFill>
              <a:latin typeface="Arial"/>
            </a:endParaRPr>
          </a:p>
          <a:p>
            <a:pPr marL="216000" indent="0" rtl="1">
              <a:lnSpc>
                <a:spcPct val="100000"/>
              </a:lnSpc>
              <a:buNone/>
            </a:pPr>
            <a:endParaRPr b="0" lang="en-US" sz="1400" spc="-1" strike="noStrike">
              <a:solidFill>
                <a:srgbClr val="000000"/>
              </a:solidFill>
              <a:latin typeface="Arial"/>
            </a:endParaRPr>
          </a:p>
          <a:p>
            <a:pPr marL="216000" indent="0" rtl="1">
              <a:lnSpc>
                <a:spcPct val="100000"/>
              </a:lnSpc>
              <a:buNone/>
            </a:pPr>
            <a:r>
              <a:rPr b="0" lang="hi-IN" sz="1400" spc="-1" strike="noStrike">
                <a:solidFill>
                  <a:srgbClr val="000000"/>
                </a:solidFill>
                <a:latin typeface="B Nazanin"/>
              </a:rPr>
              <a:t>نمونه قبل نشان داد که چالش اصلی، اتصال توضیح به وضعیت واقعی صفحه است. برای ادامه کار سه اولویت دارم. اول، به جای تکیه بر متن کتاب، جفت‌های موقعیت و توضیح تأییدشده تهیه شود. دوم، نام حرکت‌ها و ادعاهای تاکتیکی پیش از نمایش با ابزارهای شطرنج کنترل شوند. سوم، مجموعه آزمون گسترش پیدا کند و بازیکنان خبره کیفیت آموزشی متن را ارزیابی کنند. یک آزمایش مشخص هم مقایسه مدل پایه </a:t>
            </a:r>
            <a:r>
              <a:rPr b="0" lang="en-US" sz="1400" spc="-1" strike="noStrike">
                <a:solidFill>
                  <a:srgbClr val="000000"/>
                </a:solidFill>
                <a:latin typeface="B Nazanin"/>
              </a:rPr>
              <a:t>Qwen3-1.7B</a:t>
            </a:r>
            <a:r>
              <a:rPr b="0" lang="en-US" sz="1400" spc="-1" strike="noStrike">
                <a:solidFill>
                  <a:srgbClr val="000000"/>
                </a:solidFill>
                <a:latin typeface="B Nazanin"/>
              </a:rPr>
              <a:t> و نسخه سازگارشده در شرایط یکسان است تا سهم آموزش روشن شود. این موارد مسیر پیشنهادی ادامه کار هستند، نه قابلیت‌های تکمیل‌شده سامانه فعلی.</a:t>
            </a:r>
            <a:endParaRPr b="0" lang="en-US" sz="1400" spc="-1" strike="noStrike">
              <a:solidFill>
                <a:srgbClr val="000000"/>
              </a:solidFill>
              <a:latin typeface="Arial"/>
            </a:endParaRPr>
          </a:p>
        </p:txBody>
      </p:sp>
      <p:sp>
        <p:nvSpPr>
          <p:cNvPr id="446" name="PlaceHolder 3"/>
          <p:cNvSpPr>
            <a:spLocks noGrp="1"/>
          </p:cNvSpPr>
          <p:nvPr>
            <p:ph type="sldNum" idx="4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3733B7B-218C-4589-8475-2CB490B2F01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sldImg"/>
          </p:nvPr>
        </p:nvSpPr>
        <p:spPr>
          <a:xfrm>
            <a:off x="1143000" y="685800"/>
            <a:ext cx="4571640" cy="3428640"/>
          </a:xfrm>
          <a:prstGeom prst="rect">
            <a:avLst/>
          </a:prstGeom>
          <a:ln w="0">
            <a:noFill/>
          </a:ln>
        </p:spPr>
      </p:sp>
      <p:sp>
        <p:nvSpPr>
          <p:cNvPr id="44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rtl="1">
              <a:lnSpc>
                <a:spcPct val="100000"/>
              </a:lnSpc>
              <a:buNone/>
            </a:pPr>
            <a:r>
              <a:rPr b="0" lang="hi-IN" sz="1400" spc="-1" strike="noStrike">
                <a:solidFill>
                  <a:srgbClr val="000000"/>
                </a:solidFill>
                <a:latin typeface="B Nazanin"/>
              </a:rPr>
              <a:t>زمان پیشنهادی: </a:t>
            </a:r>
            <a:r>
              <a:rPr b="0" lang="en-US" sz="1400" spc="-1" strike="noStrike">
                <a:solidFill>
                  <a:srgbClr val="000000"/>
                </a:solidFill>
                <a:latin typeface="B Nazanin"/>
              </a:rPr>
              <a:t>45</a:t>
            </a:r>
            <a:r>
              <a:rPr b="0" lang="en-US" sz="1400" spc="-1" strike="noStrike">
                <a:solidFill>
                  <a:srgbClr val="000000"/>
                </a:solidFill>
                <a:latin typeface="B Nazanin"/>
              </a:rPr>
              <a:t> ثانیه</a:t>
            </a:r>
            <a:endParaRPr b="0" lang="en-US" sz="1400" spc="-1" strike="noStrike">
              <a:solidFill>
                <a:srgbClr val="000000"/>
              </a:solidFill>
              <a:latin typeface="Arial"/>
            </a:endParaRPr>
          </a:p>
          <a:p>
            <a:pPr marL="216000" indent="0" rtl="1">
              <a:lnSpc>
                <a:spcPct val="100000"/>
              </a:lnSpc>
              <a:buNone/>
            </a:pPr>
            <a:endParaRPr b="0" lang="en-US" sz="1400" spc="-1" strike="noStrike">
              <a:solidFill>
                <a:srgbClr val="000000"/>
              </a:solidFill>
              <a:latin typeface="Arial"/>
            </a:endParaRPr>
          </a:p>
          <a:p>
            <a:pPr marL="216000" indent="0" rtl="1">
              <a:lnSpc>
                <a:spcPct val="100000"/>
              </a:lnSpc>
              <a:buNone/>
            </a:pPr>
            <a:r>
              <a:rPr b="0" lang="hi-IN" sz="1400" spc="-1" strike="noStrike">
                <a:solidFill>
                  <a:srgbClr val="000000"/>
                </a:solidFill>
                <a:latin typeface="B Nazanin"/>
              </a:rPr>
              <a:t>در پایان، دستاورد پروژه یک سامانه قابل اجرا برای ترکیب تحلیل موتور و توضیح زبانی و یک چارچوب مشترک برای ارزیابی مدل‌هاست. مدل </a:t>
            </a:r>
            <a:r>
              <a:rPr b="0" lang="hi-IN" sz="1400" spc="-1" strike="noStrike">
                <a:solidFill>
                  <a:srgbClr val="000000"/>
                </a:solidFill>
                <a:latin typeface="B Nazanin"/>
              </a:rPr>
              <a:t>۱٫۷</a:t>
            </a:r>
            <a:r>
              <a:rPr b="0" lang="en-US" sz="1400" spc="-1" strike="noStrike">
                <a:solidFill>
                  <a:srgbClr val="000000"/>
                </a:solidFill>
                <a:latin typeface="B Nazanin"/>
              </a:rPr>
              <a:t> میلیاردپارامتری ما امتیاز </a:t>
            </a:r>
            <a:r>
              <a:rPr b="0" lang="hi-IN" sz="1400" spc="-1" strike="noStrike">
                <a:solidFill>
                  <a:srgbClr val="000000"/>
                </a:solidFill>
                <a:latin typeface="B Nazanin"/>
              </a:rPr>
              <a:t>۲٫۸۶</a:t>
            </a:r>
            <a:r>
              <a:rPr b="0" lang="en-US" sz="1400" spc="-1" strike="noStrike">
                <a:solidFill>
                  <a:srgbClr val="000000"/>
                </a:solidFill>
                <a:latin typeface="B Nazanin"/>
              </a:rPr>
              <a:t> گرفته که در همین آزمون به چند مدل بزرگ‌تر نزدیک است. این نتیجه انگیزه ادامه کار با مدل‌های سبک را فراهم می‌کند. در عین حال، خطاهای محتوایی باقی‌اند و برای کاربرد آموزشی قابل اعتماد باید اتصال متن به شواهد بهتر شود. پیام نهایی این است که مدل کوچک نقطه شروع عملی مناسبی برای ادامه پژوهش است؛ نه اینکه توانایی آن در همه کارها با مدل‌های بزرگ برابر باشد. از توجه شما ممنونم.</a:t>
            </a:r>
            <a:endParaRPr b="0" lang="en-US" sz="1400" spc="-1" strike="noStrike">
              <a:solidFill>
                <a:srgbClr val="000000"/>
              </a:solidFill>
              <a:latin typeface="Arial"/>
            </a:endParaRPr>
          </a:p>
        </p:txBody>
      </p:sp>
      <p:sp>
        <p:nvSpPr>
          <p:cNvPr id="449" name="PlaceHolder 3"/>
          <p:cNvSpPr>
            <a:spLocks noGrp="1"/>
          </p:cNvSpPr>
          <p:nvPr>
            <p:ph type="sldNum" idx="4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6657391-C59F-40F3-948D-3E58C877365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PlaceHolder 1"/>
          <p:cNvSpPr>
            <a:spLocks noGrp="1"/>
          </p:cNvSpPr>
          <p:nvPr>
            <p:ph type="sldImg"/>
          </p:nvPr>
        </p:nvSpPr>
        <p:spPr>
          <a:xfrm>
            <a:off x="1143000" y="685800"/>
            <a:ext cx="4571640" cy="3428640"/>
          </a:xfrm>
          <a:prstGeom prst="rect">
            <a:avLst/>
          </a:prstGeom>
          <a:ln w="0">
            <a:noFill/>
          </a:ln>
        </p:spPr>
      </p:sp>
      <p:sp>
        <p:nvSpPr>
          <p:cNvPr id="45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rtl="1">
              <a:lnSpc>
                <a:spcPct val="100000"/>
              </a:lnSpc>
              <a:buNone/>
            </a:pPr>
            <a:r>
              <a:rPr b="0" lang="hi-IN" sz="1400" spc="-1" strike="noStrike">
                <a:solidFill>
                  <a:srgbClr val="000000"/>
                </a:solidFill>
                <a:latin typeface="B Nazanin"/>
              </a:rPr>
              <a:t>اسلاید پشتیبان؛ فقط در صورت سؤال نمایش داده شود.</a:t>
            </a:r>
            <a:endParaRPr b="0" lang="en-US" sz="1400" spc="-1" strike="noStrike">
              <a:solidFill>
                <a:srgbClr val="000000"/>
              </a:solidFill>
              <a:latin typeface="Arial"/>
            </a:endParaRPr>
          </a:p>
          <a:p>
            <a:pPr marL="216000" indent="0" rtl="1">
              <a:lnSpc>
                <a:spcPct val="100000"/>
              </a:lnSpc>
              <a:buNone/>
            </a:pPr>
            <a:endParaRPr b="0" lang="en-US" sz="1400" spc="-1" strike="noStrike">
              <a:solidFill>
                <a:srgbClr val="000000"/>
              </a:solidFill>
              <a:latin typeface="Arial"/>
            </a:endParaRPr>
          </a:p>
          <a:p>
            <a:pPr marL="216000" indent="0" rtl="1">
              <a:lnSpc>
                <a:spcPct val="100000"/>
              </a:lnSpc>
              <a:buNone/>
            </a:pPr>
            <a:r>
              <a:rPr b="0" lang="hi-IN" sz="1400" spc="-1" strike="noStrike">
                <a:solidFill>
                  <a:srgbClr val="000000"/>
                </a:solidFill>
                <a:latin typeface="B Nazanin"/>
              </a:rPr>
              <a:t>تمام مقدارها میانگین </a:t>
            </a:r>
            <a:r>
              <a:rPr b="0" lang="hi-IN" sz="1400" spc="-1" strike="noStrike">
                <a:solidFill>
                  <a:srgbClr val="000000"/>
                </a:solidFill>
                <a:latin typeface="B Nazanin"/>
              </a:rPr>
              <a:t>۶۰</a:t>
            </a:r>
            <a:r>
              <a:rPr b="0" lang="en-US" sz="1400" spc="-1" strike="noStrike">
                <a:solidFill>
                  <a:srgbClr val="000000"/>
                </a:solidFill>
                <a:latin typeface="B Nazanin"/>
              </a:rPr>
              <a:t> پاسخ هستند. نام کامل مدل‌ها و فایل‌های ورودی در فایل راهنمای ارائه ثبت شده‌اند. این اسلاید برای پاسخ به سؤال درباره مؤلفه‌های امتیاز است.</a:t>
            </a:r>
            <a:endParaRPr b="0" lang="en-US" sz="1400" spc="-1" strike="noStrike">
              <a:solidFill>
                <a:srgbClr val="000000"/>
              </a:solidFill>
              <a:latin typeface="Arial"/>
            </a:endParaRPr>
          </a:p>
        </p:txBody>
      </p:sp>
      <p:sp>
        <p:nvSpPr>
          <p:cNvPr id="452" name="PlaceHolder 3"/>
          <p:cNvSpPr>
            <a:spLocks noGrp="1"/>
          </p:cNvSpPr>
          <p:nvPr>
            <p:ph type="sldNum" idx="4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FD4E1BA-99B8-468C-9170-3458C3F0FC8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PlaceHolder 1"/>
          <p:cNvSpPr>
            <a:spLocks noGrp="1"/>
          </p:cNvSpPr>
          <p:nvPr>
            <p:ph type="sldImg"/>
          </p:nvPr>
        </p:nvSpPr>
        <p:spPr>
          <a:xfrm>
            <a:off x="1143000" y="685800"/>
            <a:ext cx="4571640" cy="3428640"/>
          </a:xfrm>
          <a:prstGeom prst="rect">
            <a:avLst/>
          </a:prstGeom>
          <a:ln w="0">
            <a:noFill/>
          </a:ln>
        </p:spPr>
      </p:sp>
      <p:sp>
        <p:nvSpPr>
          <p:cNvPr id="45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rtl="1">
              <a:lnSpc>
                <a:spcPct val="100000"/>
              </a:lnSpc>
              <a:buNone/>
            </a:pPr>
            <a:r>
              <a:rPr b="0" lang="hi-IN" sz="1400" spc="-1" strike="noStrike">
                <a:solidFill>
                  <a:srgbClr val="000000"/>
                </a:solidFill>
                <a:latin typeface="B Nazanin"/>
              </a:rPr>
              <a:t>اسلاید پشتیبان؛ فقط در صورت سؤال نمایش داده شود.</a:t>
            </a:r>
            <a:endParaRPr b="0" lang="en-US" sz="1400" spc="-1" strike="noStrike">
              <a:solidFill>
                <a:srgbClr val="000000"/>
              </a:solidFill>
              <a:latin typeface="Arial"/>
            </a:endParaRPr>
          </a:p>
          <a:p>
            <a:pPr marL="216000" indent="0" rtl="1">
              <a:lnSpc>
                <a:spcPct val="100000"/>
              </a:lnSpc>
              <a:buNone/>
            </a:pPr>
            <a:endParaRPr b="0" lang="en-US" sz="1400" spc="-1" strike="noStrike">
              <a:solidFill>
                <a:srgbClr val="000000"/>
              </a:solidFill>
              <a:latin typeface="Arial"/>
            </a:endParaRPr>
          </a:p>
          <a:p>
            <a:pPr marL="216000" indent="0" rtl="1">
              <a:lnSpc>
                <a:spcPct val="100000"/>
              </a:lnSpc>
              <a:buNone/>
            </a:pPr>
            <a:r>
              <a:rPr b="0" lang="hi-IN" sz="1400" spc="-1" strike="noStrike">
                <a:solidFill>
                  <a:srgbClr val="000000"/>
                </a:solidFill>
                <a:latin typeface="B Nazanin"/>
              </a:rPr>
              <a:t>این تنظیمات از دفترچه آموزش و کد پروژه خوانده شده‌اند. استفاده از متن بدون جفت موقعیت و توضیح، محدودیت اصلی آموزش است. جزئیات معماری عمومی ترنسفورمر از مسیر اصلی ارائه حذف شده‌اند تا زمان برای روش و نتیجه کافی باشد.</a:t>
            </a:r>
            <a:endParaRPr b="0" lang="en-US" sz="1400" spc="-1" strike="noStrike">
              <a:solidFill>
                <a:srgbClr val="000000"/>
              </a:solidFill>
              <a:latin typeface="Arial"/>
            </a:endParaRPr>
          </a:p>
        </p:txBody>
      </p:sp>
      <p:sp>
        <p:nvSpPr>
          <p:cNvPr id="455" name="PlaceHolder 3"/>
          <p:cNvSpPr>
            <a:spLocks noGrp="1"/>
          </p:cNvSpPr>
          <p:nvPr>
            <p:ph type="sldNum" idx="5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8AD3523-52D6-4222-A45F-D54D7CC3044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PlaceHolder 1"/>
          <p:cNvSpPr>
            <a:spLocks noGrp="1"/>
          </p:cNvSpPr>
          <p:nvPr>
            <p:ph type="sldImg"/>
          </p:nvPr>
        </p:nvSpPr>
        <p:spPr>
          <a:xfrm>
            <a:off x="1143000" y="685800"/>
            <a:ext cx="4571640" cy="3428640"/>
          </a:xfrm>
          <a:prstGeom prst="rect">
            <a:avLst/>
          </a:prstGeom>
          <a:ln w="0">
            <a:noFill/>
          </a:ln>
        </p:spPr>
      </p:sp>
      <p:sp>
        <p:nvSpPr>
          <p:cNvPr id="45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rtl="1">
              <a:lnSpc>
                <a:spcPct val="100000"/>
              </a:lnSpc>
              <a:buNone/>
            </a:pPr>
            <a:r>
              <a:rPr b="0" lang="hi-IN" sz="1400" spc="-1" strike="noStrike">
                <a:solidFill>
                  <a:srgbClr val="000000"/>
                </a:solidFill>
                <a:latin typeface="B Nazanin"/>
              </a:rPr>
              <a:t>اسلاید پشتیبان؛ فقط در صورت سؤال نمایش داده شود.</a:t>
            </a:r>
            <a:endParaRPr b="0" lang="en-US" sz="1400" spc="-1" strike="noStrike">
              <a:solidFill>
                <a:srgbClr val="000000"/>
              </a:solidFill>
              <a:latin typeface="Arial"/>
            </a:endParaRPr>
          </a:p>
          <a:p>
            <a:pPr marL="216000" indent="0" rtl="1">
              <a:lnSpc>
                <a:spcPct val="100000"/>
              </a:lnSpc>
              <a:buNone/>
            </a:pPr>
            <a:endParaRPr b="0" lang="en-US" sz="1400" spc="-1" strike="noStrike">
              <a:solidFill>
                <a:srgbClr val="000000"/>
              </a:solidFill>
              <a:latin typeface="Arial"/>
            </a:endParaRPr>
          </a:p>
          <a:p>
            <a:pPr marL="216000" indent="0" rtl="1">
              <a:lnSpc>
                <a:spcPct val="100000"/>
              </a:lnSpc>
              <a:buNone/>
            </a:pPr>
            <a:r>
              <a:rPr b="0" lang="hi-IN" sz="1400" spc="-1" strike="noStrike">
                <a:solidFill>
                  <a:srgbClr val="000000"/>
                </a:solidFill>
                <a:latin typeface="B Nazanin"/>
              </a:rPr>
              <a:t>این جزئیات برای سؤال درباره ساخت داده و قابلیت مقایسه ارائه شده‌اند. گروه ریتینگ توصیف بازی مبدأ است و نباید به عنوان برچسب مستقل دشواری تفسیر شود. تمام </a:t>
            </a:r>
            <a:r>
              <a:rPr b="0" lang="hi-IN" sz="1400" spc="-1" strike="noStrike">
                <a:solidFill>
                  <a:srgbClr val="000000"/>
                </a:solidFill>
                <a:latin typeface="B Nazanin"/>
              </a:rPr>
              <a:t>۶۶۰</a:t>
            </a:r>
            <a:r>
              <a:rPr b="0" lang="en-US" sz="1400" spc="-1" strike="noStrike">
                <a:solidFill>
                  <a:srgbClr val="000000"/>
                </a:solidFill>
                <a:latin typeface="B Nazanin"/>
              </a:rPr>
              <a:t> ردیف نهایی در محاسبه لحاظ شده‌اند.</a:t>
            </a:r>
            <a:endParaRPr b="0" lang="en-US" sz="1400" spc="-1" strike="noStrike">
              <a:solidFill>
                <a:srgbClr val="000000"/>
              </a:solidFill>
              <a:latin typeface="Arial"/>
            </a:endParaRPr>
          </a:p>
        </p:txBody>
      </p:sp>
      <p:sp>
        <p:nvSpPr>
          <p:cNvPr id="458" name="PlaceHolder 3"/>
          <p:cNvSpPr>
            <a:spLocks noGrp="1"/>
          </p:cNvSpPr>
          <p:nvPr>
            <p:ph type="sldNum" idx="5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2467E6C-248F-487E-B07C-7CF78F3B54F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PlaceHolder 1"/>
          <p:cNvSpPr>
            <a:spLocks noGrp="1"/>
          </p:cNvSpPr>
          <p:nvPr>
            <p:ph type="sldImg"/>
          </p:nvPr>
        </p:nvSpPr>
        <p:spPr>
          <a:xfrm>
            <a:off x="1143000" y="685800"/>
            <a:ext cx="4571640" cy="3428640"/>
          </a:xfrm>
          <a:prstGeom prst="rect">
            <a:avLst/>
          </a:prstGeom>
          <a:ln w="0">
            <a:noFill/>
          </a:ln>
        </p:spPr>
      </p:sp>
      <p:sp>
        <p:nvSpPr>
          <p:cNvPr id="46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rtl="1">
              <a:lnSpc>
                <a:spcPct val="100000"/>
              </a:lnSpc>
              <a:buNone/>
            </a:pPr>
            <a:r>
              <a:rPr b="0" lang="hi-IN" sz="1400" spc="-1" strike="noStrike">
                <a:solidFill>
                  <a:srgbClr val="000000"/>
                </a:solidFill>
                <a:latin typeface="B Nazanin"/>
              </a:rPr>
              <a:t>اسلاید پشتیبان؛ فقط در صورت سؤال نمایش داده شود.</a:t>
            </a:r>
            <a:endParaRPr b="0" lang="en-US" sz="1400" spc="-1" strike="noStrike">
              <a:solidFill>
                <a:srgbClr val="000000"/>
              </a:solidFill>
              <a:latin typeface="Arial"/>
            </a:endParaRPr>
          </a:p>
          <a:p>
            <a:pPr marL="216000" indent="0" rtl="1">
              <a:lnSpc>
                <a:spcPct val="100000"/>
              </a:lnSpc>
              <a:buNone/>
            </a:pPr>
            <a:endParaRPr b="0" lang="en-US" sz="1400" spc="-1" strike="noStrike">
              <a:solidFill>
                <a:srgbClr val="000000"/>
              </a:solidFill>
              <a:latin typeface="Arial"/>
            </a:endParaRPr>
          </a:p>
          <a:p>
            <a:pPr marL="216000" indent="0" rtl="1">
              <a:lnSpc>
                <a:spcPct val="100000"/>
              </a:lnSpc>
              <a:buNone/>
            </a:pPr>
            <a:r>
              <a:rPr b="0" lang="hi-IN" sz="1400" spc="-1" strike="noStrike">
                <a:solidFill>
                  <a:srgbClr val="000000"/>
                </a:solidFill>
                <a:latin typeface="B Nazanin"/>
              </a:rPr>
              <a:t>منابع منتخب برای مبنای پژوهش و ابزارهاست. اعداد نتایج از فایل‌های ارزیابی خود پروژه محاسبه شده‌اند. فهرست طولانی تاریخچه موتورهای شطرنج برای ارائه پانزده دقیقه‌ای ضروری نیست.</a:t>
            </a:r>
            <a:endParaRPr b="0" lang="en-US" sz="1400" spc="-1" strike="noStrike">
              <a:solidFill>
                <a:srgbClr val="000000"/>
              </a:solidFill>
              <a:latin typeface="Arial"/>
            </a:endParaRPr>
          </a:p>
        </p:txBody>
      </p:sp>
      <p:sp>
        <p:nvSpPr>
          <p:cNvPr id="461" name="PlaceHolder 3"/>
          <p:cNvSpPr>
            <a:spLocks noGrp="1"/>
          </p:cNvSpPr>
          <p:nvPr>
            <p:ph type="sldNum" idx="5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11EBB5C-ECE1-4124-9C52-3B391F9CDCD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3F622517-771C-441F-B47E-C6B1FB009E91}"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DF1B9AB4-0CD6-4776-9A22-67852B6A3D9F}"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C63BE71E-4813-4ADC-83FD-E481DCB89DC2}"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37C1AC9B-8DBA-482D-B323-94ED84FFCBE2}"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61727B7B-E586-47E1-B4B6-F875D05AF1C8}"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10933171-963B-41D4-85D8-2EA16DD7DF11}"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F66BA406-09BE-432D-8FDF-06BB89857467}"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FA5C900A-9E8A-4B05-BBE3-CBEB38C74318}"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AD565CFE-F1DE-4098-AA62-B4EDC76617D2}"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E3251C2A-D8CE-471D-96DA-AF69FA481409}"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598B9E83-49C1-426C-8CBF-91BF93A0C5F1}"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71DF031-B32A-4BD9-8EDC-37FE4CA2937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C3189B88-A88C-43A6-A2A7-03E36F20C1F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a:t>
            </a:r>
            <a:r>
              <a:rPr b="0" lang="en-US" sz="4400" spc="-1" strike="noStrike">
                <a:solidFill>
                  <a:schemeClr val="dk1"/>
                </a:solidFill>
                <a:latin typeface="Calibri"/>
              </a:rPr>
              <a:t>li</a:t>
            </a:r>
            <a:r>
              <a:rPr b="0" lang="en-US" sz="4400" spc="-1" strike="noStrike">
                <a:solidFill>
                  <a:schemeClr val="dk1"/>
                </a:solidFill>
                <a:latin typeface="Calibri"/>
              </a:rPr>
              <a:t>c</a:t>
            </a:r>
            <a:r>
              <a:rPr b="0" lang="en-US" sz="4400" spc="-1" strike="noStrike">
                <a:solidFill>
                  <a:schemeClr val="dk1"/>
                </a:solidFill>
                <a:latin typeface="Calibri"/>
              </a:rPr>
              <a:t>k </a:t>
            </a:r>
            <a:r>
              <a:rPr b="0" lang="en-US" sz="4400" spc="-1" strike="noStrike">
                <a:solidFill>
                  <a:schemeClr val="dk1"/>
                </a:solidFill>
                <a:latin typeface="Calibri"/>
              </a:rPr>
              <a:t>t</a:t>
            </a:r>
            <a:r>
              <a:rPr b="0" lang="en-US" sz="4400" spc="-1" strike="noStrike">
                <a:solidFill>
                  <a:schemeClr val="dk1"/>
                </a:solidFill>
                <a:latin typeface="Calibri"/>
              </a:rPr>
              <a:t>o</a:t>
            </a:r>
            <a:r>
              <a:rPr b="0" lang="en-US" sz="4400" spc="-1" strike="noStrike">
                <a:solidFill>
                  <a:schemeClr val="dk1"/>
                </a:solidFill>
                <a:latin typeface="Calibri"/>
              </a:rPr>
              <a:t> </a:t>
            </a:r>
            <a:r>
              <a:rPr b="0" lang="en-US" sz="4400" spc="-1" strike="noStrike">
                <a:solidFill>
                  <a:schemeClr val="dk1"/>
                </a:solidFill>
                <a:latin typeface="Calibri"/>
              </a:rPr>
              <a:t>e</a:t>
            </a:r>
            <a:r>
              <a:rPr b="0" lang="en-US" sz="4400" spc="-1" strike="noStrike">
                <a:solidFill>
                  <a:schemeClr val="dk1"/>
                </a:solidFill>
                <a:latin typeface="Calibri"/>
              </a:rPr>
              <a:t>d</a:t>
            </a:r>
            <a:r>
              <a:rPr b="0" lang="en-US" sz="4400" spc="-1" strike="noStrike">
                <a:solidFill>
                  <a:schemeClr val="dk1"/>
                </a:solidFill>
                <a:latin typeface="Calibri"/>
              </a:rPr>
              <a:t>i</a:t>
            </a:r>
            <a:r>
              <a:rPr b="0" lang="en-US" sz="4400" spc="-1" strike="noStrike">
                <a:solidFill>
                  <a:schemeClr val="dk1"/>
                </a:solidFill>
                <a:latin typeface="Calibri"/>
              </a:rPr>
              <a:t>t </a:t>
            </a:r>
            <a:r>
              <a:rPr b="0" lang="en-US" sz="4400" spc="-1" strike="noStrike">
                <a:solidFill>
                  <a:schemeClr val="dk1"/>
                </a:solidFill>
                <a:latin typeface="Calibri"/>
              </a:rPr>
              <a:t>M</a:t>
            </a:r>
            <a:r>
              <a:rPr b="0" lang="en-US" sz="4400" spc="-1" strike="noStrike">
                <a:solidFill>
                  <a:schemeClr val="dk1"/>
                </a:solidFill>
                <a:latin typeface="Calibri"/>
              </a:rPr>
              <a:t>a</a:t>
            </a:r>
            <a:r>
              <a:rPr b="0" lang="en-US" sz="4400" spc="-1" strike="noStrike">
                <a:solidFill>
                  <a:schemeClr val="dk1"/>
                </a:solidFill>
                <a:latin typeface="Calibri"/>
              </a:rPr>
              <a:t>s</a:t>
            </a:r>
            <a:r>
              <a:rPr b="0" lang="en-US" sz="4400" spc="-1" strike="noStrike">
                <a:solidFill>
                  <a:schemeClr val="dk1"/>
                </a:solidFill>
                <a:latin typeface="Calibri"/>
              </a:rPr>
              <a:t>t</a:t>
            </a:r>
            <a:r>
              <a:rPr b="0" lang="en-US" sz="4400" spc="-1" strike="noStrike">
                <a:solidFill>
                  <a:schemeClr val="dk1"/>
                </a:solidFill>
                <a:latin typeface="Calibri"/>
              </a:rPr>
              <a:t>e</a:t>
            </a:r>
            <a:r>
              <a:rPr b="0" lang="en-US" sz="4400" spc="-1" strike="noStrike">
                <a:solidFill>
                  <a:schemeClr val="dk1"/>
                </a:solidFill>
                <a:latin typeface="Calibri"/>
              </a:rPr>
              <a:t>r </a:t>
            </a:r>
            <a:r>
              <a:rPr b="0" lang="en-US" sz="4400" spc="-1" strike="noStrike">
                <a:solidFill>
                  <a:schemeClr val="dk1"/>
                </a:solidFill>
                <a:latin typeface="Calibri"/>
              </a:rPr>
              <a:t>t</a:t>
            </a:r>
            <a:r>
              <a:rPr b="0" lang="en-US" sz="4400" spc="-1" strike="noStrike">
                <a:solidFill>
                  <a:schemeClr val="dk1"/>
                </a:solidFill>
                <a:latin typeface="Calibri"/>
              </a:rPr>
              <a:t>i</a:t>
            </a:r>
            <a:r>
              <a:rPr b="0" lang="en-US" sz="4400" spc="-1" strike="noStrike">
                <a:solidFill>
                  <a:schemeClr val="dk1"/>
                </a:solidFill>
                <a:latin typeface="Calibri"/>
              </a:rPr>
              <a:t>t</a:t>
            </a:r>
            <a:r>
              <a:rPr b="0" lang="en-US" sz="4400" spc="-1" strike="noStrike">
                <a:solidFill>
                  <a:schemeClr val="dk1"/>
                </a:solidFill>
                <a:latin typeface="Calibri"/>
              </a:rPr>
              <a:t>l</a:t>
            </a:r>
            <a:r>
              <a:rPr b="0" lang="en-US" sz="4400" spc="-1" strike="noStrike">
                <a:solidFill>
                  <a:schemeClr val="dk1"/>
                </a:solidFill>
                <a:latin typeface="Calibri"/>
              </a:rPr>
              <a:t>e</a:t>
            </a:r>
            <a:r>
              <a:rPr b="0" lang="en-US" sz="4400" spc="-1" strike="noStrike">
                <a:solidFill>
                  <a:schemeClr val="dk1"/>
                </a:solidFill>
                <a:latin typeface="Calibri"/>
              </a:rPr>
              <a:t> </a:t>
            </a:r>
            <a:r>
              <a:rPr b="0" lang="en-US" sz="4400" spc="-1" strike="noStrike">
                <a:solidFill>
                  <a:schemeClr val="dk1"/>
                </a:solidFill>
                <a:latin typeface="Calibri"/>
              </a:rPr>
              <a:t>s</a:t>
            </a:r>
            <a:r>
              <a:rPr b="0" lang="en-US" sz="4400" spc="-1" strike="noStrike">
                <a:solidFill>
                  <a:schemeClr val="dk1"/>
                </a:solidFill>
                <a:latin typeface="Calibri"/>
              </a:rPr>
              <a:t>t</a:t>
            </a:r>
            <a:r>
              <a:rPr b="0" lang="en-US" sz="4400" spc="-1" strike="noStrike">
                <a:solidFill>
                  <a:schemeClr val="dk1"/>
                </a:solidFill>
                <a:latin typeface="Calibri"/>
              </a:rPr>
              <a:t>y</a:t>
            </a:r>
            <a:r>
              <a:rPr b="0" lang="en-US" sz="4400" spc="-1" strike="noStrike">
                <a:solidFill>
                  <a:schemeClr val="dk1"/>
                </a:solidFill>
                <a:latin typeface="Calibri"/>
              </a:rPr>
              <a:t>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B9BA470-B2F6-4952-9698-06139DADCCC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45C1CAF-99BF-4777-8446-E5C9C672385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CD2D5BD6-D759-4309-89AB-234FABEA341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1C82083-A814-474F-A3A9-69E1B0F3294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999C519D-6CEC-43E4-A92F-8494A161AA1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CD6B229-BF59-4C4B-8431-96C1074FDA2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71EEC2D8-9FB5-4861-B36C-2A5C563EB66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D5F3B74-55BD-4FDC-B23F-46AA9E13801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a:t>
            </a:r>
            <a:r>
              <a:rPr b="1" lang="en-US" sz="2000" spc="-1" strike="noStrike">
                <a:solidFill>
                  <a:schemeClr val="dk1"/>
                </a:solidFill>
                <a:latin typeface="Calibri"/>
              </a:rPr>
              <a:t>edit </a:t>
            </a:r>
            <a:r>
              <a:rPr b="1" lang="en-US" sz="2000" spc="-1" strike="noStrike">
                <a:solidFill>
                  <a:schemeClr val="dk1"/>
                </a:solidFill>
                <a:latin typeface="Calibri"/>
              </a:rPr>
              <a:t>Master </a:t>
            </a:r>
            <a:r>
              <a:rPr b="1" lang="en-US" sz="2000" spc="-1" strike="noStrike">
                <a:solidFill>
                  <a:schemeClr val="dk1"/>
                </a:solidFill>
                <a:latin typeface="Calibri"/>
              </a:rPr>
              <a:t>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8AA51D6B-F15F-4891-B317-6E1B80E09F5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9.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hyperlink" Target="https://aclanthology.org/P18-1154/" TargetMode="External"/><Relationship Id="rId2" Type="http://schemas.openxmlformats.org/officeDocument/2006/relationships/hyperlink" Target="https://aclanthology.org/P19-1597/" TargetMode="External"/><Relationship Id="rId3" Type="http://schemas.openxmlformats.org/officeDocument/2006/relationships/hyperlink" Target="https://stockfishchess.org/" TargetMode="External"/><Relationship Id="rId4" Type="http://schemas.openxmlformats.org/officeDocument/2006/relationships/hyperlink" Target="https://github.com/ggml-org/llama.cpp" TargetMode="External"/><Relationship Id="rId5" Type="http://schemas.openxmlformats.org/officeDocument/2006/relationships/slideLayout" Target="../slideLayouts/slideLayout9.xml"/><Relationship Id="rId6"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Rectangle 1"/>
          <p:cNvSpPr/>
          <p:nvPr/>
        </p:nvSpPr>
        <p:spPr>
          <a:xfrm>
            <a:off x="0" y="0"/>
            <a:ext cx="12191400" cy="11844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4" name="TextBox 2"/>
          <p:cNvSpPr/>
          <p:nvPr/>
        </p:nvSpPr>
        <p:spPr>
          <a:xfrm>
            <a:off x="548640" y="320040"/>
            <a:ext cx="10972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200" spc="-1" strike="noStrike">
                <a:solidFill>
                  <a:srgbClr val="007f86"/>
                </a:solidFill>
                <a:latin typeface="Arial"/>
              </a:rPr>
              <a:t>EXPERT SYSTEMS + LARGE LANGUAGE MODELS</a:t>
            </a:r>
            <a:endParaRPr b="0" lang="en-US" sz="1200" spc="-1" strike="noStrike">
              <a:solidFill>
                <a:srgbClr val="000000"/>
              </a:solidFill>
              <a:latin typeface="Arial"/>
            </a:endParaRPr>
          </a:p>
        </p:txBody>
      </p:sp>
      <p:sp>
        <p:nvSpPr>
          <p:cNvPr id="75" name="TextBox 3"/>
          <p:cNvSpPr/>
          <p:nvPr/>
        </p:nvSpPr>
        <p:spPr>
          <a:xfrm>
            <a:off x="548640" y="841320"/>
            <a:ext cx="1106388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100" spc="-1" strike="noStrike">
                <a:solidFill>
                  <a:srgbClr val="10283f"/>
                </a:solidFill>
                <a:latin typeface="Arial"/>
              </a:rPr>
              <a:t>Building a Chess Analysis Model</a:t>
            </a:r>
            <a:endParaRPr b="0" lang="en-US" sz="3100" spc="-1" strike="noStrike">
              <a:solidFill>
                <a:srgbClr val="000000"/>
              </a:solidFill>
              <a:latin typeface="Arial"/>
            </a:endParaRPr>
          </a:p>
        </p:txBody>
      </p:sp>
      <p:sp>
        <p:nvSpPr>
          <p:cNvPr id="76" name="TextBox 4"/>
          <p:cNvSpPr/>
          <p:nvPr/>
        </p:nvSpPr>
        <p:spPr>
          <a:xfrm>
            <a:off x="548640" y="6510600"/>
            <a:ext cx="91436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000" spc="-1" strike="noStrike">
                <a:solidFill>
                  <a:srgbClr val="526576"/>
                </a:solidFill>
                <a:latin typeface="Arial"/>
              </a:rPr>
              <a:t>Shahid Beheshti University</a:t>
            </a:r>
            <a:endParaRPr b="0" lang="en-US" sz="1000" spc="-1" strike="noStrike">
              <a:solidFill>
                <a:srgbClr val="000000"/>
              </a:solidFill>
              <a:latin typeface="Arial"/>
            </a:endParaRPr>
          </a:p>
        </p:txBody>
      </p:sp>
      <p:sp>
        <p:nvSpPr>
          <p:cNvPr id="77" name="TextBox 5"/>
          <p:cNvSpPr/>
          <p:nvPr/>
        </p:nvSpPr>
        <p:spPr>
          <a:xfrm>
            <a:off x="10515600" y="6473880"/>
            <a:ext cx="109692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200" spc="-1" strike="noStrike">
                <a:solidFill>
                  <a:srgbClr val="526576"/>
                </a:solidFill>
                <a:latin typeface="Arial"/>
              </a:rPr>
              <a:t>1/12</a:t>
            </a:r>
            <a:endParaRPr b="0" lang="en-US" sz="1200" spc="-1" strike="noStrike">
              <a:solidFill>
                <a:srgbClr val="000000"/>
              </a:solidFill>
              <a:latin typeface="Arial"/>
            </a:endParaRPr>
          </a:p>
        </p:txBody>
      </p:sp>
      <p:sp>
        <p:nvSpPr>
          <p:cNvPr id="78" name="TextBox 6"/>
          <p:cNvSpPr/>
          <p:nvPr/>
        </p:nvSpPr>
        <p:spPr>
          <a:xfrm>
            <a:off x="4937760" y="292680"/>
            <a:ext cx="2285640" cy="305280"/>
          </a:xfrm>
          <a:prstGeom prst="rect">
            <a:avLst/>
          </a:prstGeom>
          <a:noFill/>
          <a:ln w="0">
            <a:noFill/>
          </a:ln>
        </p:spPr>
        <p:style>
          <a:lnRef idx="0"/>
          <a:fillRef idx="0"/>
          <a:effectRef idx="0"/>
          <a:fontRef idx="minor"/>
        </p:style>
        <p:txBody>
          <a:bodyPr lIns="0" rIns="0" tIns="0" bIns="0" anchor="t">
            <a:spAutoFit/>
          </a:bodyPr>
          <a:p>
            <a:pPr defTabSz="457200" rtl="1">
              <a:lnSpc>
                <a:spcPct val="100000"/>
              </a:lnSpc>
              <a:spcAft>
                <a:spcPts val="1199"/>
              </a:spcAft>
            </a:pPr>
            <a:r>
              <a:rPr b="0" lang="hi-IN" sz="2000" spc="-1" strike="noStrike">
                <a:solidFill>
                  <a:srgbClr val="007f86"/>
                </a:solidFill>
                <a:latin typeface="B Nazanin"/>
              </a:rPr>
              <a:t>به نام خدا</a:t>
            </a:r>
            <a:endParaRPr b="0" lang="en-US" sz="2000" spc="-1" strike="noStrike">
              <a:solidFill>
                <a:srgbClr val="000000"/>
              </a:solidFill>
              <a:latin typeface="Arial"/>
            </a:endParaRPr>
          </a:p>
        </p:txBody>
      </p:sp>
      <p:pic>
        <p:nvPicPr>
          <p:cNvPr id="79" name="Picture 7" descr="beheshti_logo.png"/>
          <p:cNvPicPr/>
          <p:nvPr/>
        </p:nvPicPr>
        <p:blipFill>
          <a:blip r:embed="rId1"/>
          <a:stretch/>
        </p:blipFill>
        <p:spPr>
          <a:xfrm>
            <a:off x="10607040" y="182880"/>
            <a:ext cx="685440" cy="685440"/>
          </a:xfrm>
          <a:prstGeom prst="rect">
            <a:avLst/>
          </a:prstGeom>
          <a:ln w="0">
            <a:noFill/>
          </a:ln>
        </p:spPr>
      </p:pic>
      <p:sp>
        <p:nvSpPr>
          <p:cNvPr id="80" name="TextBox 8"/>
          <p:cNvSpPr/>
          <p:nvPr/>
        </p:nvSpPr>
        <p:spPr>
          <a:xfrm>
            <a:off x="685800" y="1965960"/>
            <a:ext cx="7314840" cy="6865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4500" spc="-1" strike="noStrike">
                <a:solidFill>
                  <a:srgbClr val="007f86"/>
                </a:solidFill>
                <a:latin typeface="Arial"/>
              </a:rPr>
              <a:t>BlunderGuard</a:t>
            </a:r>
            <a:endParaRPr b="0" lang="en-US" sz="4500" spc="-1" strike="noStrike">
              <a:solidFill>
                <a:srgbClr val="000000"/>
              </a:solidFill>
              <a:latin typeface="Arial"/>
            </a:endParaRPr>
          </a:p>
        </p:txBody>
      </p:sp>
      <p:sp>
        <p:nvSpPr>
          <p:cNvPr id="81" name="TextBox 9"/>
          <p:cNvSpPr/>
          <p:nvPr/>
        </p:nvSpPr>
        <p:spPr>
          <a:xfrm>
            <a:off x="685800" y="2926080"/>
            <a:ext cx="7314840" cy="1067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3000" spc="-1" strike="noStrike">
                <a:solidFill>
                  <a:srgbClr val="10283f"/>
                </a:solidFill>
                <a:latin typeface="Arial"/>
              </a:rPr>
              <a:t>From engine evaluations</a:t>
            </a:r>
            <a:endParaRPr b="0" lang="en-US" sz="3000" spc="-1" strike="noStrike">
              <a:solidFill>
                <a:srgbClr val="000000"/>
              </a:solidFill>
              <a:latin typeface="Arial"/>
            </a:endParaRPr>
          </a:p>
          <a:p>
            <a:pPr defTabSz="457200">
              <a:lnSpc>
                <a:spcPct val="100000"/>
              </a:lnSpc>
              <a:spcAft>
                <a:spcPts val="1199"/>
              </a:spcAft>
            </a:pPr>
            <a:r>
              <a:rPr b="0" lang="en-US" sz="3000" spc="-1" strike="noStrike">
                <a:solidFill>
                  <a:srgbClr val="10283f"/>
                </a:solidFill>
                <a:latin typeface="Arial"/>
              </a:rPr>
              <a:t>to learner-facing commentary</a:t>
            </a:r>
            <a:endParaRPr b="0" lang="en-US" sz="3000" spc="-1" strike="noStrike">
              <a:solidFill>
                <a:srgbClr val="000000"/>
              </a:solidFill>
              <a:latin typeface="Arial"/>
            </a:endParaRPr>
          </a:p>
        </p:txBody>
      </p:sp>
      <p:sp>
        <p:nvSpPr>
          <p:cNvPr id="82" name="TextBox 10"/>
          <p:cNvSpPr/>
          <p:nvPr/>
        </p:nvSpPr>
        <p:spPr>
          <a:xfrm>
            <a:off x="685800" y="4983480"/>
            <a:ext cx="7314840" cy="7927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100" spc="-1" strike="noStrike">
                <a:solidFill>
                  <a:srgbClr val="526576"/>
                </a:solidFill>
                <a:latin typeface="Arial"/>
              </a:rPr>
              <a:t>Seyed Ali Hosseini Nasab</a:t>
            </a:r>
            <a:endParaRPr b="0" lang="en-US" sz="2100" spc="-1" strike="noStrike">
              <a:solidFill>
                <a:srgbClr val="000000"/>
              </a:solidFill>
              <a:latin typeface="Arial"/>
            </a:endParaRPr>
          </a:p>
          <a:p>
            <a:pPr defTabSz="457200">
              <a:lnSpc>
                <a:spcPct val="100000"/>
              </a:lnSpc>
              <a:spcAft>
                <a:spcPts val="1199"/>
              </a:spcAft>
            </a:pPr>
            <a:r>
              <a:rPr b="0" lang="en-US" sz="2100" spc="-1" strike="noStrike">
                <a:solidFill>
                  <a:srgbClr val="526576"/>
                </a:solidFill>
                <a:latin typeface="Arial"/>
              </a:rPr>
              <a:t>Supervisor: Dr. Mehrnoush Shamsfard</a:t>
            </a:r>
            <a:endParaRPr b="0" lang="en-US" sz="2100" spc="-1" strike="noStrike">
              <a:solidFill>
                <a:srgbClr val="000000"/>
              </a:solidFill>
              <a:latin typeface="Arial"/>
            </a:endParaRPr>
          </a:p>
        </p:txBody>
      </p:sp>
      <p:pic>
        <p:nvPicPr>
          <p:cNvPr id="83" name="Picture 11" descr="slide1.jpeg"/>
          <p:cNvPicPr/>
          <p:nvPr/>
        </p:nvPicPr>
        <p:blipFill>
          <a:blip r:embed="rId2"/>
          <a:stretch/>
        </p:blipFill>
        <p:spPr>
          <a:xfrm>
            <a:off x="8229600" y="2727000"/>
            <a:ext cx="3017160" cy="268380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 name="Rectangle 1"/>
          <p:cNvSpPr/>
          <p:nvPr/>
        </p:nvSpPr>
        <p:spPr>
          <a:xfrm>
            <a:off x="0" y="0"/>
            <a:ext cx="12191400" cy="11844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5" name="TextBox 2"/>
          <p:cNvSpPr/>
          <p:nvPr/>
        </p:nvSpPr>
        <p:spPr>
          <a:xfrm>
            <a:off x="548640" y="320040"/>
            <a:ext cx="10972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200" spc="-1" strike="noStrike">
                <a:solidFill>
                  <a:srgbClr val="007f86"/>
                </a:solidFill>
                <a:latin typeface="Arial"/>
              </a:rPr>
              <a:t>BLUNDERGUARD</a:t>
            </a:r>
            <a:endParaRPr b="0" lang="en-US" sz="1200" spc="-1" strike="noStrike">
              <a:solidFill>
                <a:srgbClr val="000000"/>
              </a:solidFill>
              <a:latin typeface="Arial"/>
            </a:endParaRPr>
          </a:p>
        </p:txBody>
      </p:sp>
      <p:sp>
        <p:nvSpPr>
          <p:cNvPr id="86" name="TextBox 3"/>
          <p:cNvSpPr/>
          <p:nvPr/>
        </p:nvSpPr>
        <p:spPr>
          <a:xfrm>
            <a:off x="548640" y="841320"/>
            <a:ext cx="1106388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100" spc="-1" strike="noStrike">
                <a:solidFill>
                  <a:srgbClr val="10283f"/>
                </a:solidFill>
                <a:latin typeface="Arial"/>
              </a:rPr>
              <a:t>A score tells us how much—not why</a:t>
            </a:r>
            <a:endParaRPr b="0" lang="en-US" sz="3100" spc="-1" strike="noStrike">
              <a:solidFill>
                <a:srgbClr val="000000"/>
              </a:solidFill>
              <a:latin typeface="Arial"/>
            </a:endParaRPr>
          </a:p>
        </p:txBody>
      </p:sp>
      <p:sp>
        <p:nvSpPr>
          <p:cNvPr id="87" name="TextBox 4"/>
          <p:cNvSpPr/>
          <p:nvPr/>
        </p:nvSpPr>
        <p:spPr>
          <a:xfrm>
            <a:off x="548640" y="6510600"/>
            <a:ext cx="91436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000" spc="-1" strike="noStrike">
                <a:solidFill>
                  <a:srgbClr val="526576"/>
                </a:solidFill>
                <a:latin typeface="Arial"/>
              </a:rPr>
              <a:t>Shahid Beheshti University</a:t>
            </a:r>
            <a:endParaRPr b="0" lang="en-US" sz="1000" spc="-1" strike="noStrike">
              <a:solidFill>
                <a:srgbClr val="000000"/>
              </a:solidFill>
              <a:latin typeface="Arial"/>
            </a:endParaRPr>
          </a:p>
        </p:txBody>
      </p:sp>
      <p:sp>
        <p:nvSpPr>
          <p:cNvPr id="88" name="TextBox 5"/>
          <p:cNvSpPr/>
          <p:nvPr/>
        </p:nvSpPr>
        <p:spPr>
          <a:xfrm>
            <a:off x="10515600" y="6473880"/>
            <a:ext cx="109692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200" spc="-1" strike="noStrike">
                <a:solidFill>
                  <a:srgbClr val="526576"/>
                </a:solidFill>
                <a:latin typeface="Arial"/>
              </a:rPr>
              <a:t>2/12</a:t>
            </a:r>
            <a:endParaRPr b="0" lang="en-US" sz="1200" spc="-1" strike="noStrike">
              <a:solidFill>
                <a:srgbClr val="000000"/>
              </a:solidFill>
              <a:latin typeface="Arial"/>
            </a:endParaRPr>
          </a:p>
        </p:txBody>
      </p:sp>
      <p:pic>
        <p:nvPicPr>
          <p:cNvPr id="89" name="Picture 6" descr="slide9.png"/>
          <p:cNvPicPr/>
          <p:nvPr/>
        </p:nvPicPr>
        <p:blipFill>
          <a:blip r:embed="rId1"/>
          <a:stretch/>
        </p:blipFill>
        <p:spPr>
          <a:xfrm>
            <a:off x="594360" y="1893600"/>
            <a:ext cx="6674760" cy="3299400"/>
          </a:xfrm>
          <a:prstGeom prst="rect">
            <a:avLst/>
          </a:prstGeom>
          <a:ln w="0">
            <a:noFill/>
          </a:ln>
        </p:spPr>
      </p:pic>
      <p:sp>
        <p:nvSpPr>
          <p:cNvPr id="90" name="TextBox 7"/>
          <p:cNvSpPr/>
          <p:nvPr/>
        </p:nvSpPr>
        <p:spPr>
          <a:xfrm>
            <a:off x="7589520" y="2057400"/>
            <a:ext cx="3931560" cy="7318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400" spc="-1" strike="noStrike">
                <a:solidFill>
                  <a:srgbClr val="10283f"/>
                </a:solidFill>
                <a:latin typeface="Arial"/>
              </a:rPr>
              <a:t>Engine: evaluation + best line</a:t>
            </a:r>
            <a:endParaRPr b="0" lang="en-US" sz="2400" spc="-1" strike="noStrike">
              <a:solidFill>
                <a:srgbClr val="000000"/>
              </a:solidFill>
              <a:latin typeface="Arial"/>
            </a:endParaRPr>
          </a:p>
        </p:txBody>
      </p:sp>
      <p:sp>
        <p:nvSpPr>
          <p:cNvPr id="91" name="TextBox 8"/>
          <p:cNvSpPr/>
          <p:nvPr/>
        </p:nvSpPr>
        <p:spPr>
          <a:xfrm>
            <a:off x="7589520" y="3081600"/>
            <a:ext cx="3931560" cy="7318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400" spc="-1" strike="noStrike">
                <a:solidFill>
                  <a:srgbClr val="10283f"/>
                </a:solidFill>
                <a:latin typeface="Arial"/>
              </a:rPr>
              <a:t>Learner: threat + consequence</a:t>
            </a:r>
            <a:endParaRPr b="0" lang="en-US" sz="2400" spc="-1" strike="noStrike">
              <a:solidFill>
                <a:srgbClr val="000000"/>
              </a:solidFill>
              <a:latin typeface="Arial"/>
            </a:endParaRPr>
          </a:p>
        </p:txBody>
      </p:sp>
      <p:sp>
        <p:nvSpPr>
          <p:cNvPr id="92" name="TextBox 9"/>
          <p:cNvSpPr/>
          <p:nvPr/>
        </p:nvSpPr>
        <p:spPr>
          <a:xfrm>
            <a:off x="7589520" y="4105800"/>
            <a:ext cx="393156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400" spc="-1" strike="noStrike">
                <a:solidFill>
                  <a:srgbClr val="10283f"/>
                </a:solidFill>
                <a:latin typeface="Arial"/>
              </a:rPr>
              <a:t>Goal: explain the move</a:t>
            </a:r>
            <a:endParaRPr b="0" lang="en-US" sz="2400" spc="-1" strike="noStrike">
              <a:solidFill>
                <a:srgbClr val="000000"/>
              </a:solidFill>
              <a:latin typeface="Arial"/>
            </a:endParaRPr>
          </a:p>
        </p:txBody>
      </p:sp>
      <p:sp>
        <p:nvSpPr>
          <p:cNvPr id="93" name="Rectangle 10"/>
          <p:cNvSpPr/>
          <p:nvPr/>
        </p:nvSpPr>
        <p:spPr>
          <a:xfrm>
            <a:off x="548640" y="5806440"/>
            <a:ext cx="11063880" cy="47520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4" name="TextBox 11"/>
          <p:cNvSpPr/>
          <p:nvPr/>
        </p:nvSpPr>
        <p:spPr>
          <a:xfrm>
            <a:off x="731520" y="5888880"/>
            <a:ext cx="1069812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007f86"/>
                </a:solidFill>
                <a:latin typeface="Arial"/>
              </a:rPr>
              <a:t>The challenge is translating chess evidence into a useful explanation.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Rectangle 1"/>
          <p:cNvSpPr/>
          <p:nvPr/>
        </p:nvSpPr>
        <p:spPr>
          <a:xfrm>
            <a:off x="0" y="0"/>
            <a:ext cx="12191400" cy="11844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6" name="TextBox 2"/>
          <p:cNvSpPr/>
          <p:nvPr/>
        </p:nvSpPr>
        <p:spPr>
          <a:xfrm>
            <a:off x="548640" y="320040"/>
            <a:ext cx="10972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200" spc="-1" strike="noStrike">
                <a:solidFill>
                  <a:srgbClr val="007f86"/>
                </a:solidFill>
                <a:latin typeface="Arial"/>
              </a:rPr>
              <a:t>BLUNDERGUARD</a:t>
            </a:r>
            <a:endParaRPr b="0" lang="en-US" sz="1200" spc="-1" strike="noStrike">
              <a:solidFill>
                <a:srgbClr val="000000"/>
              </a:solidFill>
              <a:latin typeface="Arial"/>
            </a:endParaRPr>
          </a:p>
        </p:txBody>
      </p:sp>
      <p:sp>
        <p:nvSpPr>
          <p:cNvPr id="97" name="TextBox 3"/>
          <p:cNvSpPr/>
          <p:nvPr/>
        </p:nvSpPr>
        <p:spPr>
          <a:xfrm>
            <a:off x="548640" y="841320"/>
            <a:ext cx="1106388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100" spc="-1" strike="noStrike">
                <a:solidFill>
                  <a:srgbClr val="10283f"/>
                </a:solidFill>
                <a:latin typeface="Arial"/>
              </a:rPr>
              <a:t>Can an LLM explain engine evidence correct?</a:t>
            </a:r>
            <a:endParaRPr b="0" lang="en-US" sz="3100" spc="-1" strike="noStrike">
              <a:solidFill>
                <a:srgbClr val="000000"/>
              </a:solidFill>
              <a:latin typeface="Arial"/>
            </a:endParaRPr>
          </a:p>
        </p:txBody>
      </p:sp>
      <p:sp>
        <p:nvSpPr>
          <p:cNvPr id="98" name="TextBox 4"/>
          <p:cNvSpPr/>
          <p:nvPr/>
        </p:nvSpPr>
        <p:spPr>
          <a:xfrm>
            <a:off x="548640" y="6510600"/>
            <a:ext cx="91436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000" spc="-1" strike="noStrike">
                <a:solidFill>
                  <a:srgbClr val="526576"/>
                </a:solidFill>
                <a:latin typeface="Arial"/>
              </a:rPr>
              <a:t>Shahid Beheshti University</a:t>
            </a:r>
            <a:endParaRPr b="0" lang="en-US" sz="1000" spc="-1" strike="noStrike">
              <a:solidFill>
                <a:srgbClr val="000000"/>
              </a:solidFill>
              <a:latin typeface="Arial"/>
            </a:endParaRPr>
          </a:p>
        </p:txBody>
      </p:sp>
      <p:sp>
        <p:nvSpPr>
          <p:cNvPr id="99" name="TextBox 5"/>
          <p:cNvSpPr/>
          <p:nvPr/>
        </p:nvSpPr>
        <p:spPr>
          <a:xfrm>
            <a:off x="10515600" y="6473880"/>
            <a:ext cx="109692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200" spc="-1" strike="noStrike">
                <a:solidFill>
                  <a:srgbClr val="526576"/>
                </a:solidFill>
                <a:latin typeface="Arial"/>
              </a:rPr>
              <a:t>3/12</a:t>
            </a:r>
            <a:endParaRPr b="0" lang="en-US" sz="1200" spc="-1" strike="noStrike">
              <a:solidFill>
                <a:srgbClr val="000000"/>
              </a:solidFill>
              <a:latin typeface="Arial"/>
            </a:endParaRPr>
          </a:p>
        </p:txBody>
      </p:sp>
      <p:sp>
        <p:nvSpPr>
          <p:cNvPr id="100" name="Rectangle 6"/>
          <p:cNvSpPr/>
          <p:nvPr/>
        </p:nvSpPr>
        <p:spPr>
          <a:xfrm>
            <a:off x="640080" y="1920240"/>
            <a:ext cx="3245760" cy="333720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1" name="TextBox 7"/>
          <p:cNvSpPr/>
          <p:nvPr/>
        </p:nvSpPr>
        <p:spPr>
          <a:xfrm>
            <a:off x="822960" y="2103120"/>
            <a:ext cx="2742840" cy="5032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300" spc="-1" strike="noStrike">
                <a:solidFill>
                  <a:srgbClr val="007f86"/>
                </a:solidFill>
                <a:latin typeface="Arial"/>
              </a:rPr>
              <a:t>01</a:t>
            </a:r>
            <a:endParaRPr b="0" lang="en-US" sz="3300" spc="-1" strike="noStrike">
              <a:solidFill>
                <a:srgbClr val="000000"/>
              </a:solidFill>
              <a:latin typeface="Arial"/>
            </a:endParaRPr>
          </a:p>
        </p:txBody>
      </p:sp>
      <p:sp>
        <p:nvSpPr>
          <p:cNvPr id="102" name="TextBox 8"/>
          <p:cNvSpPr/>
          <p:nvPr/>
        </p:nvSpPr>
        <p:spPr>
          <a:xfrm>
            <a:off x="822960" y="2880360"/>
            <a:ext cx="2742840" cy="4122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700" spc="-1" strike="noStrike">
                <a:solidFill>
                  <a:srgbClr val="10283f"/>
                </a:solidFill>
                <a:latin typeface="Arial"/>
              </a:rPr>
              <a:t>Build</a:t>
            </a:r>
            <a:endParaRPr b="0" lang="en-US" sz="2700" spc="-1" strike="noStrike">
              <a:solidFill>
                <a:srgbClr val="000000"/>
              </a:solidFill>
              <a:latin typeface="Arial"/>
            </a:endParaRPr>
          </a:p>
        </p:txBody>
      </p:sp>
      <p:sp>
        <p:nvSpPr>
          <p:cNvPr id="103" name="TextBox 9"/>
          <p:cNvSpPr/>
          <p:nvPr/>
        </p:nvSpPr>
        <p:spPr>
          <a:xfrm>
            <a:off x="822960" y="3657600"/>
            <a:ext cx="2834280" cy="155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300" spc="-1" strike="noStrike">
                <a:solidFill>
                  <a:srgbClr val="10283f"/>
                </a:solidFill>
                <a:latin typeface="Arial"/>
              </a:rPr>
              <a:t>A local analysis pipeline</a:t>
            </a:r>
            <a:endParaRPr b="0" lang="en-US" sz="2300" spc="-1" strike="noStrike">
              <a:solidFill>
                <a:srgbClr val="000000"/>
              </a:solidFill>
              <a:latin typeface="Arial"/>
            </a:endParaRPr>
          </a:p>
          <a:p>
            <a:pPr defTabSz="457200">
              <a:lnSpc>
                <a:spcPct val="100000"/>
              </a:lnSpc>
              <a:spcAft>
                <a:spcPts val="1199"/>
              </a:spcAft>
            </a:pPr>
            <a:r>
              <a:rPr b="0" lang="en-US" sz="2300" spc="-1" strike="noStrike">
                <a:solidFill>
                  <a:srgbClr val="10283f"/>
                </a:solidFill>
                <a:latin typeface="Arial"/>
              </a:rPr>
              <a:t>with engine + language model</a:t>
            </a:r>
            <a:endParaRPr b="0" lang="en-US" sz="2300" spc="-1" strike="noStrike">
              <a:solidFill>
                <a:srgbClr val="000000"/>
              </a:solidFill>
              <a:latin typeface="Arial"/>
            </a:endParaRPr>
          </a:p>
        </p:txBody>
      </p:sp>
      <p:sp>
        <p:nvSpPr>
          <p:cNvPr id="104" name="Rectangle 10"/>
          <p:cNvSpPr/>
          <p:nvPr/>
        </p:nvSpPr>
        <p:spPr>
          <a:xfrm>
            <a:off x="4480560" y="1920240"/>
            <a:ext cx="3245760" cy="333720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5" name="TextBox 11"/>
          <p:cNvSpPr/>
          <p:nvPr/>
        </p:nvSpPr>
        <p:spPr>
          <a:xfrm>
            <a:off x="4663440" y="2103120"/>
            <a:ext cx="2742840" cy="5032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300" spc="-1" strike="noStrike">
                <a:solidFill>
                  <a:srgbClr val="007f86"/>
                </a:solidFill>
                <a:latin typeface="Arial"/>
              </a:rPr>
              <a:t>02</a:t>
            </a:r>
            <a:endParaRPr b="0" lang="en-US" sz="3300" spc="-1" strike="noStrike">
              <a:solidFill>
                <a:srgbClr val="000000"/>
              </a:solidFill>
              <a:latin typeface="Arial"/>
            </a:endParaRPr>
          </a:p>
        </p:txBody>
      </p:sp>
      <p:sp>
        <p:nvSpPr>
          <p:cNvPr id="106" name="TextBox 12"/>
          <p:cNvSpPr/>
          <p:nvPr/>
        </p:nvSpPr>
        <p:spPr>
          <a:xfrm>
            <a:off x="4663440" y="2880360"/>
            <a:ext cx="2742840" cy="4122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700" spc="-1" strike="noStrike">
                <a:solidFill>
                  <a:srgbClr val="10283f"/>
                </a:solidFill>
                <a:latin typeface="Arial"/>
              </a:rPr>
              <a:t>Adapt</a:t>
            </a:r>
            <a:endParaRPr b="0" lang="en-US" sz="2700" spc="-1" strike="noStrike">
              <a:solidFill>
                <a:srgbClr val="000000"/>
              </a:solidFill>
              <a:latin typeface="Arial"/>
            </a:endParaRPr>
          </a:p>
        </p:txBody>
      </p:sp>
      <p:sp>
        <p:nvSpPr>
          <p:cNvPr id="107" name="TextBox 13"/>
          <p:cNvSpPr/>
          <p:nvPr/>
        </p:nvSpPr>
        <p:spPr>
          <a:xfrm>
            <a:off x="4663440" y="3657600"/>
            <a:ext cx="2834280" cy="8532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300" spc="-1" strike="noStrike">
                <a:solidFill>
                  <a:srgbClr val="10283f"/>
                </a:solidFill>
                <a:latin typeface="Arial"/>
              </a:rPr>
              <a:t>A small model trained</a:t>
            </a:r>
            <a:endParaRPr b="0" lang="en-US" sz="2300" spc="-1" strike="noStrike">
              <a:solidFill>
                <a:srgbClr val="000000"/>
              </a:solidFill>
              <a:latin typeface="Arial"/>
            </a:endParaRPr>
          </a:p>
          <a:p>
            <a:pPr defTabSz="457200">
              <a:lnSpc>
                <a:spcPct val="100000"/>
              </a:lnSpc>
              <a:spcAft>
                <a:spcPts val="1199"/>
              </a:spcAft>
            </a:pPr>
            <a:r>
              <a:rPr b="0" lang="en-US" sz="2300" spc="-1" strike="noStrike">
                <a:solidFill>
                  <a:srgbClr val="10283f"/>
                </a:solidFill>
                <a:latin typeface="Arial"/>
              </a:rPr>
              <a:t>on chess-domain text</a:t>
            </a:r>
            <a:endParaRPr b="0" lang="en-US" sz="2300" spc="-1" strike="noStrike">
              <a:solidFill>
                <a:srgbClr val="000000"/>
              </a:solidFill>
              <a:latin typeface="Arial"/>
            </a:endParaRPr>
          </a:p>
        </p:txBody>
      </p:sp>
      <p:sp>
        <p:nvSpPr>
          <p:cNvPr id="108" name="Rectangle 14"/>
          <p:cNvSpPr/>
          <p:nvPr/>
        </p:nvSpPr>
        <p:spPr>
          <a:xfrm>
            <a:off x="8321040" y="1920240"/>
            <a:ext cx="3245760" cy="333720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9" name="TextBox 15"/>
          <p:cNvSpPr/>
          <p:nvPr/>
        </p:nvSpPr>
        <p:spPr>
          <a:xfrm>
            <a:off x="8503920" y="2103120"/>
            <a:ext cx="2742840" cy="5032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300" spc="-1" strike="noStrike">
                <a:solidFill>
                  <a:srgbClr val="007f86"/>
                </a:solidFill>
                <a:latin typeface="Arial"/>
              </a:rPr>
              <a:t>03</a:t>
            </a:r>
            <a:endParaRPr b="0" lang="en-US" sz="3300" spc="-1" strike="noStrike">
              <a:solidFill>
                <a:srgbClr val="000000"/>
              </a:solidFill>
              <a:latin typeface="Arial"/>
            </a:endParaRPr>
          </a:p>
        </p:txBody>
      </p:sp>
      <p:sp>
        <p:nvSpPr>
          <p:cNvPr id="110" name="TextBox 16"/>
          <p:cNvSpPr/>
          <p:nvPr/>
        </p:nvSpPr>
        <p:spPr>
          <a:xfrm>
            <a:off x="8503920" y="2880360"/>
            <a:ext cx="2742840" cy="4122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700" spc="-1" strike="noStrike">
                <a:solidFill>
                  <a:srgbClr val="10283f"/>
                </a:solidFill>
                <a:latin typeface="Arial"/>
              </a:rPr>
              <a:t>Evaluate</a:t>
            </a:r>
            <a:endParaRPr b="0" lang="en-US" sz="2700" spc="-1" strike="noStrike">
              <a:solidFill>
                <a:srgbClr val="000000"/>
              </a:solidFill>
              <a:latin typeface="Arial"/>
            </a:endParaRPr>
          </a:p>
        </p:txBody>
      </p:sp>
      <p:sp>
        <p:nvSpPr>
          <p:cNvPr id="111" name="TextBox 17"/>
          <p:cNvSpPr/>
          <p:nvPr/>
        </p:nvSpPr>
        <p:spPr>
          <a:xfrm>
            <a:off x="8503920" y="3657600"/>
            <a:ext cx="2834280" cy="155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300" spc="-1" strike="noStrike">
                <a:solidFill>
                  <a:srgbClr val="10283f"/>
                </a:solidFill>
                <a:latin typeface="Arial"/>
              </a:rPr>
              <a:t>11 models on the same</a:t>
            </a:r>
            <a:endParaRPr b="0" lang="en-US" sz="2300" spc="-1" strike="noStrike">
              <a:solidFill>
                <a:srgbClr val="000000"/>
              </a:solidFill>
              <a:latin typeface="Arial"/>
            </a:endParaRPr>
          </a:p>
          <a:p>
            <a:pPr defTabSz="457200">
              <a:lnSpc>
                <a:spcPct val="100000"/>
              </a:lnSpc>
              <a:spcAft>
                <a:spcPts val="1199"/>
              </a:spcAft>
            </a:pPr>
            <a:r>
              <a:rPr b="0" lang="en-US" sz="2300" spc="-1" strike="noStrike">
                <a:solidFill>
                  <a:srgbClr val="10283f"/>
                </a:solidFill>
                <a:latin typeface="Arial"/>
              </a:rPr>
              <a:t>60 benchmark positions</a:t>
            </a:r>
            <a:endParaRPr b="0" lang="en-US" sz="2300" spc="-1" strike="noStrike">
              <a:solidFill>
                <a:srgbClr val="000000"/>
              </a:solidFill>
              <a:latin typeface="Arial"/>
            </a:endParaRPr>
          </a:p>
        </p:txBody>
      </p:sp>
      <p:sp>
        <p:nvSpPr>
          <p:cNvPr id="112" name="Rectangle 18"/>
          <p:cNvSpPr/>
          <p:nvPr/>
        </p:nvSpPr>
        <p:spPr>
          <a:xfrm>
            <a:off x="548640" y="5806440"/>
            <a:ext cx="11063880" cy="47520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3" name="TextBox 19"/>
          <p:cNvSpPr/>
          <p:nvPr/>
        </p:nvSpPr>
        <p:spPr>
          <a:xfrm>
            <a:off x="731520" y="5888880"/>
            <a:ext cx="1069812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007f86"/>
                </a:solidFill>
                <a:latin typeface="Arial"/>
              </a:rPr>
              <a:t>Success requires chess correctness not just fluent prose.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4" name="Rectangle 1"/>
          <p:cNvSpPr/>
          <p:nvPr/>
        </p:nvSpPr>
        <p:spPr>
          <a:xfrm>
            <a:off x="0" y="0"/>
            <a:ext cx="12191400" cy="11844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5" name="TextBox 2"/>
          <p:cNvSpPr/>
          <p:nvPr/>
        </p:nvSpPr>
        <p:spPr>
          <a:xfrm>
            <a:off x="548640" y="320040"/>
            <a:ext cx="10972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200" spc="-1" strike="noStrike">
                <a:solidFill>
                  <a:srgbClr val="007f86"/>
                </a:solidFill>
                <a:latin typeface="Arial"/>
              </a:rPr>
              <a:t>BLUNDERGUARD</a:t>
            </a:r>
            <a:endParaRPr b="0" lang="en-US" sz="1200" spc="-1" strike="noStrike">
              <a:solidFill>
                <a:srgbClr val="000000"/>
              </a:solidFill>
              <a:latin typeface="Arial"/>
            </a:endParaRPr>
          </a:p>
        </p:txBody>
      </p:sp>
      <p:sp>
        <p:nvSpPr>
          <p:cNvPr id="116" name="TextBox 3"/>
          <p:cNvSpPr/>
          <p:nvPr/>
        </p:nvSpPr>
        <p:spPr>
          <a:xfrm>
            <a:off x="548640" y="841320"/>
            <a:ext cx="1106388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100" spc="-1" strike="noStrike">
                <a:solidFill>
                  <a:srgbClr val="10283f"/>
                </a:solidFill>
                <a:latin typeface="Arial"/>
              </a:rPr>
              <a:t>Engine analysis becomes structured context</a:t>
            </a:r>
            <a:endParaRPr b="0" lang="en-US" sz="3100" spc="-1" strike="noStrike">
              <a:solidFill>
                <a:srgbClr val="000000"/>
              </a:solidFill>
              <a:latin typeface="Arial"/>
            </a:endParaRPr>
          </a:p>
        </p:txBody>
      </p:sp>
      <p:sp>
        <p:nvSpPr>
          <p:cNvPr id="117" name="TextBox 4"/>
          <p:cNvSpPr/>
          <p:nvPr/>
        </p:nvSpPr>
        <p:spPr>
          <a:xfrm>
            <a:off x="548640" y="6510600"/>
            <a:ext cx="91436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000" spc="-1" strike="noStrike">
                <a:solidFill>
                  <a:srgbClr val="526576"/>
                </a:solidFill>
                <a:latin typeface="Arial"/>
              </a:rPr>
              <a:t>Shahid Beheshti University</a:t>
            </a:r>
            <a:endParaRPr b="0" lang="en-US" sz="1000" spc="-1" strike="noStrike">
              <a:solidFill>
                <a:srgbClr val="000000"/>
              </a:solidFill>
              <a:latin typeface="Arial"/>
            </a:endParaRPr>
          </a:p>
        </p:txBody>
      </p:sp>
      <p:sp>
        <p:nvSpPr>
          <p:cNvPr id="118" name="TextBox 5"/>
          <p:cNvSpPr/>
          <p:nvPr/>
        </p:nvSpPr>
        <p:spPr>
          <a:xfrm>
            <a:off x="10515600" y="6473880"/>
            <a:ext cx="109692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200" spc="-1" strike="noStrike">
                <a:solidFill>
                  <a:srgbClr val="526576"/>
                </a:solidFill>
                <a:latin typeface="Arial"/>
              </a:rPr>
              <a:t>4/12</a:t>
            </a:r>
            <a:endParaRPr b="0" lang="en-US" sz="1200" spc="-1" strike="noStrike">
              <a:solidFill>
                <a:srgbClr val="000000"/>
              </a:solidFill>
              <a:latin typeface="Arial"/>
            </a:endParaRPr>
          </a:p>
        </p:txBody>
      </p:sp>
      <p:pic>
        <p:nvPicPr>
          <p:cNvPr id="119" name="Picture 6" descr="slide20.png"/>
          <p:cNvPicPr/>
          <p:nvPr/>
        </p:nvPicPr>
        <p:blipFill>
          <a:blip r:embed="rId1"/>
          <a:stretch/>
        </p:blipFill>
        <p:spPr>
          <a:xfrm>
            <a:off x="960120" y="1691640"/>
            <a:ext cx="6034680" cy="4023000"/>
          </a:xfrm>
          <a:prstGeom prst="rect">
            <a:avLst/>
          </a:prstGeom>
          <a:ln w="0">
            <a:noFill/>
          </a:ln>
        </p:spPr>
      </p:pic>
      <p:sp>
        <p:nvSpPr>
          <p:cNvPr id="120" name="TextBox 7"/>
          <p:cNvSpPr/>
          <p:nvPr/>
        </p:nvSpPr>
        <p:spPr>
          <a:xfrm>
            <a:off x="7498080" y="1828800"/>
            <a:ext cx="4023000" cy="3355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200" spc="-1" strike="noStrike">
                <a:solidFill>
                  <a:srgbClr val="10283f"/>
                </a:solidFill>
                <a:latin typeface="Arial"/>
              </a:rPr>
              <a:t>Input: position + played move</a:t>
            </a:r>
            <a:endParaRPr b="0" lang="en-US" sz="2200" spc="-1" strike="noStrike">
              <a:solidFill>
                <a:srgbClr val="000000"/>
              </a:solidFill>
              <a:latin typeface="Arial"/>
            </a:endParaRPr>
          </a:p>
        </p:txBody>
      </p:sp>
      <p:sp>
        <p:nvSpPr>
          <p:cNvPr id="121" name="TextBox 8"/>
          <p:cNvSpPr/>
          <p:nvPr/>
        </p:nvSpPr>
        <p:spPr>
          <a:xfrm>
            <a:off x="7498080" y="2761560"/>
            <a:ext cx="4023000" cy="670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200" spc="-1" strike="noStrike">
                <a:solidFill>
                  <a:srgbClr val="10283f"/>
                </a:solidFill>
                <a:latin typeface="Arial"/>
              </a:rPr>
              <a:t>Stockfish: depth 17, up to 3 lines</a:t>
            </a:r>
            <a:endParaRPr b="0" lang="en-US" sz="2200" spc="-1" strike="noStrike">
              <a:solidFill>
                <a:srgbClr val="000000"/>
              </a:solidFill>
              <a:latin typeface="Arial"/>
            </a:endParaRPr>
          </a:p>
        </p:txBody>
      </p:sp>
      <p:sp>
        <p:nvSpPr>
          <p:cNvPr id="122" name="TextBox 9"/>
          <p:cNvSpPr/>
          <p:nvPr/>
        </p:nvSpPr>
        <p:spPr>
          <a:xfrm>
            <a:off x="7498080" y="3694320"/>
            <a:ext cx="4023000" cy="3355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200" spc="-1" strike="noStrike">
                <a:solidFill>
                  <a:srgbClr val="10283f"/>
                </a:solidFill>
                <a:latin typeface="Arial"/>
              </a:rPr>
              <a:t>Before/after feature differences</a:t>
            </a:r>
            <a:endParaRPr b="0" lang="en-US" sz="2200" spc="-1" strike="noStrike">
              <a:solidFill>
                <a:srgbClr val="000000"/>
              </a:solidFill>
              <a:latin typeface="Arial"/>
            </a:endParaRPr>
          </a:p>
        </p:txBody>
      </p:sp>
      <p:sp>
        <p:nvSpPr>
          <p:cNvPr id="123" name="TextBox 10"/>
          <p:cNvSpPr/>
          <p:nvPr/>
        </p:nvSpPr>
        <p:spPr>
          <a:xfrm>
            <a:off x="7498080" y="4626720"/>
            <a:ext cx="4023000" cy="3355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200" spc="-1" strike="noStrike">
                <a:solidFill>
                  <a:srgbClr val="10283f"/>
                </a:solidFill>
                <a:latin typeface="Arial"/>
              </a:rPr>
              <a:t>LLM: short learner-facing text</a:t>
            </a:r>
            <a:endParaRPr b="0" lang="en-US" sz="2200" spc="-1" strike="noStrike">
              <a:solidFill>
                <a:srgbClr val="000000"/>
              </a:solidFill>
              <a:latin typeface="Arial"/>
            </a:endParaRPr>
          </a:p>
        </p:txBody>
      </p:sp>
      <p:sp>
        <p:nvSpPr>
          <p:cNvPr id="124" name="Rectangle 11"/>
          <p:cNvSpPr/>
          <p:nvPr/>
        </p:nvSpPr>
        <p:spPr>
          <a:xfrm>
            <a:off x="548640" y="5806440"/>
            <a:ext cx="11063880" cy="47520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5" name="TextBox 12"/>
          <p:cNvSpPr/>
          <p:nvPr/>
        </p:nvSpPr>
        <p:spPr>
          <a:xfrm>
            <a:off x="731520" y="5888880"/>
            <a:ext cx="1069812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007f86"/>
                </a:solidFill>
                <a:latin typeface="Arial"/>
              </a:rPr>
              <a:t>Engine evidence guides generation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6" name="Rectangle 1"/>
          <p:cNvSpPr/>
          <p:nvPr/>
        </p:nvSpPr>
        <p:spPr>
          <a:xfrm>
            <a:off x="0" y="0"/>
            <a:ext cx="12191400" cy="11844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7" name="TextBox 2"/>
          <p:cNvSpPr/>
          <p:nvPr/>
        </p:nvSpPr>
        <p:spPr>
          <a:xfrm>
            <a:off x="548640" y="320040"/>
            <a:ext cx="10972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200" spc="-1" strike="noStrike">
                <a:solidFill>
                  <a:srgbClr val="007f86"/>
                </a:solidFill>
                <a:latin typeface="Arial"/>
              </a:rPr>
              <a:t>BLUNDERGUARD</a:t>
            </a:r>
            <a:endParaRPr b="0" lang="en-US" sz="1200" spc="-1" strike="noStrike">
              <a:solidFill>
                <a:srgbClr val="000000"/>
              </a:solidFill>
              <a:latin typeface="Arial"/>
            </a:endParaRPr>
          </a:p>
        </p:txBody>
      </p:sp>
      <p:sp>
        <p:nvSpPr>
          <p:cNvPr id="128" name="TextBox 3"/>
          <p:cNvSpPr/>
          <p:nvPr/>
        </p:nvSpPr>
        <p:spPr>
          <a:xfrm>
            <a:off x="548640" y="841320"/>
            <a:ext cx="1106388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100" spc="-1" strike="noStrike">
                <a:solidFill>
                  <a:srgbClr val="10283f"/>
                </a:solidFill>
                <a:latin typeface="Arial"/>
              </a:rPr>
              <a:t>A small local model: what was actually trained</a:t>
            </a:r>
            <a:endParaRPr b="0" lang="en-US" sz="3100" spc="-1" strike="noStrike">
              <a:solidFill>
                <a:srgbClr val="000000"/>
              </a:solidFill>
              <a:latin typeface="Arial"/>
            </a:endParaRPr>
          </a:p>
        </p:txBody>
      </p:sp>
      <p:sp>
        <p:nvSpPr>
          <p:cNvPr id="129" name="TextBox 4"/>
          <p:cNvSpPr/>
          <p:nvPr/>
        </p:nvSpPr>
        <p:spPr>
          <a:xfrm>
            <a:off x="548640" y="6510600"/>
            <a:ext cx="91436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000" spc="-1" strike="noStrike">
                <a:solidFill>
                  <a:srgbClr val="526576"/>
                </a:solidFill>
                <a:latin typeface="Arial"/>
              </a:rPr>
              <a:t>Shahid Beheshti University</a:t>
            </a:r>
            <a:endParaRPr b="0" lang="en-US" sz="1000" spc="-1" strike="noStrike">
              <a:solidFill>
                <a:srgbClr val="000000"/>
              </a:solidFill>
              <a:latin typeface="Arial"/>
            </a:endParaRPr>
          </a:p>
        </p:txBody>
      </p:sp>
      <p:sp>
        <p:nvSpPr>
          <p:cNvPr id="130" name="TextBox 5"/>
          <p:cNvSpPr/>
          <p:nvPr/>
        </p:nvSpPr>
        <p:spPr>
          <a:xfrm>
            <a:off x="10515600" y="6473880"/>
            <a:ext cx="109692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200" spc="-1" strike="noStrike">
                <a:solidFill>
                  <a:srgbClr val="526576"/>
                </a:solidFill>
                <a:latin typeface="Arial"/>
              </a:rPr>
              <a:t>5/12</a:t>
            </a:r>
            <a:endParaRPr b="0" lang="en-US" sz="1200" spc="-1" strike="noStrike">
              <a:solidFill>
                <a:srgbClr val="000000"/>
              </a:solidFill>
              <a:latin typeface="Arial"/>
            </a:endParaRPr>
          </a:p>
        </p:txBody>
      </p:sp>
      <p:sp>
        <p:nvSpPr>
          <p:cNvPr id="131" name="TextBox 6"/>
          <p:cNvSpPr/>
          <p:nvPr/>
        </p:nvSpPr>
        <p:spPr>
          <a:xfrm>
            <a:off x="731520" y="1828800"/>
            <a:ext cx="10515240" cy="4273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800" spc="-1" strike="noStrike">
                <a:solidFill>
                  <a:srgbClr val="10283f"/>
                </a:solidFill>
                <a:latin typeface="Arial"/>
              </a:rPr>
              <a:t>Base model: Qwen3-1.7B</a:t>
            </a:r>
            <a:endParaRPr b="0" lang="en-US" sz="2800" spc="-1" strike="noStrike">
              <a:solidFill>
                <a:srgbClr val="000000"/>
              </a:solidFill>
              <a:latin typeface="Arial"/>
            </a:endParaRPr>
          </a:p>
        </p:txBody>
      </p:sp>
      <p:sp>
        <p:nvSpPr>
          <p:cNvPr id="132" name="TextBox 7"/>
          <p:cNvSpPr/>
          <p:nvPr/>
        </p:nvSpPr>
        <p:spPr>
          <a:xfrm>
            <a:off x="731520" y="2779920"/>
            <a:ext cx="10515240" cy="4273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800" spc="-1" strike="noStrike">
                <a:solidFill>
                  <a:srgbClr val="10283f"/>
                </a:solidFill>
                <a:latin typeface="Arial"/>
              </a:rPr>
              <a:t>LoRA adaptation on unpaired chess-book text</a:t>
            </a:r>
            <a:endParaRPr b="0" lang="en-US" sz="2800" spc="-1" strike="noStrike">
              <a:solidFill>
                <a:srgbClr val="000000"/>
              </a:solidFill>
              <a:latin typeface="Arial"/>
            </a:endParaRPr>
          </a:p>
        </p:txBody>
      </p:sp>
      <p:sp>
        <p:nvSpPr>
          <p:cNvPr id="133" name="TextBox 8"/>
          <p:cNvSpPr/>
          <p:nvPr/>
        </p:nvSpPr>
        <p:spPr>
          <a:xfrm>
            <a:off x="731520" y="3730680"/>
            <a:ext cx="10515240" cy="4273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800" spc="-1" strike="noStrike">
                <a:solidFill>
                  <a:srgbClr val="10283f"/>
                </a:solidFill>
                <a:latin typeface="Arial"/>
              </a:rPr>
              <a:t>Local inference: Q8_0 GGUF with llama.cpp</a:t>
            </a:r>
            <a:endParaRPr b="0" lang="en-US" sz="2800" spc="-1" strike="noStrike">
              <a:solidFill>
                <a:srgbClr val="000000"/>
              </a:solidFill>
              <a:latin typeface="Arial"/>
            </a:endParaRPr>
          </a:p>
        </p:txBody>
      </p:sp>
      <p:sp>
        <p:nvSpPr>
          <p:cNvPr id="134" name="Rectangle 9"/>
          <p:cNvSpPr/>
          <p:nvPr/>
        </p:nvSpPr>
        <p:spPr>
          <a:xfrm>
            <a:off x="640080" y="4846320"/>
            <a:ext cx="10881000" cy="68544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5" name="TextBox 10"/>
          <p:cNvSpPr/>
          <p:nvPr/>
        </p:nvSpPr>
        <p:spPr>
          <a:xfrm>
            <a:off x="822960" y="5001840"/>
            <a:ext cx="1051524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400" spc="-1" strike="noStrike">
                <a:solidFill>
                  <a:srgbClr val="007f86"/>
                </a:solidFill>
                <a:latin typeface="Arial"/>
              </a:rPr>
              <a:t>Domain vocabulary ≠ supervised position-to-explanation learning</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Rectangle 1"/>
          <p:cNvSpPr/>
          <p:nvPr/>
        </p:nvSpPr>
        <p:spPr>
          <a:xfrm>
            <a:off x="0" y="0"/>
            <a:ext cx="12191400" cy="11844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7" name="TextBox 2"/>
          <p:cNvSpPr/>
          <p:nvPr/>
        </p:nvSpPr>
        <p:spPr>
          <a:xfrm>
            <a:off x="548640" y="320040"/>
            <a:ext cx="10972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200" spc="-1" strike="noStrike">
                <a:solidFill>
                  <a:srgbClr val="007f86"/>
                </a:solidFill>
                <a:latin typeface="Arial"/>
              </a:rPr>
              <a:t>BLUNDERGUARD</a:t>
            </a:r>
            <a:endParaRPr b="0" lang="en-US" sz="1200" spc="-1" strike="noStrike">
              <a:solidFill>
                <a:srgbClr val="000000"/>
              </a:solidFill>
              <a:latin typeface="Arial"/>
            </a:endParaRPr>
          </a:p>
        </p:txBody>
      </p:sp>
      <p:sp>
        <p:nvSpPr>
          <p:cNvPr id="138" name="TextBox 3"/>
          <p:cNvSpPr/>
          <p:nvPr/>
        </p:nvSpPr>
        <p:spPr>
          <a:xfrm>
            <a:off x="548640" y="841320"/>
            <a:ext cx="1106388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100" spc="-1" strike="noStrike">
                <a:solidFill>
                  <a:srgbClr val="10283f"/>
                </a:solidFill>
                <a:latin typeface="Arial"/>
              </a:rPr>
              <a:t>One shared benchmark, 660 judgments</a:t>
            </a:r>
            <a:endParaRPr b="0" lang="en-US" sz="3100" spc="-1" strike="noStrike">
              <a:solidFill>
                <a:srgbClr val="000000"/>
              </a:solidFill>
              <a:latin typeface="Arial"/>
            </a:endParaRPr>
          </a:p>
        </p:txBody>
      </p:sp>
      <p:sp>
        <p:nvSpPr>
          <p:cNvPr id="139" name="TextBox 4"/>
          <p:cNvSpPr/>
          <p:nvPr/>
        </p:nvSpPr>
        <p:spPr>
          <a:xfrm>
            <a:off x="548640" y="6510600"/>
            <a:ext cx="91436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000" spc="-1" strike="noStrike">
                <a:solidFill>
                  <a:srgbClr val="526576"/>
                </a:solidFill>
                <a:latin typeface="Arial"/>
              </a:rPr>
              <a:t>Shahid Beheshti University</a:t>
            </a:r>
            <a:endParaRPr b="0" lang="en-US" sz="1000" spc="-1" strike="noStrike">
              <a:solidFill>
                <a:srgbClr val="000000"/>
              </a:solidFill>
              <a:latin typeface="Arial"/>
            </a:endParaRPr>
          </a:p>
        </p:txBody>
      </p:sp>
      <p:sp>
        <p:nvSpPr>
          <p:cNvPr id="140" name="TextBox 5"/>
          <p:cNvSpPr/>
          <p:nvPr/>
        </p:nvSpPr>
        <p:spPr>
          <a:xfrm>
            <a:off x="10515600" y="6473880"/>
            <a:ext cx="109692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200" spc="-1" strike="noStrike">
                <a:solidFill>
                  <a:srgbClr val="526576"/>
                </a:solidFill>
                <a:latin typeface="Arial"/>
              </a:rPr>
              <a:t>6/12</a:t>
            </a:r>
            <a:endParaRPr b="0" lang="en-US" sz="1200" spc="-1" strike="noStrike">
              <a:solidFill>
                <a:srgbClr val="000000"/>
              </a:solidFill>
              <a:latin typeface="Arial"/>
            </a:endParaRPr>
          </a:p>
        </p:txBody>
      </p:sp>
      <p:sp>
        <p:nvSpPr>
          <p:cNvPr id="141" name="TextBox 6"/>
          <p:cNvSpPr/>
          <p:nvPr/>
        </p:nvSpPr>
        <p:spPr>
          <a:xfrm>
            <a:off x="731520" y="1828800"/>
            <a:ext cx="3200040" cy="8233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5400" spc="-1" strike="noStrike">
                <a:solidFill>
                  <a:srgbClr val="007f86"/>
                </a:solidFill>
                <a:latin typeface="Arial"/>
              </a:rPr>
              <a:t>60</a:t>
            </a:r>
            <a:endParaRPr b="0" lang="en-US" sz="5400" spc="-1" strike="noStrike">
              <a:solidFill>
                <a:srgbClr val="000000"/>
              </a:solidFill>
              <a:latin typeface="Arial"/>
            </a:endParaRPr>
          </a:p>
        </p:txBody>
      </p:sp>
      <p:sp>
        <p:nvSpPr>
          <p:cNvPr id="142" name="TextBox 7"/>
          <p:cNvSpPr/>
          <p:nvPr/>
        </p:nvSpPr>
        <p:spPr>
          <a:xfrm>
            <a:off x="731520" y="2761560"/>
            <a:ext cx="320004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500" spc="-1" strike="noStrike">
                <a:solidFill>
                  <a:srgbClr val="10283f"/>
                </a:solidFill>
                <a:latin typeface="Arial"/>
              </a:rPr>
              <a:t>positions</a:t>
            </a:r>
            <a:endParaRPr b="0" lang="en-US" sz="2500" spc="-1" strike="noStrike">
              <a:solidFill>
                <a:srgbClr val="000000"/>
              </a:solidFill>
              <a:latin typeface="Arial"/>
            </a:endParaRPr>
          </a:p>
        </p:txBody>
      </p:sp>
      <p:sp>
        <p:nvSpPr>
          <p:cNvPr id="143" name="TextBox 8"/>
          <p:cNvSpPr/>
          <p:nvPr/>
        </p:nvSpPr>
        <p:spPr>
          <a:xfrm>
            <a:off x="4526280" y="1828800"/>
            <a:ext cx="3200040" cy="8233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5400" spc="-1" strike="noStrike">
                <a:solidFill>
                  <a:srgbClr val="007f86"/>
                </a:solidFill>
                <a:latin typeface="Arial"/>
              </a:rPr>
              <a:t>11</a:t>
            </a:r>
            <a:endParaRPr b="0" lang="en-US" sz="5400" spc="-1" strike="noStrike">
              <a:solidFill>
                <a:srgbClr val="000000"/>
              </a:solidFill>
              <a:latin typeface="Arial"/>
            </a:endParaRPr>
          </a:p>
        </p:txBody>
      </p:sp>
      <p:sp>
        <p:nvSpPr>
          <p:cNvPr id="144" name="TextBox 9"/>
          <p:cNvSpPr/>
          <p:nvPr/>
        </p:nvSpPr>
        <p:spPr>
          <a:xfrm>
            <a:off x="4526280" y="2761560"/>
            <a:ext cx="320004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500" spc="-1" strike="noStrike">
                <a:solidFill>
                  <a:srgbClr val="10283f"/>
                </a:solidFill>
                <a:latin typeface="Arial"/>
              </a:rPr>
              <a:t>candidate models</a:t>
            </a:r>
            <a:endParaRPr b="0" lang="en-US" sz="2500" spc="-1" strike="noStrike">
              <a:solidFill>
                <a:srgbClr val="000000"/>
              </a:solidFill>
              <a:latin typeface="Arial"/>
            </a:endParaRPr>
          </a:p>
        </p:txBody>
      </p:sp>
      <p:sp>
        <p:nvSpPr>
          <p:cNvPr id="145" name="TextBox 10"/>
          <p:cNvSpPr/>
          <p:nvPr/>
        </p:nvSpPr>
        <p:spPr>
          <a:xfrm>
            <a:off x="8321040" y="1828800"/>
            <a:ext cx="3200040" cy="8233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5400" spc="-1" strike="noStrike">
                <a:solidFill>
                  <a:srgbClr val="007f86"/>
                </a:solidFill>
                <a:latin typeface="Arial"/>
              </a:rPr>
              <a:t>660</a:t>
            </a:r>
            <a:endParaRPr b="0" lang="en-US" sz="5400" spc="-1" strike="noStrike">
              <a:solidFill>
                <a:srgbClr val="000000"/>
              </a:solidFill>
              <a:latin typeface="Arial"/>
            </a:endParaRPr>
          </a:p>
        </p:txBody>
      </p:sp>
      <p:sp>
        <p:nvSpPr>
          <p:cNvPr id="146" name="TextBox 11"/>
          <p:cNvSpPr/>
          <p:nvPr/>
        </p:nvSpPr>
        <p:spPr>
          <a:xfrm>
            <a:off x="8321040" y="2761560"/>
            <a:ext cx="320004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500" spc="-1" strike="noStrike">
                <a:solidFill>
                  <a:srgbClr val="10283f"/>
                </a:solidFill>
                <a:latin typeface="Arial"/>
              </a:rPr>
              <a:t>scored responses</a:t>
            </a:r>
            <a:endParaRPr b="0" lang="en-US" sz="2500" spc="-1" strike="noStrike">
              <a:solidFill>
                <a:srgbClr val="000000"/>
              </a:solidFill>
              <a:latin typeface="Arial"/>
            </a:endParaRPr>
          </a:p>
        </p:txBody>
      </p:sp>
      <p:sp>
        <p:nvSpPr>
          <p:cNvPr id="147" name="TextBox 12"/>
          <p:cNvSpPr/>
          <p:nvPr/>
        </p:nvSpPr>
        <p:spPr>
          <a:xfrm>
            <a:off x="731520" y="3794760"/>
            <a:ext cx="1078956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300" spc="-1" strike="noStrike">
                <a:solidFill>
                  <a:srgbClr val="10283f"/>
                </a:solidFill>
                <a:latin typeface="Arial"/>
              </a:rPr>
              <a:t>20 positions per rating group: beginner / intermediate / advanced</a:t>
            </a:r>
            <a:endParaRPr b="0" lang="en-US" sz="2300" spc="-1" strike="noStrike">
              <a:solidFill>
                <a:srgbClr val="000000"/>
              </a:solidFill>
              <a:latin typeface="Arial"/>
            </a:endParaRPr>
          </a:p>
        </p:txBody>
      </p:sp>
      <p:sp>
        <p:nvSpPr>
          <p:cNvPr id="148" name="TextBox 13"/>
          <p:cNvSpPr/>
          <p:nvPr/>
        </p:nvSpPr>
        <p:spPr>
          <a:xfrm>
            <a:off x="731520" y="4398120"/>
            <a:ext cx="1078956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300" spc="-1" strike="noStrike">
                <a:solidFill>
                  <a:srgbClr val="10283f"/>
                </a:solidFill>
                <a:latin typeface="Arial"/>
              </a:rPr>
              <a:t>Candidates aligned by group and row ID</a:t>
            </a:r>
            <a:endParaRPr b="0" lang="en-US" sz="2300" spc="-1" strike="noStrike">
              <a:solidFill>
                <a:srgbClr val="000000"/>
              </a:solidFill>
              <a:latin typeface="Arial"/>
            </a:endParaRPr>
          </a:p>
        </p:txBody>
      </p:sp>
      <p:sp>
        <p:nvSpPr>
          <p:cNvPr id="149" name="TextBox 14"/>
          <p:cNvSpPr/>
          <p:nvPr/>
        </p:nvSpPr>
        <p:spPr>
          <a:xfrm>
            <a:off x="731520" y="5001840"/>
            <a:ext cx="1078956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300" spc="-1" strike="noStrike">
                <a:solidFill>
                  <a:srgbClr val="10283f"/>
                </a:solidFill>
                <a:latin typeface="Arial"/>
              </a:rPr>
              <a:t>One fixed judge: gemma4-12b; same reference for each position</a:t>
            </a:r>
            <a:endParaRPr b="0" lang="en-US" sz="2300" spc="-1" strike="noStrike">
              <a:solidFill>
                <a:srgbClr val="000000"/>
              </a:solidFill>
              <a:latin typeface="Arial"/>
            </a:endParaRPr>
          </a:p>
        </p:txBody>
      </p:sp>
      <p:sp>
        <p:nvSpPr>
          <p:cNvPr id="150" name="Rectangle 15"/>
          <p:cNvSpPr/>
          <p:nvPr/>
        </p:nvSpPr>
        <p:spPr>
          <a:xfrm>
            <a:off x="548640" y="5806440"/>
            <a:ext cx="11063880" cy="47520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1" name="TextBox 16"/>
          <p:cNvSpPr/>
          <p:nvPr/>
        </p:nvSpPr>
        <p:spPr>
          <a:xfrm>
            <a:off x="731520" y="5888880"/>
            <a:ext cx="1069812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007f86"/>
                </a:solidFill>
                <a:latin typeface="Arial"/>
              </a:rPr>
              <a:t>Rating groups describe source games; they are not measured difficulty levels.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2" name="Rectangle 1"/>
          <p:cNvSpPr/>
          <p:nvPr/>
        </p:nvSpPr>
        <p:spPr>
          <a:xfrm>
            <a:off x="0" y="0"/>
            <a:ext cx="12191400" cy="11844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3" name="TextBox 2"/>
          <p:cNvSpPr/>
          <p:nvPr/>
        </p:nvSpPr>
        <p:spPr>
          <a:xfrm>
            <a:off x="548640" y="320040"/>
            <a:ext cx="10972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200" spc="-1" strike="noStrike">
                <a:solidFill>
                  <a:srgbClr val="007f86"/>
                </a:solidFill>
                <a:latin typeface="Arial"/>
              </a:rPr>
              <a:t>BLUNDERGUARD</a:t>
            </a:r>
            <a:endParaRPr b="0" lang="en-US" sz="1200" spc="-1" strike="noStrike">
              <a:solidFill>
                <a:srgbClr val="000000"/>
              </a:solidFill>
              <a:latin typeface="Arial"/>
            </a:endParaRPr>
          </a:p>
        </p:txBody>
      </p:sp>
      <p:sp>
        <p:nvSpPr>
          <p:cNvPr id="154" name="TextBox 3"/>
          <p:cNvSpPr/>
          <p:nvPr/>
        </p:nvSpPr>
        <p:spPr>
          <a:xfrm>
            <a:off x="548640" y="841320"/>
            <a:ext cx="1106388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100" spc="-1" strike="noStrike">
                <a:solidFill>
                  <a:srgbClr val="10283f"/>
                </a:solidFill>
                <a:latin typeface="Arial"/>
              </a:rPr>
              <a:t>The score rewards correctness and faithfulness</a:t>
            </a:r>
            <a:endParaRPr b="0" lang="en-US" sz="3100" spc="-1" strike="noStrike">
              <a:solidFill>
                <a:srgbClr val="000000"/>
              </a:solidFill>
              <a:latin typeface="Arial"/>
            </a:endParaRPr>
          </a:p>
        </p:txBody>
      </p:sp>
      <p:sp>
        <p:nvSpPr>
          <p:cNvPr id="155" name="TextBox 4"/>
          <p:cNvSpPr/>
          <p:nvPr/>
        </p:nvSpPr>
        <p:spPr>
          <a:xfrm>
            <a:off x="548640" y="6510600"/>
            <a:ext cx="91436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000" spc="-1" strike="noStrike">
                <a:solidFill>
                  <a:srgbClr val="526576"/>
                </a:solidFill>
                <a:latin typeface="Arial"/>
              </a:rPr>
              <a:t>Shahid Beheshti University</a:t>
            </a:r>
            <a:endParaRPr b="0" lang="en-US" sz="1000" spc="-1" strike="noStrike">
              <a:solidFill>
                <a:srgbClr val="000000"/>
              </a:solidFill>
              <a:latin typeface="Arial"/>
            </a:endParaRPr>
          </a:p>
        </p:txBody>
      </p:sp>
      <p:sp>
        <p:nvSpPr>
          <p:cNvPr id="156" name="TextBox 5"/>
          <p:cNvSpPr/>
          <p:nvPr/>
        </p:nvSpPr>
        <p:spPr>
          <a:xfrm>
            <a:off x="10515600" y="6473880"/>
            <a:ext cx="109692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200" spc="-1" strike="noStrike">
                <a:solidFill>
                  <a:srgbClr val="526576"/>
                </a:solidFill>
                <a:latin typeface="Arial"/>
              </a:rPr>
              <a:t>7/12</a:t>
            </a:r>
            <a:endParaRPr b="0" lang="en-US" sz="1200" spc="-1" strike="noStrike">
              <a:solidFill>
                <a:srgbClr val="000000"/>
              </a:solidFill>
              <a:latin typeface="Arial"/>
            </a:endParaRPr>
          </a:p>
        </p:txBody>
      </p:sp>
      <p:sp>
        <p:nvSpPr>
          <p:cNvPr id="157" name="TextBox 6"/>
          <p:cNvSpPr/>
          <p:nvPr/>
        </p:nvSpPr>
        <p:spPr>
          <a:xfrm>
            <a:off x="731520" y="1737360"/>
            <a:ext cx="365724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400" spc="-1" strike="noStrike">
                <a:solidFill>
                  <a:srgbClr val="10283f"/>
                </a:solidFill>
                <a:latin typeface="Arial"/>
              </a:rPr>
              <a:t>Correctness</a:t>
            </a:r>
            <a:endParaRPr b="0" lang="en-US" sz="2400" spc="-1" strike="noStrike">
              <a:solidFill>
                <a:srgbClr val="000000"/>
              </a:solidFill>
              <a:latin typeface="Arial"/>
            </a:endParaRPr>
          </a:p>
        </p:txBody>
      </p:sp>
      <p:sp>
        <p:nvSpPr>
          <p:cNvPr id="158" name="Rectangle 7"/>
          <p:cNvSpPr/>
          <p:nvPr/>
        </p:nvSpPr>
        <p:spPr>
          <a:xfrm>
            <a:off x="4572000" y="1774080"/>
            <a:ext cx="5120280" cy="32868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9" name="TextBox 8"/>
          <p:cNvSpPr/>
          <p:nvPr/>
        </p:nvSpPr>
        <p:spPr>
          <a:xfrm>
            <a:off x="10058400" y="1737360"/>
            <a:ext cx="91404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400" spc="-1" strike="noStrike">
                <a:solidFill>
                  <a:srgbClr val="007f86"/>
                </a:solidFill>
                <a:latin typeface="Arial"/>
              </a:rPr>
              <a:t>35%</a:t>
            </a:r>
            <a:endParaRPr b="0" lang="en-US" sz="2400" spc="-1" strike="noStrike">
              <a:solidFill>
                <a:srgbClr val="000000"/>
              </a:solidFill>
              <a:latin typeface="Arial"/>
            </a:endParaRPr>
          </a:p>
        </p:txBody>
      </p:sp>
      <p:sp>
        <p:nvSpPr>
          <p:cNvPr id="160" name="TextBox 9"/>
          <p:cNvSpPr/>
          <p:nvPr/>
        </p:nvSpPr>
        <p:spPr>
          <a:xfrm>
            <a:off x="731520" y="2368440"/>
            <a:ext cx="365724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400" spc="-1" strike="noStrike">
                <a:solidFill>
                  <a:srgbClr val="10283f"/>
                </a:solidFill>
                <a:latin typeface="Arial"/>
              </a:rPr>
              <a:t>Faithfulness</a:t>
            </a:r>
            <a:endParaRPr b="0" lang="en-US" sz="2400" spc="-1" strike="noStrike">
              <a:solidFill>
                <a:srgbClr val="000000"/>
              </a:solidFill>
              <a:latin typeface="Arial"/>
            </a:endParaRPr>
          </a:p>
        </p:txBody>
      </p:sp>
      <p:sp>
        <p:nvSpPr>
          <p:cNvPr id="161" name="Rectangle 10"/>
          <p:cNvSpPr/>
          <p:nvPr/>
        </p:nvSpPr>
        <p:spPr>
          <a:xfrm>
            <a:off x="4572000" y="2404800"/>
            <a:ext cx="3657240" cy="32868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2" name="TextBox 11"/>
          <p:cNvSpPr/>
          <p:nvPr/>
        </p:nvSpPr>
        <p:spPr>
          <a:xfrm>
            <a:off x="10058400" y="2368440"/>
            <a:ext cx="91404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400" spc="-1" strike="noStrike">
                <a:solidFill>
                  <a:srgbClr val="007f86"/>
                </a:solidFill>
                <a:latin typeface="Arial"/>
              </a:rPr>
              <a:t>25%</a:t>
            </a:r>
            <a:endParaRPr b="0" lang="en-US" sz="2400" spc="-1" strike="noStrike">
              <a:solidFill>
                <a:srgbClr val="000000"/>
              </a:solidFill>
              <a:latin typeface="Arial"/>
            </a:endParaRPr>
          </a:p>
        </p:txBody>
      </p:sp>
      <p:sp>
        <p:nvSpPr>
          <p:cNvPr id="163" name="TextBox 12"/>
          <p:cNvSpPr/>
          <p:nvPr/>
        </p:nvSpPr>
        <p:spPr>
          <a:xfrm>
            <a:off x="731520" y="2999160"/>
            <a:ext cx="365724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400" spc="-1" strike="noStrike">
                <a:solidFill>
                  <a:srgbClr val="10283f"/>
                </a:solidFill>
                <a:latin typeface="Arial"/>
              </a:rPr>
              <a:t>Helpfulness</a:t>
            </a:r>
            <a:endParaRPr b="0" lang="en-US" sz="2400" spc="-1" strike="noStrike">
              <a:solidFill>
                <a:srgbClr val="000000"/>
              </a:solidFill>
              <a:latin typeface="Arial"/>
            </a:endParaRPr>
          </a:p>
        </p:txBody>
      </p:sp>
      <p:sp>
        <p:nvSpPr>
          <p:cNvPr id="164" name="Rectangle 13"/>
          <p:cNvSpPr/>
          <p:nvPr/>
        </p:nvSpPr>
        <p:spPr>
          <a:xfrm>
            <a:off x="4572000" y="3035880"/>
            <a:ext cx="2925720" cy="328680"/>
          </a:xfrm>
          <a:prstGeom prst="rect">
            <a:avLst/>
          </a:prstGeom>
          <a:solidFill>
            <a:srgbClr val="79b9b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5" name="TextBox 14"/>
          <p:cNvSpPr/>
          <p:nvPr/>
        </p:nvSpPr>
        <p:spPr>
          <a:xfrm>
            <a:off x="10058400" y="2999160"/>
            <a:ext cx="91404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400" spc="-1" strike="noStrike">
                <a:solidFill>
                  <a:srgbClr val="007f86"/>
                </a:solidFill>
                <a:latin typeface="Arial"/>
              </a:rPr>
              <a:t>20%</a:t>
            </a:r>
            <a:endParaRPr b="0" lang="en-US" sz="2400" spc="-1" strike="noStrike">
              <a:solidFill>
                <a:srgbClr val="000000"/>
              </a:solidFill>
              <a:latin typeface="Arial"/>
            </a:endParaRPr>
          </a:p>
        </p:txBody>
      </p:sp>
      <p:sp>
        <p:nvSpPr>
          <p:cNvPr id="166" name="TextBox 15"/>
          <p:cNvSpPr/>
          <p:nvPr/>
        </p:nvSpPr>
        <p:spPr>
          <a:xfrm>
            <a:off x="731520" y="3630240"/>
            <a:ext cx="365724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400" spc="-1" strike="noStrike">
                <a:solidFill>
                  <a:srgbClr val="10283f"/>
                </a:solidFill>
                <a:latin typeface="Arial"/>
              </a:rPr>
              <a:t>Instruction following</a:t>
            </a:r>
            <a:endParaRPr b="0" lang="en-US" sz="2400" spc="-1" strike="noStrike">
              <a:solidFill>
                <a:srgbClr val="000000"/>
              </a:solidFill>
              <a:latin typeface="Arial"/>
            </a:endParaRPr>
          </a:p>
        </p:txBody>
      </p:sp>
      <p:sp>
        <p:nvSpPr>
          <p:cNvPr id="167" name="Rectangle 16"/>
          <p:cNvSpPr/>
          <p:nvPr/>
        </p:nvSpPr>
        <p:spPr>
          <a:xfrm>
            <a:off x="4572000" y="3666600"/>
            <a:ext cx="1462680" cy="328680"/>
          </a:xfrm>
          <a:prstGeom prst="rect">
            <a:avLst/>
          </a:prstGeom>
          <a:solidFill>
            <a:srgbClr val="79b9b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8" name="TextBox 17"/>
          <p:cNvSpPr/>
          <p:nvPr/>
        </p:nvSpPr>
        <p:spPr>
          <a:xfrm>
            <a:off x="10058400" y="3630240"/>
            <a:ext cx="91404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400" spc="-1" strike="noStrike">
                <a:solidFill>
                  <a:srgbClr val="007f86"/>
                </a:solidFill>
                <a:latin typeface="Arial"/>
              </a:rPr>
              <a:t>10%</a:t>
            </a:r>
            <a:endParaRPr b="0" lang="en-US" sz="2400" spc="-1" strike="noStrike">
              <a:solidFill>
                <a:srgbClr val="000000"/>
              </a:solidFill>
              <a:latin typeface="Arial"/>
            </a:endParaRPr>
          </a:p>
        </p:txBody>
      </p:sp>
      <p:sp>
        <p:nvSpPr>
          <p:cNvPr id="169" name="TextBox 18"/>
          <p:cNvSpPr/>
          <p:nvPr/>
        </p:nvSpPr>
        <p:spPr>
          <a:xfrm>
            <a:off x="731520" y="4260960"/>
            <a:ext cx="365724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400" spc="-1" strike="noStrike">
                <a:solidFill>
                  <a:srgbClr val="10283f"/>
                </a:solidFill>
                <a:latin typeface="Arial"/>
              </a:rPr>
              <a:t>Fluency</a:t>
            </a:r>
            <a:endParaRPr b="0" lang="en-US" sz="2400" spc="-1" strike="noStrike">
              <a:solidFill>
                <a:srgbClr val="000000"/>
              </a:solidFill>
              <a:latin typeface="Arial"/>
            </a:endParaRPr>
          </a:p>
        </p:txBody>
      </p:sp>
      <p:sp>
        <p:nvSpPr>
          <p:cNvPr id="170" name="Rectangle 19"/>
          <p:cNvSpPr/>
          <p:nvPr/>
        </p:nvSpPr>
        <p:spPr>
          <a:xfrm>
            <a:off x="4572000" y="4297680"/>
            <a:ext cx="1462680" cy="328680"/>
          </a:xfrm>
          <a:prstGeom prst="rect">
            <a:avLst/>
          </a:prstGeom>
          <a:solidFill>
            <a:srgbClr val="79b9b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1" name="TextBox 20"/>
          <p:cNvSpPr/>
          <p:nvPr/>
        </p:nvSpPr>
        <p:spPr>
          <a:xfrm>
            <a:off x="10058400" y="4260960"/>
            <a:ext cx="91404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400" spc="-1" strike="noStrike">
                <a:solidFill>
                  <a:srgbClr val="007f86"/>
                </a:solidFill>
                <a:latin typeface="Arial"/>
              </a:rPr>
              <a:t>10%</a:t>
            </a:r>
            <a:endParaRPr b="0" lang="en-US" sz="2400" spc="-1" strike="noStrike">
              <a:solidFill>
                <a:srgbClr val="000000"/>
              </a:solidFill>
              <a:latin typeface="Arial"/>
            </a:endParaRPr>
          </a:p>
        </p:txBody>
      </p:sp>
      <p:sp>
        <p:nvSpPr>
          <p:cNvPr id="172" name="Rectangle 21"/>
          <p:cNvSpPr/>
          <p:nvPr/>
        </p:nvSpPr>
        <p:spPr>
          <a:xfrm>
            <a:off x="548640" y="5806440"/>
            <a:ext cx="11063880" cy="47520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3" name="TextBox 22"/>
          <p:cNvSpPr/>
          <p:nvPr/>
        </p:nvSpPr>
        <p:spPr>
          <a:xfrm>
            <a:off x="731520" y="5888880"/>
            <a:ext cx="1069812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007f86"/>
                </a:solidFill>
                <a:latin typeface="Arial"/>
              </a:rPr>
              <a:t>The judge compares candidate and reference text; it does not inspect the board.</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4" name="Rectangle 1"/>
          <p:cNvSpPr/>
          <p:nvPr/>
        </p:nvSpPr>
        <p:spPr>
          <a:xfrm>
            <a:off x="0" y="0"/>
            <a:ext cx="12191400" cy="11844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5" name="TextBox 2"/>
          <p:cNvSpPr/>
          <p:nvPr/>
        </p:nvSpPr>
        <p:spPr>
          <a:xfrm>
            <a:off x="584640" y="320040"/>
            <a:ext cx="10972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200" spc="-1" strike="noStrike">
                <a:solidFill>
                  <a:srgbClr val="007f86"/>
                </a:solidFill>
                <a:latin typeface="Arial"/>
              </a:rPr>
              <a:t>BLUNDERGUARD</a:t>
            </a:r>
            <a:endParaRPr b="0" lang="en-US" sz="1200" spc="-1" strike="noStrike">
              <a:solidFill>
                <a:srgbClr val="000000"/>
              </a:solidFill>
              <a:latin typeface="Arial"/>
            </a:endParaRPr>
          </a:p>
        </p:txBody>
      </p:sp>
      <p:sp>
        <p:nvSpPr>
          <p:cNvPr id="176" name="TextBox 3"/>
          <p:cNvSpPr/>
          <p:nvPr/>
        </p:nvSpPr>
        <p:spPr>
          <a:xfrm>
            <a:off x="584640" y="841320"/>
            <a:ext cx="1106388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100" spc="-1" strike="noStrike">
                <a:solidFill>
                  <a:srgbClr val="10283f"/>
                </a:solidFill>
                <a:latin typeface="Arial"/>
              </a:rPr>
              <a:t>The results</a:t>
            </a:r>
            <a:endParaRPr b="0" lang="en-US" sz="3100" spc="-1" strike="noStrike">
              <a:solidFill>
                <a:srgbClr val="000000"/>
              </a:solidFill>
              <a:latin typeface="Arial"/>
            </a:endParaRPr>
          </a:p>
        </p:txBody>
      </p:sp>
      <p:sp>
        <p:nvSpPr>
          <p:cNvPr id="177" name="TextBox 4"/>
          <p:cNvSpPr/>
          <p:nvPr/>
        </p:nvSpPr>
        <p:spPr>
          <a:xfrm>
            <a:off x="548640" y="6510600"/>
            <a:ext cx="91436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000" spc="-1" strike="noStrike">
                <a:solidFill>
                  <a:srgbClr val="526576"/>
                </a:solidFill>
                <a:latin typeface="Arial"/>
              </a:rPr>
              <a:t>Shahid Beheshti University</a:t>
            </a:r>
            <a:endParaRPr b="0" lang="en-US" sz="1000" spc="-1" strike="noStrike">
              <a:solidFill>
                <a:srgbClr val="000000"/>
              </a:solidFill>
              <a:latin typeface="Arial"/>
            </a:endParaRPr>
          </a:p>
        </p:txBody>
      </p:sp>
      <p:sp>
        <p:nvSpPr>
          <p:cNvPr id="178" name="TextBox 5"/>
          <p:cNvSpPr/>
          <p:nvPr/>
        </p:nvSpPr>
        <p:spPr>
          <a:xfrm>
            <a:off x="10515600" y="6473880"/>
            <a:ext cx="109692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200" spc="-1" strike="noStrike">
                <a:solidFill>
                  <a:srgbClr val="526576"/>
                </a:solidFill>
                <a:latin typeface="Arial"/>
              </a:rPr>
              <a:t>8/12</a:t>
            </a:r>
            <a:endParaRPr b="0" lang="en-US" sz="1200" spc="-1" strike="noStrike">
              <a:solidFill>
                <a:srgbClr val="000000"/>
              </a:solidFill>
              <a:latin typeface="Arial"/>
            </a:endParaRPr>
          </a:p>
        </p:txBody>
      </p:sp>
      <p:sp>
        <p:nvSpPr>
          <p:cNvPr id="179" name="TextBox 6"/>
          <p:cNvSpPr/>
          <p:nvPr/>
        </p:nvSpPr>
        <p:spPr>
          <a:xfrm>
            <a:off x="731520" y="1710000"/>
            <a:ext cx="3840120" cy="2595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700" spc="-1" strike="noStrike">
                <a:solidFill>
                  <a:srgbClr val="10283f"/>
                </a:solidFill>
                <a:latin typeface="Arial"/>
              </a:rPr>
              <a:t>GPT-5.5</a:t>
            </a:r>
            <a:endParaRPr b="0" lang="en-US" sz="1700" spc="-1" strike="noStrike">
              <a:solidFill>
                <a:srgbClr val="000000"/>
              </a:solidFill>
              <a:latin typeface="Arial"/>
            </a:endParaRPr>
          </a:p>
        </p:txBody>
      </p:sp>
      <p:sp>
        <p:nvSpPr>
          <p:cNvPr id="180" name="Rectangle 7"/>
          <p:cNvSpPr/>
          <p:nvPr/>
        </p:nvSpPr>
        <p:spPr>
          <a:xfrm>
            <a:off x="4572000" y="1746360"/>
            <a:ext cx="4007880" cy="20088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1" name="TextBox 8"/>
          <p:cNvSpPr/>
          <p:nvPr/>
        </p:nvSpPr>
        <p:spPr>
          <a:xfrm>
            <a:off x="10378440" y="1710000"/>
            <a:ext cx="91404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10283f"/>
                </a:solidFill>
                <a:latin typeface="Arial"/>
              </a:rPr>
              <a:t>7.31</a:t>
            </a:r>
            <a:endParaRPr b="0" lang="en-US" sz="1800" spc="-1" strike="noStrike">
              <a:solidFill>
                <a:srgbClr val="000000"/>
              </a:solidFill>
              <a:latin typeface="Arial"/>
            </a:endParaRPr>
          </a:p>
        </p:txBody>
      </p:sp>
      <p:sp>
        <p:nvSpPr>
          <p:cNvPr id="182" name="TextBox 9"/>
          <p:cNvSpPr/>
          <p:nvPr/>
        </p:nvSpPr>
        <p:spPr>
          <a:xfrm>
            <a:off x="731520" y="2043720"/>
            <a:ext cx="3840120" cy="2595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700" spc="-1" strike="noStrike">
                <a:solidFill>
                  <a:srgbClr val="10283f"/>
                </a:solidFill>
                <a:latin typeface="Arial"/>
              </a:rPr>
              <a:t>Qwen3.7 Plus</a:t>
            </a:r>
            <a:endParaRPr b="0" lang="en-US" sz="1700" spc="-1" strike="noStrike">
              <a:solidFill>
                <a:srgbClr val="000000"/>
              </a:solidFill>
              <a:latin typeface="Arial"/>
            </a:endParaRPr>
          </a:p>
        </p:txBody>
      </p:sp>
      <p:sp>
        <p:nvSpPr>
          <p:cNvPr id="183" name="Rectangle 10"/>
          <p:cNvSpPr/>
          <p:nvPr/>
        </p:nvSpPr>
        <p:spPr>
          <a:xfrm>
            <a:off x="4572000" y="2080440"/>
            <a:ext cx="3564720" cy="20088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4" name="TextBox 11"/>
          <p:cNvSpPr/>
          <p:nvPr/>
        </p:nvSpPr>
        <p:spPr>
          <a:xfrm>
            <a:off x="10378440" y="2043720"/>
            <a:ext cx="91404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10283f"/>
                </a:solidFill>
                <a:latin typeface="Arial"/>
              </a:rPr>
              <a:t>6.50</a:t>
            </a:r>
            <a:endParaRPr b="0" lang="en-US" sz="1800" spc="-1" strike="noStrike">
              <a:solidFill>
                <a:srgbClr val="000000"/>
              </a:solidFill>
              <a:latin typeface="Arial"/>
            </a:endParaRPr>
          </a:p>
        </p:txBody>
      </p:sp>
      <p:sp>
        <p:nvSpPr>
          <p:cNvPr id="185" name="TextBox 12"/>
          <p:cNvSpPr/>
          <p:nvPr/>
        </p:nvSpPr>
        <p:spPr>
          <a:xfrm>
            <a:off x="731520" y="2377440"/>
            <a:ext cx="3840120" cy="2595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700" spc="-1" strike="noStrike">
                <a:solidFill>
                  <a:srgbClr val="10283f"/>
                </a:solidFill>
                <a:latin typeface="Arial"/>
              </a:rPr>
              <a:t>Gemini 3.5 Flash</a:t>
            </a:r>
            <a:endParaRPr b="0" lang="en-US" sz="1700" spc="-1" strike="noStrike">
              <a:solidFill>
                <a:srgbClr val="000000"/>
              </a:solidFill>
              <a:latin typeface="Arial"/>
            </a:endParaRPr>
          </a:p>
        </p:txBody>
      </p:sp>
      <p:sp>
        <p:nvSpPr>
          <p:cNvPr id="186" name="Rectangle 13"/>
          <p:cNvSpPr/>
          <p:nvPr/>
        </p:nvSpPr>
        <p:spPr>
          <a:xfrm>
            <a:off x="4572000" y="2414160"/>
            <a:ext cx="3541680" cy="20088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7" name="TextBox 14"/>
          <p:cNvSpPr/>
          <p:nvPr/>
        </p:nvSpPr>
        <p:spPr>
          <a:xfrm>
            <a:off x="10378440" y="2377440"/>
            <a:ext cx="91404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10283f"/>
                </a:solidFill>
                <a:latin typeface="Arial"/>
              </a:rPr>
              <a:t>6.46</a:t>
            </a:r>
            <a:endParaRPr b="0" lang="en-US" sz="1800" spc="-1" strike="noStrike">
              <a:solidFill>
                <a:srgbClr val="000000"/>
              </a:solidFill>
              <a:latin typeface="Arial"/>
            </a:endParaRPr>
          </a:p>
        </p:txBody>
      </p:sp>
      <p:sp>
        <p:nvSpPr>
          <p:cNvPr id="188" name="TextBox 15"/>
          <p:cNvSpPr/>
          <p:nvPr/>
        </p:nvSpPr>
        <p:spPr>
          <a:xfrm>
            <a:off x="731520" y="2711160"/>
            <a:ext cx="3840120" cy="2595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700" spc="-1" strike="noStrike">
                <a:solidFill>
                  <a:srgbClr val="10283f"/>
                </a:solidFill>
                <a:latin typeface="Arial"/>
              </a:rPr>
              <a:t>Grok 4.3</a:t>
            </a:r>
            <a:endParaRPr b="0" lang="en-US" sz="1700" spc="-1" strike="noStrike">
              <a:solidFill>
                <a:srgbClr val="000000"/>
              </a:solidFill>
              <a:latin typeface="Arial"/>
            </a:endParaRPr>
          </a:p>
        </p:txBody>
      </p:sp>
      <p:sp>
        <p:nvSpPr>
          <p:cNvPr id="189" name="Rectangle 16"/>
          <p:cNvSpPr/>
          <p:nvPr/>
        </p:nvSpPr>
        <p:spPr>
          <a:xfrm>
            <a:off x="4572000" y="2747880"/>
            <a:ext cx="2981520" cy="200880"/>
          </a:xfrm>
          <a:prstGeom prst="rect">
            <a:avLst/>
          </a:prstGeom>
          <a:solidFill>
            <a:srgbClr val="83a8b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0" name="TextBox 17"/>
          <p:cNvSpPr/>
          <p:nvPr/>
        </p:nvSpPr>
        <p:spPr>
          <a:xfrm>
            <a:off x="10378440" y="2711160"/>
            <a:ext cx="91404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10283f"/>
                </a:solidFill>
                <a:latin typeface="Arial"/>
              </a:rPr>
              <a:t>5.44</a:t>
            </a:r>
            <a:endParaRPr b="0" lang="en-US" sz="1800" spc="-1" strike="noStrike">
              <a:solidFill>
                <a:srgbClr val="000000"/>
              </a:solidFill>
              <a:latin typeface="Arial"/>
            </a:endParaRPr>
          </a:p>
        </p:txBody>
      </p:sp>
      <p:sp>
        <p:nvSpPr>
          <p:cNvPr id="191" name="TextBox 18"/>
          <p:cNvSpPr/>
          <p:nvPr/>
        </p:nvSpPr>
        <p:spPr>
          <a:xfrm>
            <a:off x="731520" y="3044880"/>
            <a:ext cx="3840120" cy="2595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700" spc="-1" strike="noStrike">
                <a:solidFill>
                  <a:srgbClr val="10283f"/>
                </a:solidFill>
                <a:latin typeface="Arial"/>
              </a:rPr>
              <a:t>Llama 3.3 70B (FP8)</a:t>
            </a:r>
            <a:endParaRPr b="0" lang="en-US" sz="1700" spc="-1" strike="noStrike">
              <a:solidFill>
                <a:srgbClr val="000000"/>
              </a:solidFill>
              <a:latin typeface="Arial"/>
            </a:endParaRPr>
          </a:p>
        </p:txBody>
      </p:sp>
      <p:sp>
        <p:nvSpPr>
          <p:cNvPr id="192" name="Rectangle 19"/>
          <p:cNvSpPr/>
          <p:nvPr/>
        </p:nvSpPr>
        <p:spPr>
          <a:xfrm>
            <a:off x="4572000" y="3081600"/>
            <a:ext cx="2258280" cy="200880"/>
          </a:xfrm>
          <a:prstGeom prst="rect">
            <a:avLst/>
          </a:prstGeom>
          <a:solidFill>
            <a:srgbClr val="83a8b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3" name="TextBox 20"/>
          <p:cNvSpPr/>
          <p:nvPr/>
        </p:nvSpPr>
        <p:spPr>
          <a:xfrm>
            <a:off x="10378440" y="3044880"/>
            <a:ext cx="91404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10283f"/>
                </a:solidFill>
                <a:latin typeface="Arial"/>
              </a:rPr>
              <a:t>4.12</a:t>
            </a:r>
            <a:endParaRPr b="0" lang="en-US" sz="1800" spc="-1" strike="noStrike">
              <a:solidFill>
                <a:srgbClr val="000000"/>
              </a:solidFill>
              <a:latin typeface="Arial"/>
            </a:endParaRPr>
          </a:p>
        </p:txBody>
      </p:sp>
      <p:sp>
        <p:nvSpPr>
          <p:cNvPr id="194" name="TextBox 21"/>
          <p:cNvSpPr/>
          <p:nvPr/>
        </p:nvSpPr>
        <p:spPr>
          <a:xfrm>
            <a:off x="731520" y="3378600"/>
            <a:ext cx="3840120" cy="2595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700" spc="-1" strike="noStrike">
                <a:solidFill>
                  <a:srgbClr val="10283f"/>
                </a:solidFill>
                <a:latin typeface="Arial"/>
              </a:rPr>
              <a:t>GPT-OSS 120B</a:t>
            </a:r>
            <a:endParaRPr b="0" lang="en-US" sz="1700" spc="-1" strike="noStrike">
              <a:solidFill>
                <a:srgbClr val="000000"/>
              </a:solidFill>
              <a:latin typeface="Arial"/>
            </a:endParaRPr>
          </a:p>
        </p:txBody>
      </p:sp>
      <p:sp>
        <p:nvSpPr>
          <p:cNvPr id="195" name="Rectangle 22"/>
          <p:cNvSpPr/>
          <p:nvPr/>
        </p:nvSpPr>
        <p:spPr>
          <a:xfrm>
            <a:off x="4572000" y="3415320"/>
            <a:ext cx="2175840" cy="200880"/>
          </a:xfrm>
          <a:prstGeom prst="rect">
            <a:avLst/>
          </a:prstGeom>
          <a:solidFill>
            <a:srgbClr val="83a8b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6" name="TextBox 23"/>
          <p:cNvSpPr/>
          <p:nvPr/>
        </p:nvSpPr>
        <p:spPr>
          <a:xfrm>
            <a:off x="10378440" y="3378600"/>
            <a:ext cx="91404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10283f"/>
                </a:solidFill>
                <a:latin typeface="Arial"/>
              </a:rPr>
              <a:t>3.97</a:t>
            </a:r>
            <a:endParaRPr b="0" lang="en-US" sz="1800" spc="-1" strike="noStrike">
              <a:solidFill>
                <a:srgbClr val="000000"/>
              </a:solidFill>
              <a:latin typeface="Arial"/>
            </a:endParaRPr>
          </a:p>
        </p:txBody>
      </p:sp>
      <p:sp>
        <p:nvSpPr>
          <p:cNvPr id="197" name="TextBox 24"/>
          <p:cNvSpPr/>
          <p:nvPr/>
        </p:nvSpPr>
        <p:spPr>
          <a:xfrm>
            <a:off x="731520" y="3712320"/>
            <a:ext cx="3840120" cy="2595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700" spc="-1" strike="noStrike">
                <a:solidFill>
                  <a:srgbClr val="10283f"/>
                </a:solidFill>
                <a:latin typeface="Arial"/>
              </a:rPr>
              <a:t>Qwen3 30B A3B</a:t>
            </a:r>
            <a:endParaRPr b="0" lang="en-US" sz="1700" spc="-1" strike="noStrike">
              <a:solidFill>
                <a:srgbClr val="000000"/>
              </a:solidFill>
              <a:latin typeface="Arial"/>
            </a:endParaRPr>
          </a:p>
        </p:txBody>
      </p:sp>
      <p:sp>
        <p:nvSpPr>
          <p:cNvPr id="198" name="Rectangle 25"/>
          <p:cNvSpPr/>
          <p:nvPr/>
        </p:nvSpPr>
        <p:spPr>
          <a:xfrm>
            <a:off x="4572000" y="3749040"/>
            <a:ext cx="1971000" cy="200880"/>
          </a:xfrm>
          <a:prstGeom prst="rect">
            <a:avLst/>
          </a:prstGeom>
          <a:solidFill>
            <a:srgbClr val="83a8b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9" name="TextBox 26"/>
          <p:cNvSpPr/>
          <p:nvPr/>
        </p:nvSpPr>
        <p:spPr>
          <a:xfrm>
            <a:off x="10378440" y="3712320"/>
            <a:ext cx="91404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10283f"/>
                </a:solidFill>
                <a:latin typeface="Arial"/>
              </a:rPr>
              <a:t>3.59</a:t>
            </a:r>
            <a:endParaRPr b="0" lang="en-US" sz="1800" spc="-1" strike="noStrike">
              <a:solidFill>
                <a:srgbClr val="000000"/>
              </a:solidFill>
              <a:latin typeface="Arial"/>
            </a:endParaRPr>
          </a:p>
        </p:txBody>
      </p:sp>
      <p:sp>
        <p:nvSpPr>
          <p:cNvPr id="200" name="TextBox 27"/>
          <p:cNvSpPr/>
          <p:nvPr/>
        </p:nvSpPr>
        <p:spPr>
          <a:xfrm>
            <a:off x="731520" y="4046400"/>
            <a:ext cx="3840120" cy="2595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700" spc="-1" strike="noStrike">
                <a:solidFill>
                  <a:srgbClr val="10283f"/>
                </a:solidFill>
                <a:latin typeface="Arial"/>
              </a:rPr>
              <a:t>Gemma 3 12B (Q4)</a:t>
            </a:r>
            <a:endParaRPr b="0" lang="en-US" sz="1700" spc="-1" strike="noStrike">
              <a:solidFill>
                <a:srgbClr val="000000"/>
              </a:solidFill>
              <a:latin typeface="Arial"/>
            </a:endParaRPr>
          </a:p>
        </p:txBody>
      </p:sp>
      <p:sp>
        <p:nvSpPr>
          <p:cNvPr id="201" name="Rectangle 28"/>
          <p:cNvSpPr/>
          <p:nvPr/>
        </p:nvSpPr>
        <p:spPr>
          <a:xfrm>
            <a:off x="4572000" y="4082760"/>
            <a:ext cx="1615320" cy="200880"/>
          </a:xfrm>
          <a:prstGeom prst="rect">
            <a:avLst/>
          </a:prstGeom>
          <a:solidFill>
            <a:srgbClr val="83a8b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2" name="TextBox 29"/>
          <p:cNvSpPr/>
          <p:nvPr/>
        </p:nvSpPr>
        <p:spPr>
          <a:xfrm>
            <a:off x="10378440" y="4046400"/>
            <a:ext cx="91404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10283f"/>
                </a:solidFill>
                <a:latin typeface="Arial"/>
              </a:rPr>
              <a:t>2.95</a:t>
            </a:r>
            <a:endParaRPr b="0" lang="en-US" sz="1800" spc="-1" strike="noStrike">
              <a:solidFill>
                <a:srgbClr val="000000"/>
              </a:solidFill>
              <a:latin typeface="Arial"/>
            </a:endParaRPr>
          </a:p>
        </p:txBody>
      </p:sp>
      <p:sp>
        <p:nvSpPr>
          <p:cNvPr id="203" name="TextBox 30"/>
          <p:cNvSpPr/>
          <p:nvPr/>
        </p:nvSpPr>
        <p:spPr>
          <a:xfrm>
            <a:off x="731520" y="4380120"/>
            <a:ext cx="3840120" cy="2595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700" spc="-1" strike="noStrike">
                <a:solidFill>
                  <a:srgbClr val="10283f"/>
                </a:solidFill>
                <a:latin typeface="Arial"/>
              </a:rPr>
              <a:t>Gemma 4 26B A4B</a:t>
            </a:r>
            <a:endParaRPr b="0" lang="en-US" sz="1700" spc="-1" strike="noStrike">
              <a:solidFill>
                <a:srgbClr val="000000"/>
              </a:solidFill>
              <a:latin typeface="Arial"/>
            </a:endParaRPr>
          </a:p>
        </p:txBody>
      </p:sp>
      <p:sp>
        <p:nvSpPr>
          <p:cNvPr id="204" name="Rectangle 31"/>
          <p:cNvSpPr/>
          <p:nvPr/>
        </p:nvSpPr>
        <p:spPr>
          <a:xfrm>
            <a:off x="4572000" y="4416480"/>
            <a:ext cx="1589760" cy="200880"/>
          </a:xfrm>
          <a:prstGeom prst="rect">
            <a:avLst/>
          </a:prstGeom>
          <a:solidFill>
            <a:srgbClr val="83a8b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5" name="TextBox 32"/>
          <p:cNvSpPr/>
          <p:nvPr/>
        </p:nvSpPr>
        <p:spPr>
          <a:xfrm>
            <a:off x="10378440" y="4380120"/>
            <a:ext cx="91404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10283f"/>
                </a:solidFill>
                <a:latin typeface="Arial"/>
              </a:rPr>
              <a:t>2.90</a:t>
            </a:r>
            <a:endParaRPr b="0" lang="en-US" sz="1800" spc="-1" strike="noStrike">
              <a:solidFill>
                <a:srgbClr val="000000"/>
              </a:solidFill>
              <a:latin typeface="Arial"/>
            </a:endParaRPr>
          </a:p>
        </p:txBody>
      </p:sp>
      <p:sp>
        <p:nvSpPr>
          <p:cNvPr id="206" name="TextBox 33"/>
          <p:cNvSpPr/>
          <p:nvPr/>
        </p:nvSpPr>
        <p:spPr>
          <a:xfrm>
            <a:off x="731520" y="4713840"/>
            <a:ext cx="3840120" cy="2595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700" spc="-1" strike="noStrike">
                <a:solidFill>
                  <a:srgbClr val="10283f"/>
                </a:solidFill>
                <a:latin typeface="Arial"/>
              </a:rPr>
              <a:t>Chess Q8 (Qwen3 1.7B)</a:t>
            </a:r>
            <a:endParaRPr b="0" lang="en-US" sz="1700" spc="-1" strike="noStrike">
              <a:solidFill>
                <a:srgbClr val="000000"/>
              </a:solidFill>
              <a:latin typeface="Arial"/>
            </a:endParaRPr>
          </a:p>
        </p:txBody>
      </p:sp>
      <p:sp>
        <p:nvSpPr>
          <p:cNvPr id="207" name="Rectangle 34"/>
          <p:cNvSpPr/>
          <p:nvPr/>
        </p:nvSpPr>
        <p:spPr>
          <a:xfrm>
            <a:off x="4572000" y="4750200"/>
            <a:ext cx="1567800" cy="200880"/>
          </a:xfrm>
          <a:prstGeom prst="rect">
            <a:avLst/>
          </a:prstGeom>
          <a:solidFill>
            <a:srgbClr val="ac49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8" name="TextBox 35"/>
          <p:cNvSpPr/>
          <p:nvPr/>
        </p:nvSpPr>
        <p:spPr>
          <a:xfrm>
            <a:off x="10378440" y="4713840"/>
            <a:ext cx="91404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10283f"/>
                </a:solidFill>
                <a:latin typeface="Arial"/>
              </a:rPr>
              <a:t>2.86</a:t>
            </a:r>
            <a:endParaRPr b="0" lang="en-US" sz="1800" spc="-1" strike="noStrike">
              <a:solidFill>
                <a:srgbClr val="000000"/>
              </a:solidFill>
              <a:latin typeface="Arial"/>
            </a:endParaRPr>
          </a:p>
        </p:txBody>
      </p:sp>
      <p:sp>
        <p:nvSpPr>
          <p:cNvPr id="209" name="TextBox 36"/>
          <p:cNvSpPr/>
          <p:nvPr/>
        </p:nvSpPr>
        <p:spPr>
          <a:xfrm>
            <a:off x="731520" y="5047560"/>
            <a:ext cx="3840120" cy="2595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700" spc="-1" strike="noStrike">
                <a:solidFill>
                  <a:srgbClr val="10283f"/>
                </a:solidFill>
                <a:latin typeface="Arial"/>
              </a:rPr>
              <a:t>Llama 3.2 3B (Q4)</a:t>
            </a:r>
            <a:endParaRPr b="0" lang="en-US" sz="1700" spc="-1" strike="noStrike">
              <a:solidFill>
                <a:srgbClr val="000000"/>
              </a:solidFill>
              <a:latin typeface="Arial"/>
            </a:endParaRPr>
          </a:p>
        </p:txBody>
      </p:sp>
      <p:sp>
        <p:nvSpPr>
          <p:cNvPr id="210" name="Rectangle 37"/>
          <p:cNvSpPr/>
          <p:nvPr/>
        </p:nvSpPr>
        <p:spPr>
          <a:xfrm>
            <a:off x="4572000" y="5083920"/>
            <a:ext cx="1566000" cy="200880"/>
          </a:xfrm>
          <a:prstGeom prst="rect">
            <a:avLst/>
          </a:prstGeom>
          <a:solidFill>
            <a:srgbClr val="83a8b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1" name="TextBox 38"/>
          <p:cNvSpPr/>
          <p:nvPr/>
        </p:nvSpPr>
        <p:spPr>
          <a:xfrm>
            <a:off x="10378440" y="5047560"/>
            <a:ext cx="91404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10283f"/>
                </a:solidFill>
                <a:latin typeface="Arial"/>
              </a:rPr>
              <a:t>2.86</a:t>
            </a:r>
            <a:endParaRPr b="0" lang="en-US" sz="1800" spc="-1" strike="noStrike">
              <a:solidFill>
                <a:srgbClr val="000000"/>
              </a:solidFill>
              <a:latin typeface="Arial"/>
            </a:endParaRPr>
          </a:p>
        </p:txBody>
      </p:sp>
      <p:sp>
        <p:nvSpPr>
          <p:cNvPr id="212" name="TextBox 39"/>
          <p:cNvSpPr/>
          <p:nvPr/>
        </p:nvSpPr>
        <p:spPr>
          <a:xfrm>
            <a:off x="4572000" y="5513760"/>
            <a:ext cx="640044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526576"/>
                </a:solidFill>
                <a:latin typeface="Arial"/>
              </a:rPr>
              <a:t>Mean weighted score / 10  •  60 responses per model</a:t>
            </a:r>
            <a:endParaRPr b="0" lang="en-US" sz="1500" spc="-1" strike="noStrike">
              <a:solidFill>
                <a:srgbClr val="000000"/>
              </a:solidFill>
              <a:latin typeface="Arial"/>
            </a:endParaRPr>
          </a:p>
        </p:txBody>
      </p:sp>
      <p:sp>
        <p:nvSpPr>
          <p:cNvPr id="213" name="Rectangle 40"/>
          <p:cNvSpPr/>
          <p:nvPr/>
        </p:nvSpPr>
        <p:spPr>
          <a:xfrm>
            <a:off x="548640" y="5806440"/>
            <a:ext cx="11063880" cy="47520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4" name="TextBox 41"/>
          <p:cNvSpPr/>
          <p:nvPr/>
        </p:nvSpPr>
        <p:spPr>
          <a:xfrm>
            <a:off x="731520" y="5888880"/>
            <a:ext cx="1069812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007f86"/>
                </a:solidFill>
                <a:latin typeface="Arial"/>
              </a:rPr>
              <a:t>Best observed: GPT-5.5 7.31/10  |  Chess Q8 (1.7B): 2.86/10</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5" name="Rectangle 1"/>
          <p:cNvSpPr/>
          <p:nvPr/>
        </p:nvSpPr>
        <p:spPr>
          <a:xfrm>
            <a:off x="0" y="0"/>
            <a:ext cx="12191400" cy="11844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6" name="TextBox 2"/>
          <p:cNvSpPr/>
          <p:nvPr/>
        </p:nvSpPr>
        <p:spPr>
          <a:xfrm>
            <a:off x="548640" y="320040"/>
            <a:ext cx="10972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200" spc="-1" strike="noStrike">
                <a:solidFill>
                  <a:srgbClr val="007f86"/>
                </a:solidFill>
                <a:latin typeface="Arial"/>
              </a:rPr>
              <a:t>BLUNDERGUARD</a:t>
            </a:r>
            <a:endParaRPr b="0" lang="en-US" sz="1200" spc="-1" strike="noStrike">
              <a:solidFill>
                <a:srgbClr val="000000"/>
              </a:solidFill>
              <a:latin typeface="Arial"/>
            </a:endParaRPr>
          </a:p>
        </p:txBody>
      </p:sp>
      <p:sp>
        <p:nvSpPr>
          <p:cNvPr id="217" name="TextBox 3"/>
          <p:cNvSpPr/>
          <p:nvPr/>
        </p:nvSpPr>
        <p:spPr>
          <a:xfrm>
            <a:off x="548640" y="841320"/>
            <a:ext cx="1106388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100" spc="-1" strike="noStrike">
                <a:solidFill>
                  <a:srgbClr val="10283f"/>
                </a:solidFill>
                <a:latin typeface="Arial"/>
              </a:rPr>
              <a:t>A 1.7B model scores close to several larger models</a:t>
            </a:r>
            <a:endParaRPr b="0" lang="en-US" sz="3100" spc="-1" strike="noStrike">
              <a:solidFill>
                <a:srgbClr val="000000"/>
              </a:solidFill>
              <a:latin typeface="Arial"/>
            </a:endParaRPr>
          </a:p>
        </p:txBody>
      </p:sp>
      <p:sp>
        <p:nvSpPr>
          <p:cNvPr id="218" name="TextBox 4"/>
          <p:cNvSpPr/>
          <p:nvPr/>
        </p:nvSpPr>
        <p:spPr>
          <a:xfrm>
            <a:off x="548640" y="6510600"/>
            <a:ext cx="91436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000" spc="-1" strike="noStrike">
                <a:solidFill>
                  <a:srgbClr val="526576"/>
                </a:solidFill>
                <a:latin typeface="Arial"/>
              </a:rPr>
              <a:t>Shahid Beheshti University</a:t>
            </a:r>
            <a:endParaRPr b="0" lang="en-US" sz="1000" spc="-1" strike="noStrike">
              <a:solidFill>
                <a:srgbClr val="000000"/>
              </a:solidFill>
              <a:latin typeface="Arial"/>
            </a:endParaRPr>
          </a:p>
        </p:txBody>
      </p:sp>
      <p:sp>
        <p:nvSpPr>
          <p:cNvPr id="219" name="TextBox 5"/>
          <p:cNvSpPr/>
          <p:nvPr/>
        </p:nvSpPr>
        <p:spPr>
          <a:xfrm>
            <a:off x="10515600" y="6473880"/>
            <a:ext cx="109692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200" spc="-1" strike="noStrike">
                <a:solidFill>
                  <a:srgbClr val="526576"/>
                </a:solidFill>
                <a:latin typeface="Arial"/>
              </a:rPr>
              <a:t>9/12</a:t>
            </a:r>
            <a:endParaRPr b="0" lang="en-US" sz="1200" spc="-1" strike="noStrike">
              <a:solidFill>
                <a:srgbClr val="000000"/>
              </a:solidFill>
              <a:latin typeface="Arial"/>
            </a:endParaRPr>
          </a:p>
        </p:txBody>
      </p:sp>
      <p:sp>
        <p:nvSpPr>
          <p:cNvPr id="220" name="TextBox 6"/>
          <p:cNvSpPr/>
          <p:nvPr/>
        </p:nvSpPr>
        <p:spPr>
          <a:xfrm>
            <a:off x="731520" y="1783080"/>
            <a:ext cx="4205880" cy="4122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700" spc="-1" strike="noStrike">
                <a:solidFill>
                  <a:srgbClr val="007f86"/>
                </a:solidFill>
                <a:latin typeface="Arial"/>
              </a:rPr>
              <a:t>Qwen3-1.7B</a:t>
            </a:r>
            <a:endParaRPr b="0" lang="en-US" sz="2700" spc="-1" strike="noStrike">
              <a:solidFill>
                <a:srgbClr val="000000"/>
              </a:solidFill>
              <a:latin typeface="Arial"/>
            </a:endParaRPr>
          </a:p>
        </p:txBody>
      </p:sp>
      <p:sp>
        <p:nvSpPr>
          <p:cNvPr id="221" name="TextBox 7"/>
          <p:cNvSpPr/>
          <p:nvPr/>
        </p:nvSpPr>
        <p:spPr>
          <a:xfrm>
            <a:off x="731520" y="2514600"/>
            <a:ext cx="4205880" cy="6404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4200" spc="-1" strike="noStrike">
                <a:solidFill>
                  <a:srgbClr val="10283f"/>
                </a:solidFill>
                <a:latin typeface="Arial"/>
              </a:rPr>
              <a:t>2.86 / 10</a:t>
            </a:r>
            <a:endParaRPr b="0" lang="en-US" sz="4200" spc="-1" strike="noStrike">
              <a:solidFill>
                <a:srgbClr val="000000"/>
              </a:solidFill>
              <a:latin typeface="Arial"/>
            </a:endParaRPr>
          </a:p>
        </p:txBody>
      </p:sp>
      <p:sp>
        <p:nvSpPr>
          <p:cNvPr id="222" name="TextBox 8"/>
          <p:cNvSpPr/>
          <p:nvPr/>
        </p:nvSpPr>
        <p:spPr>
          <a:xfrm>
            <a:off x="731520" y="3520440"/>
            <a:ext cx="4114440" cy="13557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300" spc="-1" strike="noStrike">
                <a:solidFill>
                  <a:srgbClr val="10283f"/>
                </a:solidFill>
                <a:latin typeface="Arial"/>
              </a:rPr>
              <a:t>1.7 billion parameters</a:t>
            </a:r>
            <a:endParaRPr b="0" lang="en-US" sz="2300" spc="-1" strike="noStrike">
              <a:solidFill>
                <a:srgbClr val="000000"/>
              </a:solidFill>
              <a:latin typeface="Arial"/>
            </a:endParaRPr>
          </a:p>
          <a:p>
            <a:pPr defTabSz="457200">
              <a:lnSpc>
                <a:spcPct val="100000"/>
              </a:lnSpc>
              <a:spcAft>
                <a:spcPts val="1199"/>
              </a:spcAft>
            </a:pPr>
            <a:r>
              <a:rPr b="0" lang="en-US" sz="2300" spc="-1" strike="noStrike">
                <a:solidFill>
                  <a:srgbClr val="10283f"/>
                </a:solidFill>
                <a:latin typeface="Arial"/>
              </a:rPr>
              <a:t>Local GGUF inference</a:t>
            </a:r>
            <a:endParaRPr b="0" lang="en-US" sz="2300" spc="-1" strike="noStrike">
              <a:solidFill>
                <a:srgbClr val="000000"/>
              </a:solidFill>
              <a:latin typeface="Arial"/>
            </a:endParaRPr>
          </a:p>
          <a:p>
            <a:pPr defTabSz="457200">
              <a:lnSpc>
                <a:spcPct val="100000"/>
              </a:lnSpc>
              <a:spcAft>
                <a:spcPts val="1199"/>
              </a:spcAft>
            </a:pPr>
            <a:r>
              <a:rPr b="0" lang="en-US" sz="2300" spc="-1" strike="noStrike">
                <a:solidFill>
                  <a:srgbClr val="10283f"/>
                </a:solidFill>
                <a:latin typeface="Arial"/>
              </a:rPr>
              <a:t>Chess-domain adaptation</a:t>
            </a:r>
            <a:endParaRPr b="0" lang="en-US" sz="2300" spc="-1" strike="noStrike">
              <a:solidFill>
                <a:srgbClr val="000000"/>
              </a:solidFill>
              <a:latin typeface="Arial"/>
            </a:endParaRPr>
          </a:p>
        </p:txBody>
      </p:sp>
      <p:sp>
        <p:nvSpPr>
          <p:cNvPr id="223" name="TextBox 9"/>
          <p:cNvSpPr/>
          <p:nvPr/>
        </p:nvSpPr>
        <p:spPr>
          <a:xfrm>
            <a:off x="5074920" y="1847160"/>
            <a:ext cx="5303160" cy="3204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100" spc="-1" strike="noStrike">
                <a:solidFill>
                  <a:srgbClr val="007f86"/>
                </a:solidFill>
                <a:latin typeface="Arial"/>
              </a:rPr>
              <a:t>Chess Q8 · 1.7B</a:t>
            </a:r>
            <a:endParaRPr b="0" lang="en-US" sz="2100" spc="-1" strike="noStrike">
              <a:solidFill>
                <a:srgbClr val="000000"/>
              </a:solidFill>
              <a:latin typeface="Arial"/>
            </a:endParaRPr>
          </a:p>
        </p:txBody>
      </p:sp>
      <p:sp>
        <p:nvSpPr>
          <p:cNvPr id="224" name="Rectangle 10"/>
          <p:cNvSpPr/>
          <p:nvPr/>
        </p:nvSpPr>
        <p:spPr>
          <a:xfrm>
            <a:off x="5074920" y="2249280"/>
            <a:ext cx="1515600" cy="17352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5" name="TextBox 11"/>
          <p:cNvSpPr/>
          <p:nvPr/>
        </p:nvSpPr>
        <p:spPr>
          <a:xfrm>
            <a:off x="10561320" y="2121480"/>
            <a:ext cx="822600" cy="3355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200" spc="-1" strike="noStrike">
                <a:solidFill>
                  <a:srgbClr val="007f86"/>
                </a:solidFill>
                <a:latin typeface="Arial"/>
              </a:rPr>
              <a:t>2.86</a:t>
            </a:r>
            <a:endParaRPr b="0" lang="en-US" sz="2200" spc="-1" strike="noStrike">
              <a:solidFill>
                <a:srgbClr val="000000"/>
              </a:solidFill>
              <a:latin typeface="Arial"/>
            </a:endParaRPr>
          </a:p>
        </p:txBody>
      </p:sp>
      <p:sp>
        <p:nvSpPr>
          <p:cNvPr id="226" name="TextBox 12"/>
          <p:cNvSpPr/>
          <p:nvPr/>
        </p:nvSpPr>
        <p:spPr>
          <a:xfrm>
            <a:off x="5074920" y="2624400"/>
            <a:ext cx="5303160" cy="3204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100" spc="-1" strike="noStrike">
                <a:solidFill>
                  <a:srgbClr val="83a8ba"/>
                </a:solidFill>
                <a:latin typeface="Arial"/>
              </a:rPr>
              <a:t>Llama 3.2 · 3B</a:t>
            </a:r>
            <a:endParaRPr b="0" lang="en-US" sz="2100" spc="-1" strike="noStrike">
              <a:solidFill>
                <a:srgbClr val="000000"/>
              </a:solidFill>
              <a:latin typeface="Arial"/>
            </a:endParaRPr>
          </a:p>
        </p:txBody>
      </p:sp>
      <p:sp>
        <p:nvSpPr>
          <p:cNvPr id="227" name="Rectangle 13"/>
          <p:cNvSpPr/>
          <p:nvPr/>
        </p:nvSpPr>
        <p:spPr>
          <a:xfrm>
            <a:off x="5074920" y="3026520"/>
            <a:ext cx="1513800" cy="173520"/>
          </a:xfrm>
          <a:prstGeom prst="rect">
            <a:avLst/>
          </a:prstGeom>
          <a:solidFill>
            <a:srgbClr val="83a8b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8" name="TextBox 14"/>
          <p:cNvSpPr/>
          <p:nvPr/>
        </p:nvSpPr>
        <p:spPr>
          <a:xfrm>
            <a:off x="10561320" y="2898720"/>
            <a:ext cx="822600" cy="3355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200" spc="-1" strike="noStrike">
                <a:solidFill>
                  <a:srgbClr val="83a8ba"/>
                </a:solidFill>
                <a:latin typeface="Arial"/>
              </a:rPr>
              <a:t>2.86</a:t>
            </a:r>
            <a:endParaRPr b="0" lang="en-US" sz="2200" spc="-1" strike="noStrike">
              <a:solidFill>
                <a:srgbClr val="000000"/>
              </a:solidFill>
              <a:latin typeface="Arial"/>
            </a:endParaRPr>
          </a:p>
        </p:txBody>
      </p:sp>
      <p:sp>
        <p:nvSpPr>
          <p:cNvPr id="229" name="TextBox 15"/>
          <p:cNvSpPr/>
          <p:nvPr/>
        </p:nvSpPr>
        <p:spPr>
          <a:xfrm>
            <a:off x="5074920" y="3401640"/>
            <a:ext cx="5303160" cy="3204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100" spc="-1" strike="noStrike">
                <a:solidFill>
                  <a:srgbClr val="83a8ba"/>
                </a:solidFill>
                <a:latin typeface="Arial"/>
              </a:rPr>
              <a:t>Gemma 4 · 26B A4B</a:t>
            </a:r>
            <a:endParaRPr b="0" lang="en-US" sz="2100" spc="-1" strike="noStrike">
              <a:solidFill>
                <a:srgbClr val="000000"/>
              </a:solidFill>
              <a:latin typeface="Arial"/>
            </a:endParaRPr>
          </a:p>
        </p:txBody>
      </p:sp>
      <p:sp>
        <p:nvSpPr>
          <p:cNvPr id="230" name="Rectangle 16"/>
          <p:cNvSpPr/>
          <p:nvPr/>
        </p:nvSpPr>
        <p:spPr>
          <a:xfrm>
            <a:off x="5074920" y="3803760"/>
            <a:ext cx="1536840" cy="173520"/>
          </a:xfrm>
          <a:prstGeom prst="rect">
            <a:avLst/>
          </a:prstGeom>
          <a:solidFill>
            <a:srgbClr val="83a8b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1" name="TextBox 17"/>
          <p:cNvSpPr/>
          <p:nvPr/>
        </p:nvSpPr>
        <p:spPr>
          <a:xfrm>
            <a:off x="10561320" y="3675960"/>
            <a:ext cx="822600" cy="3355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200" spc="-1" strike="noStrike">
                <a:solidFill>
                  <a:srgbClr val="83a8ba"/>
                </a:solidFill>
                <a:latin typeface="Arial"/>
              </a:rPr>
              <a:t>2.90</a:t>
            </a:r>
            <a:endParaRPr b="0" lang="en-US" sz="2200" spc="-1" strike="noStrike">
              <a:solidFill>
                <a:srgbClr val="000000"/>
              </a:solidFill>
              <a:latin typeface="Arial"/>
            </a:endParaRPr>
          </a:p>
        </p:txBody>
      </p:sp>
      <p:sp>
        <p:nvSpPr>
          <p:cNvPr id="232" name="TextBox 18"/>
          <p:cNvSpPr/>
          <p:nvPr/>
        </p:nvSpPr>
        <p:spPr>
          <a:xfrm>
            <a:off x="5074920" y="4178880"/>
            <a:ext cx="5303160" cy="3204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100" spc="-1" strike="noStrike">
                <a:solidFill>
                  <a:srgbClr val="83a8ba"/>
                </a:solidFill>
                <a:latin typeface="Arial"/>
              </a:rPr>
              <a:t>Gemma 3 · 12B</a:t>
            </a:r>
            <a:endParaRPr b="0" lang="en-US" sz="2100" spc="-1" strike="noStrike">
              <a:solidFill>
                <a:srgbClr val="000000"/>
              </a:solidFill>
              <a:latin typeface="Arial"/>
            </a:endParaRPr>
          </a:p>
        </p:txBody>
      </p:sp>
      <p:sp>
        <p:nvSpPr>
          <p:cNvPr id="233" name="Rectangle 19"/>
          <p:cNvSpPr/>
          <p:nvPr/>
        </p:nvSpPr>
        <p:spPr>
          <a:xfrm>
            <a:off x="5074920" y="4581000"/>
            <a:ext cx="1561680" cy="173520"/>
          </a:xfrm>
          <a:prstGeom prst="rect">
            <a:avLst/>
          </a:prstGeom>
          <a:solidFill>
            <a:srgbClr val="83a8b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4" name="TextBox 20"/>
          <p:cNvSpPr/>
          <p:nvPr/>
        </p:nvSpPr>
        <p:spPr>
          <a:xfrm>
            <a:off x="10561320" y="4453200"/>
            <a:ext cx="822600" cy="3355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200" spc="-1" strike="noStrike">
                <a:solidFill>
                  <a:srgbClr val="83a8ba"/>
                </a:solidFill>
                <a:latin typeface="Arial"/>
              </a:rPr>
              <a:t>2.95</a:t>
            </a:r>
            <a:endParaRPr b="0" lang="en-US" sz="2200" spc="-1" strike="noStrike">
              <a:solidFill>
                <a:srgbClr val="000000"/>
              </a:solidFill>
              <a:latin typeface="Arial"/>
            </a:endParaRPr>
          </a:p>
        </p:txBody>
      </p:sp>
      <p:sp>
        <p:nvSpPr>
          <p:cNvPr id="235" name="TextBox 21"/>
          <p:cNvSpPr/>
          <p:nvPr/>
        </p:nvSpPr>
        <p:spPr>
          <a:xfrm>
            <a:off x="5074920" y="5212080"/>
            <a:ext cx="621756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600" spc="-1" strike="noStrike">
                <a:solidFill>
                  <a:srgbClr val="526576"/>
                </a:solidFill>
                <a:latin typeface="Arial"/>
              </a:rPr>
              <a:t>Mean score / 10 · same 60 positions and judge</a:t>
            </a:r>
            <a:endParaRPr b="0" lang="en-US" sz="1600" spc="-1" strike="noStrike">
              <a:solidFill>
                <a:srgbClr val="000000"/>
              </a:solidFill>
              <a:latin typeface="Arial"/>
            </a:endParaRPr>
          </a:p>
        </p:txBody>
      </p:sp>
      <p:sp>
        <p:nvSpPr>
          <p:cNvPr id="236" name="Rectangle 22"/>
          <p:cNvSpPr/>
          <p:nvPr/>
        </p:nvSpPr>
        <p:spPr>
          <a:xfrm>
            <a:off x="548640" y="5806440"/>
            <a:ext cx="11063880" cy="47520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7" name="TextBox 23"/>
          <p:cNvSpPr/>
          <p:nvPr/>
        </p:nvSpPr>
        <p:spPr>
          <a:xfrm>
            <a:off x="731520" y="5888880"/>
            <a:ext cx="1069812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8" name="Rectangle 1"/>
          <p:cNvSpPr/>
          <p:nvPr/>
        </p:nvSpPr>
        <p:spPr>
          <a:xfrm>
            <a:off x="0" y="0"/>
            <a:ext cx="12191400" cy="11844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9" name="TextBox 2"/>
          <p:cNvSpPr/>
          <p:nvPr/>
        </p:nvSpPr>
        <p:spPr>
          <a:xfrm>
            <a:off x="548640" y="320040"/>
            <a:ext cx="10972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200" spc="-1" strike="noStrike">
                <a:solidFill>
                  <a:srgbClr val="007f86"/>
                </a:solidFill>
                <a:latin typeface="Arial"/>
              </a:rPr>
              <a:t>BLUNDERGUARD</a:t>
            </a:r>
            <a:endParaRPr b="0" lang="en-US" sz="1200" spc="-1" strike="noStrike">
              <a:solidFill>
                <a:srgbClr val="000000"/>
              </a:solidFill>
              <a:latin typeface="Arial"/>
            </a:endParaRPr>
          </a:p>
        </p:txBody>
      </p:sp>
      <p:sp>
        <p:nvSpPr>
          <p:cNvPr id="240" name="TextBox 3"/>
          <p:cNvSpPr/>
          <p:nvPr/>
        </p:nvSpPr>
        <p:spPr>
          <a:xfrm>
            <a:off x="548640" y="841320"/>
            <a:ext cx="1106388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100" spc="-1" strike="noStrike">
                <a:solidFill>
                  <a:srgbClr val="10283f"/>
                </a:solidFill>
                <a:latin typeface="Arial"/>
              </a:rPr>
              <a:t>A real failure: the explanation names the wrong move</a:t>
            </a:r>
            <a:endParaRPr b="0" lang="en-US" sz="3100" spc="-1" strike="noStrike">
              <a:solidFill>
                <a:srgbClr val="000000"/>
              </a:solidFill>
              <a:latin typeface="Arial"/>
            </a:endParaRPr>
          </a:p>
        </p:txBody>
      </p:sp>
      <p:sp>
        <p:nvSpPr>
          <p:cNvPr id="241" name="TextBox 4"/>
          <p:cNvSpPr/>
          <p:nvPr/>
        </p:nvSpPr>
        <p:spPr>
          <a:xfrm>
            <a:off x="548640" y="6510600"/>
            <a:ext cx="91436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000" spc="-1" strike="noStrike">
                <a:solidFill>
                  <a:srgbClr val="526576"/>
                </a:solidFill>
                <a:latin typeface="Arial"/>
              </a:rPr>
              <a:t>Shahid Beheshti University</a:t>
            </a:r>
            <a:endParaRPr b="0" lang="en-US" sz="1000" spc="-1" strike="noStrike">
              <a:solidFill>
                <a:srgbClr val="000000"/>
              </a:solidFill>
              <a:latin typeface="Arial"/>
            </a:endParaRPr>
          </a:p>
        </p:txBody>
      </p:sp>
      <p:sp>
        <p:nvSpPr>
          <p:cNvPr id="242" name="TextBox 5"/>
          <p:cNvSpPr/>
          <p:nvPr/>
        </p:nvSpPr>
        <p:spPr>
          <a:xfrm>
            <a:off x="10515600" y="6473880"/>
            <a:ext cx="109692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200" spc="-1" strike="noStrike">
                <a:solidFill>
                  <a:srgbClr val="526576"/>
                </a:solidFill>
                <a:latin typeface="Arial"/>
              </a:rPr>
              <a:t>10/12</a:t>
            </a:r>
            <a:endParaRPr b="0" lang="en-US" sz="1200" spc="-1" strike="noStrike">
              <a:solidFill>
                <a:srgbClr val="000000"/>
              </a:solidFill>
              <a:latin typeface="Arial"/>
            </a:endParaRPr>
          </a:p>
        </p:txBody>
      </p:sp>
      <p:pic>
        <p:nvPicPr>
          <p:cNvPr id="243" name="Picture 6" descr="g1_m38__model_chess-q8_0.png"/>
          <p:cNvPicPr/>
          <p:nvPr/>
        </p:nvPicPr>
        <p:blipFill>
          <a:blip r:embed="rId1"/>
          <a:stretch/>
        </p:blipFill>
        <p:spPr>
          <a:xfrm>
            <a:off x="556560" y="1664280"/>
            <a:ext cx="6887880" cy="4663080"/>
          </a:xfrm>
          <a:prstGeom prst="rect">
            <a:avLst/>
          </a:prstGeom>
          <a:ln w="0">
            <a:noFill/>
          </a:ln>
        </p:spPr>
      </p:pic>
      <p:sp>
        <p:nvSpPr>
          <p:cNvPr id="244" name="TextBox 7"/>
          <p:cNvSpPr/>
          <p:nvPr/>
        </p:nvSpPr>
        <p:spPr>
          <a:xfrm>
            <a:off x="7772400" y="1783080"/>
            <a:ext cx="384012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500" spc="-1" strike="noStrike">
                <a:solidFill>
                  <a:srgbClr val="007f86"/>
                </a:solidFill>
                <a:latin typeface="Arial"/>
              </a:rPr>
              <a:t>Played move: Bxf8</a:t>
            </a:r>
            <a:endParaRPr b="0" lang="en-US" sz="2500" spc="-1" strike="noStrike">
              <a:solidFill>
                <a:srgbClr val="000000"/>
              </a:solidFill>
              <a:latin typeface="Arial"/>
            </a:endParaRPr>
          </a:p>
        </p:txBody>
      </p:sp>
      <p:sp>
        <p:nvSpPr>
          <p:cNvPr id="245" name="TextBox 8"/>
          <p:cNvSpPr/>
          <p:nvPr/>
        </p:nvSpPr>
        <p:spPr>
          <a:xfrm>
            <a:off x="7772400" y="2331720"/>
            <a:ext cx="3840120" cy="3052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000" spc="-1" strike="noStrike">
                <a:solidFill>
                  <a:srgbClr val="526576"/>
                </a:solidFill>
                <a:latin typeface="Arial"/>
              </a:rPr>
              <a:t>Model output (excerpt)</a:t>
            </a:r>
            <a:endParaRPr b="0" lang="en-US" sz="2000" spc="-1" strike="noStrike">
              <a:solidFill>
                <a:srgbClr val="000000"/>
              </a:solidFill>
              <a:latin typeface="Arial"/>
            </a:endParaRPr>
          </a:p>
        </p:txBody>
      </p:sp>
      <p:sp>
        <p:nvSpPr>
          <p:cNvPr id="246" name="TextBox 9"/>
          <p:cNvSpPr/>
          <p:nvPr/>
        </p:nvSpPr>
        <p:spPr>
          <a:xfrm>
            <a:off x="7772400" y="2880360"/>
            <a:ext cx="3840120" cy="11883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600" spc="-1" strike="noStrike">
                <a:solidFill>
                  <a:srgbClr val="ac493e"/>
                </a:solidFill>
                <a:latin typeface="Arial"/>
              </a:rPr>
              <a:t>“</a:t>
            </a:r>
            <a:r>
              <a:rPr b="1" lang="en-US" sz="2600" spc="-1" strike="noStrike">
                <a:solidFill>
                  <a:srgbClr val="ac493e"/>
                </a:solidFill>
                <a:latin typeface="Arial"/>
              </a:rPr>
              <a:t>White's move Nxe4 weakens Black's position…”</a:t>
            </a:r>
            <a:endParaRPr b="0" lang="en-US" sz="2600" spc="-1" strike="noStrike">
              <a:solidFill>
                <a:srgbClr val="000000"/>
              </a:solidFill>
              <a:latin typeface="Arial"/>
            </a:endParaRPr>
          </a:p>
        </p:txBody>
      </p:sp>
      <p:sp>
        <p:nvSpPr>
          <p:cNvPr id="247" name="TextBox 10"/>
          <p:cNvSpPr/>
          <p:nvPr/>
        </p:nvSpPr>
        <p:spPr>
          <a:xfrm>
            <a:off x="7772400" y="4434840"/>
            <a:ext cx="3840120" cy="13557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300" spc="-1" strike="noStrike">
                <a:solidFill>
                  <a:srgbClr val="10283f"/>
                </a:solidFill>
                <a:latin typeface="Arial"/>
              </a:rPr>
              <a:t>Correctness  0/10</a:t>
            </a:r>
            <a:endParaRPr b="0" lang="en-US" sz="2300" spc="-1" strike="noStrike">
              <a:solidFill>
                <a:srgbClr val="000000"/>
              </a:solidFill>
              <a:latin typeface="Arial"/>
            </a:endParaRPr>
          </a:p>
          <a:p>
            <a:pPr defTabSz="457200">
              <a:lnSpc>
                <a:spcPct val="100000"/>
              </a:lnSpc>
              <a:spcAft>
                <a:spcPts val="1199"/>
              </a:spcAft>
            </a:pPr>
            <a:r>
              <a:rPr b="0" lang="en-US" sz="2300" spc="-1" strike="noStrike">
                <a:solidFill>
                  <a:srgbClr val="10283f"/>
                </a:solidFill>
                <a:latin typeface="Arial"/>
              </a:rPr>
              <a:t>Faithfulness  0/10</a:t>
            </a:r>
            <a:endParaRPr b="0" lang="en-US" sz="2300" spc="-1" strike="noStrike">
              <a:solidFill>
                <a:srgbClr val="000000"/>
              </a:solidFill>
              <a:latin typeface="Arial"/>
            </a:endParaRPr>
          </a:p>
          <a:p>
            <a:pPr defTabSz="457200">
              <a:lnSpc>
                <a:spcPct val="100000"/>
              </a:lnSpc>
              <a:spcAft>
                <a:spcPts val="1199"/>
              </a:spcAft>
            </a:pPr>
            <a:r>
              <a:rPr b="0" lang="en-US" sz="2300" spc="-1" strike="noStrike">
                <a:solidFill>
                  <a:srgbClr val="10283f"/>
                </a:solidFill>
                <a:latin typeface="Arial"/>
              </a:rPr>
              <a:t>Fluency       10/10</a:t>
            </a:r>
            <a:endParaRPr b="0" lang="en-US" sz="2300" spc="-1" strike="noStrike">
              <a:solidFill>
                <a:srgbClr val="000000"/>
              </a:solidFill>
              <a:latin typeface="Arial"/>
            </a:endParaRPr>
          </a:p>
        </p:txBody>
      </p:sp>
      <p:sp>
        <p:nvSpPr>
          <p:cNvPr id="248" name="TextBox 11"/>
          <p:cNvSpPr/>
          <p:nvPr/>
        </p:nvSpPr>
        <p:spPr>
          <a:xfrm>
            <a:off x="7772400" y="5943600"/>
            <a:ext cx="384012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526576"/>
                </a:solidFill>
                <a:latin typeface="Arial"/>
              </a:rPr>
              <a:t>advanced / g1_m38 · overall 2.00/10</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9" name="Rectangle 1"/>
          <p:cNvSpPr/>
          <p:nvPr/>
        </p:nvSpPr>
        <p:spPr>
          <a:xfrm>
            <a:off x="0" y="0"/>
            <a:ext cx="12191400" cy="11844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0" name="TextBox 2"/>
          <p:cNvSpPr/>
          <p:nvPr/>
        </p:nvSpPr>
        <p:spPr>
          <a:xfrm>
            <a:off x="548640" y="320040"/>
            <a:ext cx="10972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200" spc="-1" strike="noStrike">
                <a:solidFill>
                  <a:srgbClr val="007f86"/>
                </a:solidFill>
                <a:latin typeface="Arial"/>
              </a:rPr>
              <a:t>BLUNDERGUARD</a:t>
            </a:r>
            <a:endParaRPr b="0" lang="en-US" sz="1200" spc="-1" strike="noStrike">
              <a:solidFill>
                <a:srgbClr val="000000"/>
              </a:solidFill>
              <a:latin typeface="Arial"/>
            </a:endParaRPr>
          </a:p>
        </p:txBody>
      </p:sp>
      <p:sp>
        <p:nvSpPr>
          <p:cNvPr id="251" name="TextBox 3"/>
          <p:cNvSpPr/>
          <p:nvPr/>
        </p:nvSpPr>
        <p:spPr>
          <a:xfrm>
            <a:off x="548640" y="841320"/>
            <a:ext cx="1106388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100" spc="-1" strike="noStrike">
                <a:solidFill>
                  <a:srgbClr val="10283f"/>
                </a:solidFill>
                <a:latin typeface="Arial"/>
              </a:rPr>
              <a:t>From this prototype to a more reliable chess coach</a:t>
            </a:r>
            <a:endParaRPr b="0" lang="en-US" sz="3100" spc="-1" strike="noStrike">
              <a:solidFill>
                <a:srgbClr val="000000"/>
              </a:solidFill>
              <a:latin typeface="Arial"/>
            </a:endParaRPr>
          </a:p>
        </p:txBody>
      </p:sp>
      <p:sp>
        <p:nvSpPr>
          <p:cNvPr id="252" name="TextBox 4"/>
          <p:cNvSpPr/>
          <p:nvPr/>
        </p:nvSpPr>
        <p:spPr>
          <a:xfrm>
            <a:off x="548640" y="6510600"/>
            <a:ext cx="91436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000" spc="-1" strike="noStrike">
                <a:solidFill>
                  <a:srgbClr val="526576"/>
                </a:solidFill>
                <a:latin typeface="Arial"/>
              </a:rPr>
              <a:t>Shahid Beheshti University</a:t>
            </a:r>
            <a:endParaRPr b="0" lang="en-US" sz="1000" spc="-1" strike="noStrike">
              <a:solidFill>
                <a:srgbClr val="000000"/>
              </a:solidFill>
              <a:latin typeface="Arial"/>
            </a:endParaRPr>
          </a:p>
        </p:txBody>
      </p:sp>
      <p:sp>
        <p:nvSpPr>
          <p:cNvPr id="253" name="TextBox 5"/>
          <p:cNvSpPr/>
          <p:nvPr/>
        </p:nvSpPr>
        <p:spPr>
          <a:xfrm>
            <a:off x="10515600" y="6473880"/>
            <a:ext cx="109692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200" spc="-1" strike="noStrike">
                <a:solidFill>
                  <a:srgbClr val="526576"/>
                </a:solidFill>
                <a:latin typeface="Arial"/>
              </a:rPr>
              <a:t>11/12</a:t>
            </a:r>
            <a:endParaRPr b="0" lang="en-US" sz="1200" spc="-1" strike="noStrike">
              <a:solidFill>
                <a:srgbClr val="000000"/>
              </a:solidFill>
              <a:latin typeface="Arial"/>
            </a:endParaRPr>
          </a:p>
        </p:txBody>
      </p:sp>
      <p:sp>
        <p:nvSpPr>
          <p:cNvPr id="254" name="Rectangle 6"/>
          <p:cNvSpPr/>
          <p:nvPr/>
        </p:nvSpPr>
        <p:spPr>
          <a:xfrm>
            <a:off x="640080" y="1874520"/>
            <a:ext cx="3245760" cy="347436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5" name="TextBox 7"/>
          <p:cNvSpPr/>
          <p:nvPr/>
        </p:nvSpPr>
        <p:spPr>
          <a:xfrm>
            <a:off x="822960" y="2057400"/>
            <a:ext cx="2834280" cy="5032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300" spc="-1" strike="noStrike">
                <a:solidFill>
                  <a:srgbClr val="007f86"/>
                </a:solidFill>
                <a:latin typeface="Arial"/>
              </a:rPr>
              <a:t>01</a:t>
            </a:r>
            <a:endParaRPr b="0" lang="en-US" sz="3300" spc="-1" strike="noStrike">
              <a:solidFill>
                <a:srgbClr val="000000"/>
              </a:solidFill>
              <a:latin typeface="Arial"/>
            </a:endParaRPr>
          </a:p>
        </p:txBody>
      </p:sp>
      <p:sp>
        <p:nvSpPr>
          <p:cNvPr id="256" name="TextBox 8"/>
          <p:cNvSpPr/>
          <p:nvPr/>
        </p:nvSpPr>
        <p:spPr>
          <a:xfrm>
            <a:off x="822960" y="2816280"/>
            <a:ext cx="2834280" cy="762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500" spc="-1" strike="noStrike">
                <a:solidFill>
                  <a:srgbClr val="10283f"/>
                </a:solidFill>
                <a:latin typeface="Arial"/>
              </a:rPr>
              <a:t>Ground the training</a:t>
            </a:r>
            <a:endParaRPr b="0" lang="en-US" sz="2500" spc="-1" strike="noStrike">
              <a:solidFill>
                <a:srgbClr val="000000"/>
              </a:solidFill>
              <a:latin typeface="Arial"/>
            </a:endParaRPr>
          </a:p>
        </p:txBody>
      </p:sp>
      <p:sp>
        <p:nvSpPr>
          <p:cNvPr id="257" name="TextBox 9"/>
          <p:cNvSpPr/>
          <p:nvPr/>
        </p:nvSpPr>
        <p:spPr>
          <a:xfrm>
            <a:off x="822960" y="3767400"/>
            <a:ext cx="2834280" cy="12034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300" spc="-1" strike="noStrike">
                <a:solidFill>
                  <a:srgbClr val="10283f"/>
                </a:solidFill>
                <a:latin typeface="Arial"/>
              </a:rPr>
              <a:t>Pair board positions with</a:t>
            </a:r>
            <a:endParaRPr b="0" lang="en-US" sz="2300" spc="-1" strike="noStrike">
              <a:solidFill>
                <a:srgbClr val="000000"/>
              </a:solidFill>
              <a:latin typeface="Arial"/>
            </a:endParaRPr>
          </a:p>
          <a:p>
            <a:pPr defTabSz="457200">
              <a:lnSpc>
                <a:spcPct val="100000"/>
              </a:lnSpc>
              <a:spcAft>
                <a:spcPts val="1199"/>
              </a:spcAft>
            </a:pPr>
            <a:r>
              <a:rPr b="0" lang="en-US" sz="2300" spc="-1" strike="noStrike">
                <a:solidFill>
                  <a:srgbClr val="10283f"/>
                </a:solidFill>
                <a:latin typeface="Arial"/>
              </a:rPr>
              <a:t>verified explanations</a:t>
            </a:r>
            <a:endParaRPr b="0" lang="en-US" sz="2300" spc="-1" strike="noStrike">
              <a:solidFill>
                <a:srgbClr val="000000"/>
              </a:solidFill>
              <a:latin typeface="Arial"/>
            </a:endParaRPr>
          </a:p>
        </p:txBody>
      </p:sp>
      <p:sp>
        <p:nvSpPr>
          <p:cNvPr id="258" name="Rectangle 10"/>
          <p:cNvSpPr/>
          <p:nvPr/>
        </p:nvSpPr>
        <p:spPr>
          <a:xfrm>
            <a:off x="4480560" y="1874520"/>
            <a:ext cx="3245760" cy="347436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9" name="TextBox 11"/>
          <p:cNvSpPr/>
          <p:nvPr/>
        </p:nvSpPr>
        <p:spPr>
          <a:xfrm>
            <a:off x="4663440" y="2057400"/>
            <a:ext cx="2834280" cy="5032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300" spc="-1" strike="noStrike">
                <a:solidFill>
                  <a:srgbClr val="007f86"/>
                </a:solidFill>
                <a:latin typeface="Arial"/>
              </a:rPr>
              <a:t>02</a:t>
            </a:r>
            <a:endParaRPr b="0" lang="en-US" sz="3300" spc="-1" strike="noStrike">
              <a:solidFill>
                <a:srgbClr val="000000"/>
              </a:solidFill>
              <a:latin typeface="Arial"/>
            </a:endParaRPr>
          </a:p>
        </p:txBody>
      </p:sp>
      <p:sp>
        <p:nvSpPr>
          <p:cNvPr id="260" name="TextBox 12"/>
          <p:cNvSpPr/>
          <p:nvPr/>
        </p:nvSpPr>
        <p:spPr>
          <a:xfrm>
            <a:off x="4663440" y="2816280"/>
            <a:ext cx="283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500" spc="-1" strike="noStrike">
                <a:solidFill>
                  <a:srgbClr val="10283f"/>
                </a:solidFill>
                <a:latin typeface="Arial"/>
              </a:rPr>
              <a:t>Verify the claims</a:t>
            </a:r>
            <a:endParaRPr b="0" lang="en-US" sz="2500" spc="-1" strike="noStrike">
              <a:solidFill>
                <a:srgbClr val="000000"/>
              </a:solidFill>
              <a:latin typeface="Arial"/>
            </a:endParaRPr>
          </a:p>
        </p:txBody>
      </p:sp>
      <p:sp>
        <p:nvSpPr>
          <p:cNvPr id="261" name="TextBox 13"/>
          <p:cNvSpPr/>
          <p:nvPr/>
        </p:nvSpPr>
        <p:spPr>
          <a:xfrm>
            <a:off x="4663440" y="3767400"/>
            <a:ext cx="2834280" cy="12034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300" spc="-1" strike="noStrike">
                <a:solidFill>
                  <a:srgbClr val="10283f"/>
                </a:solidFill>
                <a:latin typeface="Arial"/>
              </a:rPr>
              <a:t>Check moves and threats</a:t>
            </a:r>
            <a:endParaRPr b="0" lang="en-US" sz="2300" spc="-1" strike="noStrike">
              <a:solidFill>
                <a:srgbClr val="000000"/>
              </a:solidFill>
              <a:latin typeface="Arial"/>
            </a:endParaRPr>
          </a:p>
          <a:p>
            <a:pPr defTabSz="457200">
              <a:lnSpc>
                <a:spcPct val="100000"/>
              </a:lnSpc>
              <a:spcAft>
                <a:spcPts val="1199"/>
              </a:spcAft>
            </a:pPr>
            <a:r>
              <a:rPr b="0" lang="en-US" sz="2300" spc="-1" strike="noStrike">
                <a:solidFill>
                  <a:srgbClr val="10283f"/>
                </a:solidFill>
                <a:latin typeface="Arial"/>
              </a:rPr>
              <a:t>against chess tools</a:t>
            </a:r>
            <a:endParaRPr b="0" lang="en-US" sz="2300" spc="-1" strike="noStrike">
              <a:solidFill>
                <a:srgbClr val="000000"/>
              </a:solidFill>
              <a:latin typeface="Arial"/>
            </a:endParaRPr>
          </a:p>
        </p:txBody>
      </p:sp>
      <p:sp>
        <p:nvSpPr>
          <p:cNvPr id="262" name="Rectangle 14"/>
          <p:cNvSpPr/>
          <p:nvPr/>
        </p:nvSpPr>
        <p:spPr>
          <a:xfrm>
            <a:off x="8321040" y="1874520"/>
            <a:ext cx="3245760" cy="347436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3" name="TextBox 15"/>
          <p:cNvSpPr/>
          <p:nvPr/>
        </p:nvSpPr>
        <p:spPr>
          <a:xfrm>
            <a:off x="8503920" y="2057400"/>
            <a:ext cx="2834280" cy="5032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300" spc="-1" strike="noStrike">
                <a:solidFill>
                  <a:srgbClr val="007f86"/>
                </a:solidFill>
                <a:latin typeface="Arial"/>
              </a:rPr>
              <a:t>03</a:t>
            </a:r>
            <a:endParaRPr b="0" lang="en-US" sz="3300" spc="-1" strike="noStrike">
              <a:solidFill>
                <a:srgbClr val="000000"/>
              </a:solidFill>
              <a:latin typeface="Arial"/>
            </a:endParaRPr>
          </a:p>
        </p:txBody>
      </p:sp>
      <p:sp>
        <p:nvSpPr>
          <p:cNvPr id="264" name="TextBox 16"/>
          <p:cNvSpPr/>
          <p:nvPr/>
        </p:nvSpPr>
        <p:spPr>
          <a:xfrm>
            <a:off x="8503920" y="2816280"/>
            <a:ext cx="283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500" spc="-1" strike="noStrike">
                <a:solidFill>
                  <a:srgbClr val="10283f"/>
                </a:solidFill>
                <a:latin typeface="Arial"/>
              </a:rPr>
              <a:t>Test with people</a:t>
            </a:r>
            <a:endParaRPr b="0" lang="en-US" sz="2500" spc="-1" strike="noStrike">
              <a:solidFill>
                <a:srgbClr val="000000"/>
              </a:solidFill>
              <a:latin typeface="Arial"/>
            </a:endParaRPr>
          </a:p>
        </p:txBody>
      </p:sp>
      <p:sp>
        <p:nvSpPr>
          <p:cNvPr id="265" name="TextBox 17"/>
          <p:cNvSpPr/>
          <p:nvPr/>
        </p:nvSpPr>
        <p:spPr>
          <a:xfrm>
            <a:off x="8503920" y="3767400"/>
            <a:ext cx="2834280" cy="155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300" spc="-1" strike="noStrike">
                <a:solidFill>
                  <a:srgbClr val="10283f"/>
                </a:solidFill>
                <a:latin typeface="Arial"/>
              </a:rPr>
              <a:t>Expand the benchmark</a:t>
            </a:r>
            <a:endParaRPr b="0" lang="en-US" sz="2300" spc="-1" strike="noStrike">
              <a:solidFill>
                <a:srgbClr val="000000"/>
              </a:solidFill>
              <a:latin typeface="Arial"/>
            </a:endParaRPr>
          </a:p>
          <a:p>
            <a:pPr defTabSz="457200">
              <a:lnSpc>
                <a:spcPct val="100000"/>
              </a:lnSpc>
              <a:spcAft>
                <a:spcPts val="1199"/>
              </a:spcAft>
            </a:pPr>
            <a:r>
              <a:rPr b="0" lang="en-US" sz="2300" spc="-1" strike="noStrike">
                <a:solidFill>
                  <a:srgbClr val="10283f"/>
                </a:solidFill>
                <a:latin typeface="Arial"/>
              </a:rPr>
              <a:t>and add expert review</a:t>
            </a:r>
            <a:endParaRPr b="0" lang="en-US" sz="2300" spc="-1" strike="noStrike">
              <a:solidFill>
                <a:srgbClr val="000000"/>
              </a:solidFill>
              <a:latin typeface="Arial"/>
            </a:endParaRPr>
          </a:p>
        </p:txBody>
      </p:sp>
      <p:sp>
        <p:nvSpPr>
          <p:cNvPr id="266" name="Rectangle 18"/>
          <p:cNvSpPr/>
          <p:nvPr/>
        </p:nvSpPr>
        <p:spPr>
          <a:xfrm>
            <a:off x="548640" y="5806440"/>
            <a:ext cx="11063880" cy="47520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7" name="TextBox 19"/>
          <p:cNvSpPr/>
          <p:nvPr/>
        </p:nvSpPr>
        <p:spPr>
          <a:xfrm>
            <a:off x="731520" y="5888880"/>
            <a:ext cx="1069812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007f86"/>
                </a:solidFill>
                <a:latin typeface="Arial"/>
              </a:rPr>
              <a:t>Next experiment: compare base and adapted Qwen3-1.7B under identical settings.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8" name="Rectangle 1"/>
          <p:cNvSpPr/>
          <p:nvPr/>
        </p:nvSpPr>
        <p:spPr>
          <a:xfrm>
            <a:off x="0" y="0"/>
            <a:ext cx="12191400" cy="11844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9" name="TextBox 2"/>
          <p:cNvSpPr/>
          <p:nvPr/>
        </p:nvSpPr>
        <p:spPr>
          <a:xfrm>
            <a:off x="548640" y="320040"/>
            <a:ext cx="10972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200" spc="-1" strike="noStrike">
                <a:solidFill>
                  <a:srgbClr val="007f86"/>
                </a:solidFill>
                <a:latin typeface="Arial"/>
              </a:rPr>
              <a:t>BLUNDERGUARD</a:t>
            </a:r>
            <a:endParaRPr b="0" lang="en-US" sz="1200" spc="-1" strike="noStrike">
              <a:solidFill>
                <a:srgbClr val="000000"/>
              </a:solidFill>
              <a:latin typeface="Arial"/>
            </a:endParaRPr>
          </a:p>
        </p:txBody>
      </p:sp>
      <p:sp>
        <p:nvSpPr>
          <p:cNvPr id="270" name="TextBox 3"/>
          <p:cNvSpPr/>
          <p:nvPr/>
        </p:nvSpPr>
        <p:spPr>
          <a:xfrm>
            <a:off x="548640" y="841320"/>
            <a:ext cx="1106388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100" spc="-1" strike="noStrike">
                <a:solidFill>
                  <a:srgbClr val="10283f"/>
                </a:solidFill>
                <a:latin typeface="Arial"/>
              </a:rPr>
              <a:t>A small model, a practical starting point</a:t>
            </a:r>
            <a:endParaRPr b="0" lang="en-US" sz="3100" spc="-1" strike="noStrike">
              <a:solidFill>
                <a:srgbClr val="000000"/>
              </a:solidFill>
              <a:latin typeface="Arial"/>
            </a:endParaRPr>
          </a:p>
        </p:txBody>
      </p:sp>
      <p:sp>
        <p:nvSpPr>
          <p:cNvPr id="271" name="TextBox 4"/>
          <p:cNvSpPr/>
          <p:nvPr/>
        </p:nvSpPr>
        <p:spPr>
          <a:xfrm>
            <a:off x="548640" y="6510600"/>
            <a:ext cx="91436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000" spc="-1" strike="noStrike">
                <a:solidFill>
                  <a:srgbClr val="526576"/>
                </a:solidFill>
                <a:latin typeface="Arial"/>
              </a:rPr>
              <a:t>Shahid Beheshti University</a:t>
            </a:r>
            <a:endParaRPr b="0" lang="en-US" sz="1000" spc="-1" strike="noStrike">
              <a:solidFill>
                <a:srgbClr val="000000"/>
              </a:solidFill>
              <a:latin typeface="Arial"/>
            </a:endParaRPr>
          </a:p>
        </p:txBody>
      </p:sp>
      <p:sp>
        <p:nvSpPr>
          <p:cNvPr id="272" name="TextBox 5"/>
          <p:cNvSpPr/>
          <p:nvPr/>
        </p:nvSpPr>
        <p:spPr>
          <a:xfrm>
            <a:off x="10515600" y="6473880"/>
            <a:ext cx="109692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200" spc="-1" strike="noStrike">
                <a:solidFill>
                  <a:srgbClr val="526576"/>
                </a:solidFill>
                <a:latin typeface="Arial"/>
              </a:rPr>
              <a:t>12/12</a:t>
            </a:r>
            <a:endParaRPr b="0" lang="en-US" sz="1200" spc="-1" strike="noStrike">
              <a:solidFill>
                <a:srgbClr val="000000"/>
              </a:solidFill>
              <a:latin typeface="Arial"/>
            </a:endParaRPr>
          </a:p>
        </p:txBody>
      </p:sp>
      <p:sp>
        <p:nvSpPr>
          <p:cNvPr id="273" name="TextBox 6"/>
          <p:cNvSpPr/>
          <p:nvPr/>
        </p:nvSpPr>
        <p:spPr>
          <a:xfrm>
            <a:off x="731520" y="1828800"/>
            <a:ext cx="3657240" cy="8233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5400" spc="-1" strike="noStrike">
                <a:solidFill>
                  <a:srgbClr val="007f86"/>
                </a:solidFill>
                <a:latin typeface="Arial"/>
              </a:rPr>
              <a:t>1.7B</a:t>
            </a:r>
            <a:endParaRPr b="0" lang="en-US" sz="5400" spc="-1" strike="noStrike">
              <a:solidFill>
                <a:srgbClr val="000000"/>
              </a:solidFill>
              <a:latin typeface="Arial"/>
            </a:endParaRPr>
          </a:p>
        </p:txBody>
      </p:sp>
      <p:sp>
        <p:nvSpPr>
          <p:cNvPr id="274" name="TextBox 7"/>
          <p:cNvSpPr/>
          <p:nvPr/>
        </p:nvSpPr>
        <p:spPr>
          <a:xfrm>
            <a:off x="731520" y="2779920"/>
            <a:ext cx="402300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400" spc="-1" strike="noStrike">
                <a:solidFill>
                  <a:srgbClr val="10283f"/>
                </a:solidFill>
                <a:latin typeface="Arial"/>
              </a:rPr>
              <a:t>parameters · Qwen3</a:t>
            </a:r>
            <a:endParaRPr b="0" lang="en-US" sz="2400" spc="-1" strike="noStrike">
              <a:solidFill>
                <a:srgbClr val="000000"/>
              </a:solidFill>
              <a:latin typeface="Arial"/>
            </a:endParaRPr>
          </a:p>
        </p:txBody>
      </p:sp>
      <p:sp>
        <p:nvSpPr>
          <p:cNvPr id="275" name="TextBox 8"/>
          <p:cNvSpPr/>
          <p:nvPr/>
        </p:nvSpPr>
        <p:spPr>
          <a:xfrm>
            <a:off x="731520" y="3657600"/>
            <a:ext cx="4023000" cy="6098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4000" spc="-1" strike="noStrike">
                <a:solidFill>
                  <a:srgbClr val="10283f"/>
                </a:solidFill>
                <a:latin typeface="Arial"/>
              </a:rPr>
              <a:t>2.86 / 10</a:t>
            </a:r>
            <a:endParaRPr b="0" lang="en-US" sz="4000" spc="-1" strike="noStrike">
              <a:solidFill>
                <a:srgbClr val="000000"/>
              </a:solidFill>
              <a:latin typeface="Arial"/>
            </a:endParaRPr>
          </a:p>
        </p:txBody>
      </p:sp>
      <p:sp>
        <p:nvSpPr>
          <p:cNvPr id="276" name="TextBox 9"/>
          <p:cNvSpPr/>
          <p:nvPr/>
        </p:nvSpPr>
        <p:spPr>
          <a:xfrm>
            <a:off x="731520" y="4535280"/>
            <a:ext cx="4023000" cy="3355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200" spc="-1" strike="noStrike">
                <a:solidFill>
                  <a:srgbClr val="526576"/>
                </a:solidFill>
                <a:latin typeface="Arial"/>
              </a:rPr>
              <a:t>mean benchmark score</a:t>
            </a:r>
            <a:endParaRPr b="0" lang="en-US" sz="2200" spc="-1" strike="noStrike">
              <a:solidFill>
                <a:srgbClr val="000000"/>
              </a:solidFill>
              <a:latin typeface="Arial"/>
            </a:endParaRPr>
          </a:p>
        </p:txBody>
      </p:sp>
      <p:sp>
        <p:nvSpPr>
          <p:cNvPr id="277" name="TextBox 10"/>
          <p:cNvSpPr/>
          <p:nvPr/>
        </p:nvSpPr>
        <p:spPr>
          <a:xfrm>
            <a:off x="5212080" y="1920240"/>
            <a:ext cx="5943240" cy="4273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2800" spc="-1" strike="noStrike">
                <a:solidFill>
                  <a:srgbClr val="10283f"/>
                </a:solidFill>
                <a:latin typeface="Arial"/>
              </a:rPr>
              <a:t>What this project contributes</a:t>
            </a:r>
            <a:endParaRPr b="0" lang="en-US" sz="2800" spc="-1" strike="noStrike">
              <a:solidFill>
                <a:srgbClr val="000000"/>
              </a:solidFill>
              <a:latin typeface="Arial"/>
            </a:endParaRPr>
          </a:p>
        </p:txBody>
      </p:sp>
      <p:sp>
        <p:nvSpPr>
          <p:cNvPr id="278" name="TextBox 11"/>
          <p:cNvSpPr/>
          <p:nvPr/>
        </p:nvSpPr>
        <p:spPr>
          <a:xfrm>
            <a:off x="5212080" y="2788920"/>
            <a:ext cx="603468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400" spc="-1" strike="noStrike">
                <a:solidFill>
                  <a:srgbClr val="10283f"/>
                </a:solidFill>
                <a:latin typeface="Arial"/>
              </a:rPr>
              <a:t>An engine-guided commentary pipeline</a:t>
            </a:r>
            <a:endParaRPr b="0" lang="en-US" sz="2400" spc="-1" strike="noStrike">
              <a:solidFill>
                <a:srgbClr val="000000"/>
              </a:solidFill>
              <a:latin typeface="Arial"/>
            </a:endParaRPr>
          </a:p>
        </p:txBody>
      </p:sp>
      <p:sp>
        <p:nvSpPr>
          <p:cNvPr id="279" name="TextBox 12"/>
          <p:cNvSpPr/>
          <p:nvPr/>
        </p:nvSpPr>
        <p:spPr>
          <a:xfrm>
            <a:off x="5212080" y="3575160"/>
            <a:ext cx="603468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400" spc="-1" strike="noStrike">
                <a:solidFill>
                  <a:srgbClr val="10283f"/>
                </a:solidFill>
                <a:latin typeface="Arial"/>
              </a:rPr>
              <a:t>Scores close to selected larger models</a:t>
            </a:r>
            <a:endParaRPr b="0" lang="en-US" sz="2400" spc="-1" strike="noStrike">
              <a:solidFill>
                <a:srgbClr val="000000"/>
              </a:solidFill>
              <a:latin typeface="Arial"/>
            </a:endParaRPr>
          </a:p>
        </p:txBody>
      </p:sp>
      <p:sp>
        <p:nvSpPr>
          <p:cNvPr id="280" name="TextBox 13"/>
          <p:cNvSpPr/>
          <p:nvPr/>
        </p:nvSpPr>
        <p:spPr>
          <a:xfrm>
            <a:off x="5212080" y="4361760"/>
            <a:ext cx="603468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400" spc="-1" strike="noStrike">
                <a:solidFill>
                  <a:srgbClr val="10283f"/>
                </a:solidFill>
                <a:latin typeface="Arial"/>
              </a:rPr>
              <a:t>A clear path to improve factual accuracy</a:t>
            </a:r>
            <a:endParaRPr b="0" lang="en-US" sz="2400" spc="-1" strike="noStrike">
              <a:solidFill>
                <a:srgbClr val="000000"/>
              </a:solidFill>
              <a:latin typeface="Arial"/>
            </a:endParaRPr>
          </a:p>
        </p:txBody>
      </p:sp>
      <p:sp>
        <p:nvSpPr>
          <p:cNvPr id="281" name="TextBox 14"/>
          <p:cNvSpPr/>
          <p:nvPr/>
        </p:nvSpPr>
        <p:spPr>
          <a:xfrm>
            <a:off x="731520" y="5623560"/>
            <a:ext cx="4571640" cy="4575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000" spc="-1" strike="noStrike">
                <a:solidFill>
                  <a:srgbClr val="007f86"/>
                </a:solidFill>
                <a:latin typeface="Arial"/>
              </a:rPr>
              <a:t>Thank you</a:t>
            </a:r>
            <a:endParaRPr b="0" lang="en-US" sz="3000" spc="-1" strike="noStrike">
              <a:solidFill>
                <a:srgbClr val="000000"/>
              </a:solidFill>
              <a:latin typeface="Arial"/>
            </a:endParaRPr>
          </a:p>
        </p:txBody>
      </p:sp>
      <p:sp>
        <p:nvSpPr>
          <p:cNvPr id="282" name="TextBox 15"/>
          <p:cNvSpPr/>
          <p:nvPr/>
        </p:nvSpPr>
        <p:spPr>
          <a:xfrm>
            <a:off x="5212080" y="5715000"/>
            <a:ext cx="603468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400" spc="-1" strike="noStrike">
                <a:solidFill>
                  <a:srgbClr val="526576"/>
                </a:solidFill>
                <a:latin typeface="Arial"/>
              </a:rPr>
              <a:t>Questions &amp; discussion</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fffff"/>
        </a:solidFill>
      </p:bgPr>
    </p:bg>
    <p:spTree>
      <p:nvGrpSpPr>
        <p:cNvPr id="1" name=""/>
        <p:cNvGrpSpPr/>
        <p:nvPr/>
      </p:nvGrpSpPr>
      <p:grpSpPr>
        <a:xfrm>
          <a:off x="0" y="0"/>
          <a:ext cx="0" cy="0"/>
          <a:chOff x="0" y="0"/>
          <a:chExt cx="0" cy="0"/>
        </a:xfrm>
      </p:grpSpPr>
      <p:sp>
        <p:nvSpPr>
          <p:cNvPr id="283" name="Rectangle 1"/>
          <p:cNvSpPr/>
          <p:nvPr/>
        </p:nvSpPr>
        <p:spPr>
          <a:xfrm>
            <a:off x="0" y="0"/>
            <a:ext cx="12191400" cy="11844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4" name="TextBox 2"/>
          <p:cNvSpPr/>
          <p:nvPr/>
        </p:nvSpPr>
        <p:spPr>
          <a:xfrm>
            <a:off x="548640" y="320040"/>
            <a:ext cx="10972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200" spc="-1" strike="noStrike">
                <a:solidFill>
                  <a:srgbClr val="007f86"/>
                </a:solidFill>
                <a:latin typeface="Arial"/>
              </a:rPr>
              <a:t>BACKUP / RESULTS</a:t>
            </a:r>
            <a:endParaRPr b="0" lang="en-US" sz="1200" spc="-1" strike="noStrike">
              <a:solidFill>
                <a:srgbClr val="000000"/>
              </a:solidFill>
              <a:latin typeface="Arial"/>
            </a:endParaRPr>
          </a:p>
        </p:txBody>
      </p:sp>
      <p:sp>
        <p:nvSpPr>
          <p:cNvPr id="285" name="TextBox 3"/>
          <p:cNvSpPr/>
          <p:nvPr/>
        </p:nvSpPr>
        <p:spPr>
          <a:xfrm>
            <a:off x="548640" y="841320"/>
            <a:ext cx="1106388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100" spc="-1" strike="noStrike">
                <a:solidFill>
                  <a:srgbClr val="10283f"/>
                </a:solidFill>
                <a:latin typeface="Arial"/>
              </a:rPr>
              <a:t>Full metric breakdown</a:t>
            </a:r>
            <a:endParaRPr b="0" lang="en-US" sz="3100" spc="-1" strike="noStrike">
              <a:solidFill>
                <a:srgbClr val="000000"/>
              </a:solidFill>
              <a:latin typeface="Arial"/>
            </a:endParaRPr>
          </a:p>
        </p:txBody>
      </p:sp>
      <p:sp>
        <p:nvSpPr>
          <p:cNvPr id="286" name="TextBox 4"/>
          <p:cNvSpPr/>
          <p:nvPr/>
        </p:nvSpPr>
        <p:spPr>
          <a:xfrm>
            <a:off x="548640" y="6510600"/>
            <a:ext cx="91436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000" spc="-1" strike="noStrike">
                <a:solidFill>
                  <a:srgbClr val="526576"/>
                </a:solidFill>
                <a:latin typeface="Arial"/>
              </a:rPr>
              <a:t>Shahid Beheshti University</a:t>
            </a:r>
            <a:endParaRPr b="0" lang="en-US" sz="1000" spc="-1" strike="noStrike">
              <a:solidFill>
                <a:srgbClr val="000000"/>
              </a:solidFill>
              <a:latin typeface="Arial"/>
            </a:endParaRPr>
          </a:p>
        </p:txBody>
      </p:sp>
      <p:sp>
        <p:nvSpPr>
          <p:cNvPr id="287" name="TextBox 5"/>
          <p:cNvSpPr/>
          <p:nvPr/>
        </p:nvSpPr>
        <p:spPr>
          <a:xfrm>
            <a:off x="10515600" y="6473880"/>
            <a:ext cx="109692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200" spc="-1" strike="noStrike">
                <a:solidFill>
                  <a:srgbClr val="526576"/>
                </a:solidFill>
                <a:latin typeface="Arial"/>
              </a:rPr>
              <a:t>BACKUP</a:t>
            </a:r>
            <a:endParaRPr b="0" lang="en-US" sz="1200" spc="-1" strike="noStrike">
              <a:solidFill>
                <a:srgbClr val="000000"/>
              </a:solidFill>
              <a:latin typeface="Arial"/>
            </a:endParaRPr>
          </a:p>
        </p:txBody>
      </p:sp>
      <p:sp>
        <p:nvSpPr>
          <p:cNvPr id="288" name="TextBox 6"/>
          <p:cNvSpPr/>
          <p:nvPr/>
        </p:nvSpPr>
        <p:spPr>
          <a:xfrm>
            <a:off x="685800" y="1737360"/>
            <a:ext cx="384012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600" spc="-1" strike="noStrike">
                <a:solidFill>
                  <a:srgbClr val="007f86"/>
                </a:solidFill>
                <a:latin typeface="Arial"/>
              </a:rPr>
              <a:t>Model</a:t>
            </a:r>
            <a:endParaRPr b="0" lang="en-US" sz="1600" spc="-1" strike="noStrike">
              <a:solidFill>
                <a:srgbClr val="000000"/>
              </a:solidFill>
              <a:latin typeface="Arial"/>
            </a:endParaRPr>
          </a:p>
        </p:txBody>
      </p:sp>
      <p:sp>
        <p:nvSpPr>
          <p:cNvPr id="289" name="TextBox 7"/>
          <p:cNvSpPr/>
          <p:nvPr/>
        </p:nvSpPr>
        <p:spPr>
          <a:xfrm>
            <a:off x="4663440" y="1737360"/>
            <a:ext cx="10054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600" spc="-1" strike="noStrike">
                <a:solidFill>
                  <a:srgbClr val="007f86"/>
                </a:solidFill>
                <a:latin typeface="Arial"/>
              </a:rPr>
              <a:t>Correct</a:t>
            </a:r>
            <a:endParaRPr b="0" lang="en-US" sz="1600" spc="-1" strike="noStrike">
              <a:solidFill>
                <a:srgbClr val="000000"/>
              </a:solidFill>
              <a:latin typeface="Arial"/>
            </a:endParaRPr>
          </a:p>
        </p:txBody>
      </p:sp>
      <p:sp>
        <p:nvSpPr>
          <p:cNvPr id="290" name="TextBox 8"/>
          <p:cNvSpPr/>
          <p:nvPr/>
        </p:nvSpPr>
        <p:spPr>
          <a:xfrm>
            <a:off x="5760720" y="1737360"/>
            <a:ext cx="10054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600" spc="-1" strike="noStrike">
                <a:solidFill>
                  <a:srgbClr val="007f86"/>
                </a:solidFill>
                <a:latin typeface="Arial"/>
              </a:rPr>
              <a:t>Faithful</a:t>
            </a:r>
            <a:endParaRPr b="0" lang="en-US" sz="1600" spc="-1" strike="noStrike">
              <a:solidFill>
                <a:srgbClr val="000000"/>
              </a:solidFill>
              <a:latin typeface="Arial"/>
            </a:endParaRPr>
          </a:p>
        </p:txBody>
      </p:sp>
      <p:sp>
        <p:nvSpPr>
          <p:cNvPr id="291" name="TextBox 9"/>
          <p:cNvSpPr/>
          <p:nvPr/>
        </p:nvSpPr>
        <p:spPr>
          <a:xfrm>
            <a:off x="6858000" y="1737360"/>
            <a:ext cx="10054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600" spc="-1" strike="noStrike">
                <a:solidFill>
                  <a:srgbClr val="007f86"/>
                </a:solidFill>
                <a:latin typeface="Arial"/>
              </a:rPr>
              <a:t>Helpful</a:t>
            </a:r>
            <a:endParaRPr b="0" lang="en-US" sz="1600" spc="-1" strike="noStrike">
              <a:solidFill>
                <a:srgbClr val="000000"/>
              </a:solidFill>
              <a:latin typeface="Arial"/>
            </a:endParaRPr>
          </a:p>
        </p:txBody>
      </p:sp>
      <p:sp>
        <p:nvSpPr>
          <p:cNvPr id="292" name="TextBox 10"/>
          <p:cNvSpPr/>
          <p:nvPr/>
        </p:nvSpPr>
        <p:spPr>
          <a:xfrm>
            <a:off x="7955280" y="1737360"/>
            <a:ext cx="10054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600" spc="-1" strike="noStrike">
                <a:solidFill>
                  <a:srgbClr val="007f86"/>
                </a:solidFill>
                <a:latin typeface="Arial"/>
              </a:rPr>
              <a:t>Instr.</a:t>
            </a:r>
            <a:endParaRPr b="0" lang="en-US" sz="1600" spc="-1" strike="noStrike">
              <a:solidFill>
                <a:srgbClr val="000000"/>
              </a:solidFill>
              <a:latin typeface="Arial"/>
            </a:endParaRPr>
          </a:p>
        </p:txBody>
      </p:sp>
      <p:sp>
        <p:nvSpPr>
          <p:cNvPr id="293" name="TextBox 11"/>
          <p:cNvSpPr/>
          <p:nvPr/>
        </p:nvSpPr>
        <p:spPr>
          <a:xfrm>
            <a:off x="9052560" y="1737360"/>
            <a:ext cx="10054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600" spc="-1" strike="noStrike">
                <a:solidFill>
                  <a:srgbClr val="007f86"/>
                </a:solidFill>
                <a:latin typeface="Arial"/>
              </a:rPr>
              <a:t>Fluent</a:t>
            </a:r>
            <a:endParaRPr b="0" lang="en-US" sz="1600" spc="-1" strike="noStrike">
              <a:solidFill>
                <a:srgbClr val="000000"/>
              </a:solidFill>
              <a:latin typeface="Arial"/>
            </a:endParaRPr>
          </a:p>
        </p:txBody>
      </p:sp>
      <p:sp>
        <p:nvSpPr>
          <p:cNvPr id="294" name="TextBox 12"/>
          <p:cNvSpPr/>
          <p:nvPr/>
        </p:nvSpPr>
        <p:spPr>
          <a:xfrm>
            <a:off x="10149840" y="1737360"/>
            <a:ext cx="1005480" cy="2440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600" spc="-1" strike="noStrike">
                <a:solidFill>
                  <a:srgbClr val="007f86"/>
                </a:solidFill>
                <a:latin typeface="Arial"/>
              </a:rPr>
              <a:t>Overall</a:t>
            </a:r>
            <a:endParaRPr b="0" lang="en-US" sz="1600" spc="-1" strike="noStrike">
              <a:solidFill>
                <a:srgbClr val="000000"/>
              </a:solidFill>
              <a:latin typeface="Arial"/>
            </a:endParaRPr>
          </a:p>
        </p:txBody>
      </p:sp>
      <p:sp>
        <p:nvSpPr>
          <p:cNvPr id="295" name="Rectangle 13"/>
          <p:cNvSpPr/>
          <p:nvPr/>
        </p:nvSpPr>
        <p:spPr>
          <a:xfrm>
            <a:off x="594360" y="2171880"/>
            <a:ext cx="10972440" cy="31068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6" name="TextBox 14"/>
          <p:cNvSpPr/>
          <p:nvPr/>
        </p:nvSpPr>
        <p:spPr>
          <a:xfrm>
            <a:off x="685800" y="2194560"/>
            <a:ext cx="384012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GPT-5.5</a:t>
            </a:r>
            <a:endParaRPr b="0" lang="en-US" sz="1500" spc="-1" strike="noStrike">
              <a:solidFill>
                <a:srgbClr val="000000"/>
              </a:solidFill>
              <a:latin typeface="Arial"/>
            </a:endParaRPr>
          </a:p>
        </p:txBody>
      </p:sp>
      <p:sp>
        <p:nvSpPr>
          <p:cNvPr id="297" name="TextBox 15"/>
          <p:cNvSpPr/>
          <p:nvPr/>
        </p:nvSpPr>
        <p:spPr>
          <a:xfrm>
            <a:off x="4663440" y="219456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6.28</a:t>
            </a:r>
            <a:endParaRPr b="0" lang="en-US" sz="1500" spc="-1" strike="noStrike">
              <a:solidFill>
                <a:srgbClr val="000000"/>
              </a:solidFill>
              <a:latin typeface="Arial"/>
            </a:endParaRPr>
          </a:p>
        </p:txBody>
      </p:sp>
      <p:sp>
        <p:nvSpPr>
          <p:cNvPr id="298" name="TextBox 16"/>
          <p:cNvSpPr/>
          <p:nvPr/>
        </p:nvSpPr>
        <p:spPr>
          <a:xfrm>
            <a:off x="5760720" y="219456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6.43</a:t>
            </a:r>
            <a:endParaRPr b="0" lang="en-US" sz="1500" spc="-1" strike="noStrike">
              <a:solidFill>
                <a:srgbClr val="000000"/>
              </a:solidFill>
              <a:latin typeface="Arial"/>
            </a:endParaRPr>
          </a:p>
        </p:txBody>
      </p:sp>
      <p:sp>
        <p:nvSpPr>
          <p:cNvPr id="299" name="TextBox 17"/>
          <p:cNvSpPr/>
          <p:nvPr/>
        </p:nvSpPr>
        <p:spPr>
          <a:xfrm>
            <a:off x="6858000" y="219456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7.57</a:t>
            </a:r>
            <a:endParaRPr b="0" lang="en-US" sz="1500" spc="-1" strike="noStrike">
              <a:solidFill>
                <a:srgbClr val="000000"/>
              </a:solidFill>
              <a:latin typeface="Arial"/>
            </a:endParaRPr>
          </a:p>
        </p:txBody>
      </p:sp>
      <p:sp>
        <p:nvSpPr>
          <p:cNvPr id="300" name="TextBox 18"/>
          <p:cNvSpPr/>
          <p:nvPr/>
        </p:nvSpPr>
        <p:spPr>
          <a:xfrm>
            <a:off x="7955280" y="219456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9.85</a:t>
            </a:r>
            <a:endParaRPr b="0" lang="en-US" sz="1500" spc="-1" strike="noStrike">
              <a:solidFill>
                <a:srgbClr val="000000"/>
              </a:solidFill>
              <a:latin typeface="Arial"/>
            </a:endParaRPr>
          </a:p>
        </p:txBody>
      </p:sp>
      <p:sp>
        <p:nvSpPr>
          <p:cNvPr id="301" name="TextBox 19"/>
          <p:cNvSpPr/>
          <p:nvPr/>
        </p:nvSpPr>
        <p:spPr>
          <a:xfrm>
            <a:off x="9052560" y="219456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10.00</a:t>
            </a:r>
            <a:endParaRPr b="0" lang="en-US" sz="1500" spc="-1" strike="noStrike">
              <a:solidFill>
                <a:srgbClr val="000000"/>
              </a:solidFill>
              <a:latin typeface="Arial"/>
            </a:endParaRPr>
          </a:p>
        </p:txBody>
      </p:sp>
      <p:sp>
        <p:nvSpPr>
          <p:cNvPr id="302" name="TextBox 20"/>
          <p:cNvSpPr/>
          <p:nvPr/>
        </p:nvSpPr>
        <p:spPr>
          <a:xfrm>
            <a:off x="10149840" y="219456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7.31</a:t>
            </a:r>
            <a:endParaRPr b="0" lang="en-US" sz="1500" spc="-1" strike="noStrike">
              <a:solidFill>
                <a:srgbClr val="000000"/>
              </a:solidFill>
              <a:latin typeface="Arial"/>
            </a:endParaRPr>
          </a:p>
        </p:txBody>
      </p:sp>
      <p:sp>
        <p:nvSpPr>
          <p:cNvPr id="303" name="TextBox 21"/>
          <p:cNvSpPr/>
          <p:nvPr/>
        </p:nvSpPr>
        <p:spPr>
          <a:xfrm>
            <a:off x="685800" y="2514600"/>
            <a:ext cx="384012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Qwen3.7 Plus</a:t>
            </a:r>
            <a:endParaRPr b="0" lang="en-US" sz="1500" spc="-1" strike="noStrike">
              <a:solidFill>
                <a:srgbClr val="000000"/>
              </a:solidFill>
              <a:latin typeface="Arial"/>
            </a:endParaRPr>
          </a:p>
        </p:txBody>
      </p:sp>
      <p:sp>
        <p:nvSpPr>
          <p:cNvPr id="304" name="TextBox 22"/>
          <p:cNvSpPr/>
          <p:nvPr/>
        </p:nvSpPr>
        <p:spPr>
          <a:xfrm>
            <a:off x="4663440" y="251460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5.30</a:t>
            </a:r>
            <a:endParaRPr b="0" lang="en-US" sz="1500" spc="-1" strike="noStrike">
              <a:solidFill>
                <a:srgbClr val="000000"/>
              </a:solidFill>
              <a:latin typeface="Arial"/>
            </a:endParaRPr>
          </a:p>
        </p:txBody>
      </p:sp>
      <p:sp>
        <p:nvSpPr>
          <p:cNvPr id="305" name="TextBox 23"/>
          <p:cNvSpPr/>
          <p:nvPr/>
        </p:nvSpPr>
        <p:spPr>
          <a:xfrm>
            <a:off x="5760720" y="251460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5.27</a:t>
            </a:r>
            <a:endParaRPr b="0" lang="en-US" sz="1500" spc="-1" strike="noStrike">
              <a:solidFill>
                <a:srgbClr val="000000"/>
              </a:solidFill>
              <a:latin typeface="Arial"/>
            </a:endParaRPr>
          </a:p>
        </p:txBody>
      </p:sp>
      <p:sp>
        <p:nvSpPr>
          <p:cNvPr id="306" name="TextBox 24"/>
          <p:cNvSpPr/>
          <p:nvPr/>
        </p:nvSpPr>
        <p:spPr>
          <a:xfrm>
            <a:off x="6858000" y="251460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6.63</a:t>
            </a:r>
            <a:endParaRPr b="0" lang="en-US" sz="1500" spc="-1" strike="noStrike">
              <a:solidFill>
                <a:srgbClr val="000000"/>
              </a:solidFill>
              <a:latin typeface="Arial"/>
            </a:endParaRPr>
          </a:p>
        </p:txBody>
      </p:sp>
      <p:sp>
        <p:nvSpPr>
          <p:cNvPr id="307" name="TextBox 25"/>
          <p:cNvSpPr/>
          <p:nvPr/>
        </p:nvSpPr>
        <p:spPr>
          <a:xfrm>
            <a:off x="7955280" y="251460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10.00</a:t>
            </a:r>
            <a:endParaRPr b="0" lang="en-US" sz="1500" spc="-1" strike="noStrike">
              <a:solidFill>
                <a:srgbClr val="000000"/>
              </a:solidFill>
              <a:latin typeface="Arial"/>
            </a:endParaRPr>
          </a:p>
        </p:txBody>
      </p:sp>
      <p:sp>
        <p:nvSpPr>
          <p:cNvPr id="308" name="TextBox 26"/>
          <p:cNvSpPr/>
          <p:nvPr/>
        </p:nvSpPr>
        <p:spPr>
          <a:xfrm>
            <a:off x="9052560" y="251460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10.00</a:t>
            </a:r>
            <a:endParaRPr b="0" lang="en-US" sz="1500" spc="-1" strike="noStrike">
              <a:solidFill>
                <a:srgbClr val="000000"/>
              </a:solidFill>
              <a:latin typeface="Arial"/>
            </a:endParaRPr>
          </a:p>
        </p:txBody>
      </p:sp>
      <p:sp>
        <p:nvSpPr>
          <p:cNvPr id="309" name="TextBox 27"/>
          <p:cNvSpPr/>
          <p:nvPr/>
        </p:nvSpPr>
        <p:spPr>
          <a:xfrm>
            <a:off x="10149840" y="251460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6.50</a:t>
            </a:r>
            <a:endParaRPr b="0" lang="en-US" sz="1500" spc="-1" strike="noStrike">
              <a:solidFill>
                <a:srgbClr val="000000"/>
              </a:solidFill>
              <a:latin typeface="Arial"/>
            </a:endParaRPr>
          </a:p>
        </p:txBody>
      </p:sp>
      <p:sp>
        <p:nvSpPr>
          <p:cNvPr id="310" name="Rectangle 28"/>
          <p:cNvSpPr/>
          <p:nvPr/>
        </p:nvSpPr>
        <p:spPr>
          <a:xfrm>
            <a:off x="594360" y="2811600"/>
            <a:ext cx="10972440" cy="31068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11" name="TextBox 29"/>
          <p:cNvSpPr/>
          <p:nvPr/>
        </p:nvSpPr>
        <p:spPr>
          <a:xfrm>
            <a:off x="685800" y="2834640"/>
            <a:ext cx="384012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Gemini 3.5 Flash</a:t>
            </a:r>
            <a:endParaRPr b="0" lang="en-US" sz="1500" spc="-1" strike="noStrike">
              <a:solidFill>
                <a:srgbClr val="000000"/>
              </a:solidFill>
              <a:latin typeface="Arial"/>
            </a:endParaRPr>
          </a:p>
        </p:txBody>
      </p:sp>
      <p:sp>
        <p:nvSpPr>
          <p:cNvPr id="312" name="TextBox 30"/>
          <p:cNvSpPr/>
          <p:nvPr/>
        </p:nvSpPr>
        <p:spPr>
          <a:xfrm>
            <a:off x="4663440" y="283464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5.15</a:t>
            </a:r>
            <a:endParaRPr b="0" lang="en-US" sz="1500" spc="-1" strike="noStrike">
              <a:solidFill>
                <a:srgbClr val="000000"/>
              </a:solidFill>
              <a:latin typeface="Arial"/>
            </a:endParaRPr>
          </a:p>
        </p:txBody>
      </p:sp>
      <p:sp>
        <p:nvSpPr>
          <p:cNvPr id="313" name="TextBox 31"/>
          <p:cNvSpPr/>
          <p:nvPr/>
        </p:nvSpPr>
        <p:spPr>
          <a:xfrm>
            <a:off x="5760720" y="283464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5.27</a:t>
            </a:r>
            <a:endParaRPr b="0" lang="en-US" sz="1500" spc="-1" strike="noStrike">
              <a:solidFill>
                <a:srgbClr val="000000"/>
              </a:solidFill>
              <a:latin typeface="Arial"/>
            </a:endParaRPr>
          </a:p>
        </p:txBody>
      </p:sp>
      <p:sp>
        <p:nvSpPr>
          <p:cNvPr id="314" name="TextBox 32"/>
          <p:cNvSpPr/>
          <p:nvPr/>
        </p:nvSpPr>
        <p:spPr>
          <a:xfrm>
            <a:off x="6858000" y="283464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6.70</a:t>
            </a:r>
            <a:endParaRPr b="0" lang="en-US" sz="1500" spc="-1" strike="noStrike">
              <a:solidFill>
                <a:srgbClr val="000000"/>
              </a:solidFill>
              <a:latin typeface="Arial"/>
            </a:endParaRPr>
          </a:p>
        </p:txBody>
      </p:sp>
      <p:sp>
        <p:nvSpPr>
          <p:cNvPr id="315" name="TextBox 33"/>
          <p:cNvSpPr/>
          <p:nvPr/>
        </p:nvSpPr>
        <p:spPr>
          <a:xfrm>
            <a:off x="7955280" y="283464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9.97</a:t>
            </a:r>
            <a:endParaRPr b="0" lang="en-US" sz="1500" spc="-1" strike="noStrike">
              <a:solidFill>
                <a:srgbClr val="000000"/>
              </a:solidFill>
              <a:latin typeface="Arial"/>
            </a:endParaRPr>
          </a:p>
        </p:txBody>
      </p:sp>
      <p:sp>
        <p:nvSpPr>
          <p:cNvPr id="316" name="TextBox 34"/>
          <p:cNvSpPr/>
          <p:nvPr/>
        </p:nvSpPr>
        <p:spPr>
          <a:xfrm>
            <a:off x="9052560" y="283464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10.00</a:t>
            </a:r>
            <a:endParaRPr b="0" lang="en-US" sz="1500" spc="-1" strike="noStrike">
              <a:solidFill>
                <a:srgbClr val="000000"/>
              </a:solidFill>
              <a:latin typeface="Arial"/>
            </a:endParaRPr>
          </a:p>
        </p:txBody>
      </p:sp>
      <p:sp>
        <p:nvSpPr>
          <p:cNvPr id="317" name="TextBox 35"/>
          <p:cNvSpPr/>
          <p:nvPr/>
        </p:nvSpPr>
        <p:spPr>
          <a:xfrm>
            <a:off x="10149840" y="283464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6.46</a:t>
            </a:r>
            <a:endParaRPr b="0" lang="en-US" sz="1500" spc="-1" strike="noStrike">
              <a:solidFill>
                <a:srgbClr val="000000"/>
              </a:solidFill>
              <a:latin typeface="Arial"/>
            </a:endParaRPr>
          </a:p>
        </p:txBody>
      </p:sp>
      <p:sp>
        <p:nvSpPr>
          <p:cNvPr id="318" name="TextBox 36"/>
          <p:cNvSpPr/>
          <p:nvPr/>
        </p:nvSpPr>
        <p:spPr>
          <a:xfrm>
            <a:off x="685800" y="3154680"/>
            <a:ext cx="384012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Grok 4.3</a:t>
            </a:r>
            <a:endParaRPr b="0" lang="en-US" sz="1500" spc="-1" strike="noStrike">
              <a:solidFill>
                <a:srgbClr val="000000"/>
              </a:solidFill>
              <a:latin typeface="Arial"/>
            </a:endParaRPr>
          </a:p>
        </p:txBody>
      </p:sp>
      <p:sp>
        <p:nvSpPr>
          <p:cNvPr id="319" name="TextBox 37"/>
          <p:cNvSpPr/>
          <p:nvPr/>
        </p:nvSpPr>
        <p:spPr>
          <a:xfrm>
            <a:off x="4663440" y="315468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3.92</a:t>
            </a:r>
            <a:endParaRPr b="0" lang="en-US" sz="1500" spc="-1" strike="noStrike">
              <a:solidFill>
                <a:srgbClr val="000000"/>
              </a:solidFill>
              <a:latin typeface="Arial"/>
            </a:endParaRPr>
          </a:p>
        </p:txBody>
      </p:sp>
      <p:sp>
        <p:nvSpPr>
          <p:cNvPr id="320" name="TextBox 38"/>
          <p:cNvSpPr/>
          <p:nvPr/>
        </p:nvSpPr>
        <p:spPr>
          <a:xfrm>
            <a:off x="5760720" y="315468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4.08</a:t>
            </a:r>
            <a:endParaRPr b="0" lang="en-US" sz="1500" spc="-1" strike="noStrike">
              <a:solidFill>
                <a:srgbClr val="000000"/>
              </a:solidFill>
              <a:latin typeface="Arial"/>
            </a:endParaRPr>
          </a:p>
        </p:txBody>
      </p:sp>
      <p:sp>
        <p:nvSpPr>
          <p:cNvPr id="321" name="TextBox 39"/>
          <p:cNvSpPr/>
          <p:nvPr/>
        </p:nvSpPr>
        <p:spPr>
          <a:xfrm>
            <a:off x="6858000" y="315468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5.27</a:t>
            </a:r>
            <a:endParaRPr b="0" lang="en-US" sz="1500" spc="-1" strike="noStrike">
              <a:solidFill>
                <a:srgbClr val="000000"/>
              </a:solidFill>
              <a:latin typeface="Arial"/>
            </a:endParaRPr>
          </a:p>
        </p:txBody>
      </p:sp>
      <p:sp>
        <p:nvSpPr>
          <p:cNvPr id="322" name="TextBox 40"/>
          <p:cNvSpPr/>
          <p:nvPr/>
        </p:nvSpPr>
        <p:spPr>
          <a:xfrm>
            <a:off x="7955280" y="315468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9.90</a:t>
            </a:r>
            <a:endParaRPr b="0" lang="en-US" sz="1500" spc="-1" strike="noStrike">
              <a:solidFill>
                <a:srgbClr val="000000"/>
              </a:solidFill>
              <a:latin typeface="Arial"/>
            </a:endParaRPr>
          </a:p>
        </p:txBody>
      </p:sp>
      <p:sp>
        <p:nvSpPr>
          <p:cNvPr id="323" name="TextBox 41"/>
          <p:cNvSpPr/>
          <p:nvPr/>
        </p:nvSpPr>
        <p:spPr>
          <a:xfrm>
            <a:off x="9052560" y="315468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10.00</a:t>
            </a:r>
            <a:endParaRPr b="0" lang="en-US" sz="1500" spc="-1" strike="noStrike">
              <a:solidFill>
                <a:srgbClr val="000000"/>
              </a:solidFill>
              <a:latin typeface="Arial"/>
            </a:endParaRPr>
          </a:p>
        </p:txBody>
      </p:sp>
      <p:sp>
        <p:nvSpPr>
          <p:cNvPr id="324" name="TextBox 42"/>
          <p:cNvSpPr/>
          <p:nvPr/>
        </p:nvSpPr>
        <p:spPr>
          <a:xfrm>
            <a:off x="10149840" y="315468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5.44</a:t>
            </a:r>
            <a:endParaRPr b="0" lang="en-US" sz="1500" spc="-1" strike="noStrike">
              <a:solidFill>
                <a:srgbClr val="000000"/>
              </a:solidFill>
              <a:latin typeface="Arial"/>
            </a:endParaRPr>
          </a:p>
        </p:txBody>
      </p:sp>
      <p:sp>
        <p:nvSpPr>
          <p:cNvPr id="325" name="Rectangle 43"/>
          <p:cNvSpPr/>
          <p:nvPr/>
        </p:nvSpPr>
        <p:spPr>
          <a:xfrm>
            <a:off x="594360" y="3452040"/>
            <a:ext cx="10972440" cy="31068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6" name="TextBox 44"/>
          <p:cNvSpPr/>
          <p:nvPr/>
        </p:nvSpPr>
        <p:spPr>
          <a:xfrm>
            <a:off x="685800" y="3474720"/>
            <a:ext cx="384012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Llama 3.3 70B (FP8)</a:t>
            </a:r>
            <a:endParaRPr b="0" lang="en-US" sz="1500" spc="-1" strike="noStrike">
              <a:solidFill>
                <a:srgbClr val="000000"/>
              </a:solidFill>
              <a:latin typeface="Arial"/>
            </a:endParaRPr>
          </a:p>
        </p:txBody>
      </p:sp>
      <p:sp>
        <p:nvSpPr>
          <p:cNvPr id="327" name="TextBox 45"/>
          <p:cNvSpPr/>
          <p:nvPr/>
        </p:nvSpPr>
        <p:spPr>
          <a:xfrm>
            <a:off x="4663440" y="347472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2.20</a:t>
            </a:r>
            <a:endParaRPr b="0" lang="en-US" sz="1500" spc="-1" strike="noStrike">
              <a:solidFill>
                <a:srgbClr val="000000"/>
              </a:solidFill>
              <a:latin typeface="Arial"/>
            </a:endParaRPr>
          </a:p>
        </p:txBody>
      </p:sp>
      <p:sp>
        <p:nvSpPr>
          <p:cNvPr id="328" name="TextBox 46"/>
          <p:cNvSpPr/>
          <p:nvPr/>
        </p:nvSpPr>
        <p:spPr>
          <a:xfrm>
            <a:off x="5760720" y="347472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2.53</a:t>
            </a:r>
            <a:endParaRPr b="0" lang="en-US" sz="1500" spc="-1" strike="noStrike">
              <a:solidFill>
                <a:srgbClr val="000000"/>
              </a:solidFill>
              <a:latin typeface="Arial"/>
            </a:endParaRPr>
          </a:p>
        </p:txBody>
      </p:sp>
      <p:sp>
        <p:nvSpPr>
          <p:cNvPr id="329" name="TextBox 47"/>
          <p:cNvSpPr/>
          <p:nvPr/>
        </p:nvSpPr>
        <p:spPr>
          <a:xfrm>
            <a:off x="6858000" y="347472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3.65</a:t>
            </a:r>
            <a:endParaRPr b="0" lang="en-US" sz="1500" spc="-1" strike="noStrike">
              <a:solidFill>
                <a:srgbClr val="000000"/>
              </a:solidFill>
              <a:latin typeface="Arial"/>
            </a:endParaRPr>
          </a:p>
        </p:txBody>
      </p:sp>
      <p:sp>
        <p:nvSpPr>
          <p:cNvPr id="330" name="TextBox 48"/>
          <p:cNvSpPr/>
          <p:nvPr/>
        </p:nvSpPr>
        <p:spPr>
          <a:xfrm>
            <a:off x="7955280" y="347472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9.83</a:t>
            </a:r>
            <a:endParaRPr b="0" lang="en-US" sz="1500" spc="-1" strike="noStrike">
              <a:solidFill>
                <a:srgbClr val="000000"/>
              </a:solidFill>
              <a:latin typeface="Arial"/>
            </a:endParaRPr>
          </a:p>
        </p:txBody>
      </p:sp>
      <p:sp>
        <p:nvSpPr>
          <p:cNvPr id="331" name="TextBox 49"/>
          <p:cNvSpPr/>
          <p:nvPr/>
        </p:nvSpPr>
        <p:spPr>
          <a:xfrm>
            <a:off x="9052560" y="347472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10.00</a:t>
            </a:r>
            <a:endParaRPr b="0" lang="en-US" sz="1500" spc="-1" strike="noStrike">
              <a:solidFill>
                <a:srgbClr val="000000"/>
              </a:solidFill>
              <a:latin typeface="Arial"/>
            </a:endParaRPr>
          </a:p>
        </p:txBody>
      </p:sp>
      <p:sp>
        <p:nvSpPr>
          <p:cNvPr id="332" name="TextBox 50"/>
          <p:cNvSpPr/>
          <p:nvPr/>
        </p:nvSpPr>
        <p:spPr>
          <a:xfrm>
            <a:off x="10149840" y="347472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4.12</a:t>
            </a:r>
            <a:endParaRPr b="0" lang="en-US" sz="1500" spc="-1" strike="noStrike">
              <a:solidFill>
                <a:srgbClr val="000000"/>
              </a:solidFill>
              <a:latin typeface="Arial"/>
            </a:endParaRPr>
          </a:p>
        </p:txBody>
      </p:sp>
      <p:sp>
        <p:nvSpPr>
          <p:cNvPr id="333" name="TextBox 51"/>
          <p:cNvSpPr/>
          <p:nvPr/>
        </p:nvSpPr>
        <p:spPr>
          <a:xfrm>
            <a:off x="685800" y="3794760"/>
            <a:ext cx="384012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GPT-OSS 120B</a:t>
            </a:r>
            <a:endParaRPr b="0" lang="en-US" sz="1500" spc="-1" strike="noStrike">
              <a:solidFill>
                <a:srgbClr val="000000"/>
              </a:solidFill>
              <a:latin typeface="Arial"/>
            </a:endParaRPr>
          </a:p>
        </p:txBody>
      </p:sp>
      <p:sp>
        <p:nvSpPr>
          <p:cNvPr id="334" name="TextBox 52"/>
          <p:cNvSpPr/>
          <p:nvPr/>
        </p:nvSpPr>
        <p:spPr>
          <a:xfrm>
            <a:off x="4663440" y="379476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2.10</a:t>
            </a:r>
            <a:endParaRPr b="0" lang="en-US" sz="1500" spc="-1" strike="noStrike">
              <a:solidFill>
                <a:srgbClr val="000000"/>
              </a:solidFill>
              <a:latin typeface="Arial"/>
            </a:endParaRPr>
          </a:p>
        </p:txBody>
      </p:sp>
      <p:sp>
        <p:nvSpPr>
          <p:cNvPr id="335" name="TextBox 53"/>
          <p:cNvSpPr/>
          <p:nvPr/>
        </p:nvSpPr>
        <p:spPr>
          <a:xfrm>
            <a:off x="5760720" y="379476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2.17</a:t>
            </a:r>
            <a:endParaRPr b="0" lang="en-US" sz="1500" spc="-1" strike="noStrike">
              <a:solidFill>
                <a:srgbClr val="000000"/>
              </a:solidFill>
              <a:latin typeface="Arial"/>
            </a:endParaRPr>
          </a:p>
        </p:txBody>
      </p:sp>
      <p:sp>
        <p:nvSpPr>
          <p:cNvPr id="336" name="TextBox 54"/>
          <p:cNvSpPr/>
          <p:nvPr/>
        </p:nvSpPr>
        <p:spPr>
          <a:xfrm>
            <a:off x="6858000" y="379476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3.47</a:t>
            </a:r>
            <a:endParaRPr b="0" lang="en-US" sz="1500" spc="-1" strike="noStrike">
              <a:solidFill>
                <a:srgbClr val="000000"/>
              </a:solidFill>
              <a:latin typeface="Arial"/>
            </a:endParaRPr>
          </a:p>
        </p:txBody>
      </p:sp>
      <p:sp>
        <p:nvSpPr>
          <p:cNvPr id="337" name="TextBox 55"/>
          <p:cNvSpPr/>
          <p:nvPr/>
        </p:nvSpPr>
        <p:spPr>
          <a:xfrm>
            <a:off x="7955280" y="379476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9.97</a:t>
            </a:r>
            <a:endParaRPr b="0" lang="en-US" sz="1500" spc="-1" strike="noStrike">
              <a:solidFill>
                <a:srgbClr val="000000"/>
              </a:solidFill>
              <a:latin typeface="Arial"/>
            </a:endParaRPr>
          </a:p>
        </p:txBody>
      </p:sp>
      <p:sp>
        <p:nvSpPr>
          <p:cNvPr id="338" name="TextBox 56"/>
          <p:cNvSpPr/>
          <p:nvPr/>
        </p:nvSpPr>
        <p:spPr>
          <a:xfrm>
            <a:off x="9052560" y="379476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10.00</a:t>
            </a:r>
            <a:endParaRPr b="0" lang="en-US" sz="1500" spc="-1" strike="noStrike">
              <a:solidFill>
                <a:srgbClr val="000000"/>
              </a:solidFill>
              <a:latin typeface="Arial"/>
            </a:endParaRPr>
          </a:p>
        </p:txBody>
      </p:sp>
      <p:sp>
        <p:nvSpPr>
          <p:cNvPr id="339" name="TextBox 57"/>
          <p:cNvSpPr/>
          <p:nvPr/>
        </p:nvSpPr>
        <p:spPr>
          <a:xfrm>
            <a:off x="10149840" y="379476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3.97</a:t>
            </a:r>
            <a:endParaRPr b="0" lang="en-US" sz="1500" spc="-1" strike="noStrike">
              <a:solidFill>
                <a:srgbClr val="000000"/>
              </a:solidFill>
              <a:latin typeface="Arial"/>
            </a:endParaRPr>
          </a:p>
        </p:txBody>
      </p:sp>
      <p:sp>
        <p:nvSpPr>
          <p:cNvPr id="340" name="Rectangle 58"/>
          <p:cNvSpPr/>
          <p:nvPr/>
        </p:nvSpPr>
        <p:spPr>
          <a:xfrm>
            <a:off x="594360" y="4091760"/>
            <a:ext cx="10972440" cy="31068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41" name="TextBox 59"/>
          <p:cNvSpPr/>
          <p:nvPr/>
        </p:nvSpPr>
        <p:spPr>
          <a:xfrm>
            <a:off x="685800" y="4114800"/>
            <a:ext cx="384012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Qwen3 30B A3B</a:t>
            </a:r>
            <a:endParaRPr b="0" lang="en-US" sz="1500" spc="-1" strike="noStrike">
              <a:solidFill>
                <a:srgbClr val="000000"/>
              </a:solidFill>
              <a:latin typeface="Arial"/>
            </a:endParaRPr>
          </a:p>
        </p:txBody>
      </p:sp>
      <p:sp>
        <p:nvSpPr>
          <p:cNvPr id="342" name="TextBox 60"/>
          <p:cNvSpPr/>
          <p:nvPr/>
        </p:nvSpPr>
        <p:spPr>
          <a:xfrm>
            <a:off x="4663440" y="411480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1.65</a:t>
            </a:r>
            <a:endParaRPr b="0" lang="en-US" sz="1500" spc="-1" strike="noStrike">
              <a:solidFill>
                <a:srgbClr val="000000"/>
              </a:solidFill>
              <a:latin typeface="Arial"/>
            </a:endParaRPr>
          </a:p>
        </p:txBody>
      </p:sp>
      <p:sp>
        <p:nvSpPr>
          <p:cNvPr id="343" name="TextBox 61"/>
          <p:cNvSpPr/>
          <p:nvPr/>
        </p:nvSpPr>
        <p:spPr>
          <a:xfrm>
            <a:off x="5760720" y="411480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1.85</a:t>
            </a:r>
            <a:endParaRPr b="0" lang="en-US" sz="1500" spc="-1" strike="noStrike">
              <a:solidFill>
                <a:srgbClr val="000000"/>
              </a:solidFill>
              <a:latin typeface="Arial"/>
            </a:endParaRPr>
          </a:p>
        </p:txBody>
      </p:sp>
      <p:sp>
        <p:nvSpPr>
          <p:cNvPr id="344" name="TextBox 62"/>
          <p:cNvSpPr/>
          <p:nvPr/>
        </p:nvSpPr>
        <p:spPr>
          <a:xfrm>
            <a:off x="6858000" y="411480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2.87</a:t>
            </a:r>
            <a:endParaRPr b="0" lang="en-US" sz="1500" spc="-1" strike="noStrike">
              <a:solidFill>
                <a:srgbClr val="000000"/>
              </a:solidFill>
              <a:latin typeface="Arial"/>
            </a:endParaRPr>
          </a:p>
        </p:txBody>
      </p:sp>
      <p:sp>
        <p:nvSpPr>
          <p:cNvPr id="345" name="TextBox 63"/>
          <p:cNvSpPr/>
          <p:nvPr/>
        </p:nvSpPr>
        <p:spPr>
          <a:xfrm>
            <a:off x="7955280" y="411480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9.80</a:t>
            </a:r>
            <a:endParaRPr b="0" lang="en-US" sz="1500" spc="-1" strike="noStrike">
              <a:solidFill>
                <a:srgbClr val="000000"/>
              </a:solidFill>
              <a:latin typeface="Arial"/>
            </a:endParaRPr>
          </a:p>
        </p:txBody>
      </p:sp>
      <p:sp>
        <p:nvSpPr>
          <p:cNvPr id="346" name="TextBox 64"/>
          <p:cNvSpPr/>
          <p:nvPr/>
        </p:nvSpPr>
        <p:spPr>
          <a:xfrm>
            <a:off x="9052560" y="411480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10.00</a:t>
            </a:r>
            <a:endParaRPr b="0" lang="en-US" sz="1500" spc="-1" strike="noStrike">
              <a:solidFill>
                <a:srgbClr val="000000"/>
              </a:solidFill>
              <a:latin typeface="Arial"/>
            </a:endParaRPr>
          </a:p>
        </p:txBody>
      </p:sp>
      <p:sp>
        <p:nvSpPr>
          <p:cNvPr id="347" name="TextBox 65"/>
          <p:cNvSpPr/>
          <p:nvPr/>
        </p:nvSpPr>
        <p:spPr>
          <a:xfrm>
            <a:off x="10149840" y="411480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3.59</a:t>
            </a:r>
            <a:endParaRPr b="0" lang="en-US" sz="1500" spc="-1" strike="noStrike">
              <a:solidFill>
                <a:srgbClr val="000000"/>
              </a:solidFill>
              <a:latin typeface="Arial"/>
            </a:endParaRPr>
          </a:p>
        </p:txBody>
      </p:sp>
      <p:sp>
        <p:nvSpPr>
          <p:cNvPr id="348" name="TextBox 66"/>
          <p:cNvSpPr/>
          <p:nvPr/>
        </p:nvSpPr>
        <p:spPr>
          <a:xfrm>
            <a:off x="685800" y="4434840"/>
            <a:ext cx="384012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Gemma 3 12B (Q4)</a:t>
            </a:r>
            <a:endParaRPr b="0" lang="en-US" sz="1500" spc="-1" strike="noStrike">
              <a:solidFill>
                <a:srgbClr val="000000"/>
              </a:solidFill>
              <a:latin typeface="Arial"/>
            </a:endParaRPr>
          </a:p>
        </p:txBody>
      </p:sp>
      <p:sp>
        <p:nvSpPr>
          <p:cNvPr id="349" name="TextBox 67"/>
          <p:cNvSpPr/>
          <p:nvPr/>
        </p:nvSpPr>
        <p:spPr>
          <a:xfrm>
            <a:off x="4663440" y="443484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0.88</a:t>
            </a:r>
            <a:endParaRPr b="0" lang="en-US" sz="1500" spc="-1" strike="noStrike">
              <a:solidFill>
                <a:srgbClr val="000000"/>
              </a:solidFill>
              <a:latin typeface="Arial"/>
            </a:endParaRPr>
          </a:p>
        </p:txBody>
      </p:sp>
      <p:sp>
        <p:nvSpPr>
          <p:cNvPr id="350" name="TextBox 68"/>
          <p:cNvSpPr/>
          <p:nvPr/>
        </p:nvSpPr>
        <p:spPr>
          <a:xfrm>
            <a:off x="5760720" y="443484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0.92</a:t>
            </a:r>
            <a:endParaRPr b="0" lang="en-US" sz="1500" spc="-1" strike="noStrike">
              <a:solidFill>
                <a:srgbClr val="000000"/>
              </a:solidFill>
              <a:latin typeface="Arial"/>
            </a:endParaRPr>
          </a:p>
        </p:txBody>
      </p:sp>
      <p:sp>
        <p:nvSpPr>
          <p:cNvPr id="351" name="TextBox 69"/>
          <p:cNvSpPr/>
          <p:nvPr/>
        </p:nvSpPr>
        <p:spPr>
          <a:xfrm>
            <a:off x="6858000" y="443484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2.03</a:t>
            </a:r>
            <a:endParaRPr b="0" lang="en-US" sz="1500" spc="-1" strike="noStrike">
              <a:solidFill>
                <a:srgbClr val="000000"/>
              </a:solidFill>
              <a:latin typeface="Arial"/>
            </a:endParaRPr>
          </a:p>
        </p:txBody>
      </p:sp>
      <p:sp>
        <p:nvSpPr>
          <p:cNvPr id="352" name="TextBox 70"/>
          <p:cNvSpPr/>
          <p:nvPr/>
        </p:nvSpPr>
        <p:spPr>
          <a:xfrm>
            <a:off x="7955280" y="443484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10.00</a:t>
            </a:r>
            <a:endParaRPr b="0" lang="en-US" sz="1500" spc="-1" strike="noStrike">
              <a:solidFill>
                <a:srgbClr val="000000"/>
              </a:solidFill>
              <a:latin typeface="Arial"/>
            </a:endParaRPr>
          </a:p>
        </p:txBody>
      </p:sp>
      <p:sp>
        <p:nvSpPr>
          <p:cNvPr id="353" name="TextBox 71"/>
          <p:cNvSpPr/>
          <p:nvPr/>
        </p:nvSpPr>
        <p:spPr>
          <a:xfrm>
            <a:off x="9052560" y="443484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10.00</a:t>
            </a:r>
            <a:endParaRPr b="0" lang="en-US" sz="1500" spc="-1" strike="noStrike">
              <a:solidFill>
                <a:srgbClr val="000000"/>
              </a:solidFill>
              <a:latin typeface="Arial"/>
            </a:endParaRPr>
          </a:p>
        </p:txBody>
      </p:sp>
      <p:sp>
        <p:nvSpPr>
          <p:cNvPr id="354" name="TextBox 72"/>
          <p:cNvSpPr/>
          <p:nvPr/>
        </p:nvSpPr>
        <p:spPr>
          <a:xfrm>
            <a:off x="10149840" y="443484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2.95</a:t>
            </a:r>
            <a:endParaRPr b="0" lang="en-US" sz="1500" spc="-1" strike="noStrike">
              <a:solidFill>
                <a:srgbClr val="000000"/>
              </a:solidFill>
              <a:latin typeface="Arial"/>
            </a:endParaRPr>
          </a:p>
        </p:txBody>
      </p:sp>
      <p:sp>
        <p:nvSpPr>
          <p:cNvPr id="355" name="Rectangle 73"/>
          <p:cNvSpPr/>
          <p:nvPr/>
        </p:nvSpPr>
        <p:spPr>
          <a:xfrm>
            <a:off x="594360" y="4731840"/>
            <a:ext cx="10972440" cy="31068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6" name="TextBox 74"/>
          <p:cNvSpPr/>
          <p:nvPr/>
        </p:nvSpPr>
        <p:spPr>
          <a:xfrm>
            <a:off x="685800" y="4754880"/>
            <a:ext cx="384012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Gemma 4 26B A4B</a:t>
            </a:r>
            <a:endParaRPr b="0" lang="en-US" sz="1500" spc="-1" strike="noStrike">
              <a:solidFill>
                <a:srgbClr val="000000"/>
              </a:solidFill>
              <a:latin typeface="Arial"/>
            </a:endParaRPr>
          </a:p>
        </p:txBody>
      </p:sp>
      <p:sp>
        <p:nvSpPr>
          <p:cNvPr id="357" name="TextBox 75"/>
          <p:cNvSpPr/>
          <p:nvPr/>
        </p:nvSpPr>
        <p:spPr>
          <a:xfrm>
            <a:off x="4663440" y="475488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0.82</a:t>
            </a:r>
            <a:endParaRPr b="0" lang="en-US" sz="1500" spc="-1" strike="noStrike">
              <a:solidFill>
                <a:srgbClr val="000000"/>
              </a:solidFill>
              <a:latin typeface="Arial"/>
            </a:endParaRPr>
          </a:p>
        </p:txBody>
      </p:sp>
      <p:sp>
        <p:nvSpPr>
          <p:cNvPr id="358" name="TextBox 76"/>
          <p:cNvSpPr/>
          <p:nvPr/>
        </p:nvSpPr>
        <p:spPr>
          <a:xfrm>
            <a:off x="5760720" y="475488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0.88</a:t>
            </a:r>
            <a:endParaRPr b="0" lang="en-US" sz="1500" spc="-1" strike="noStrike">
              <a:solidFill>
                <a:srgbClr val="000000"/>
              </a:solidFill>
              <a:latin typeface="Arial"/>
            </a:endParaRPr>
          </a:p>
        </p:txBody>
      </p:sp>
      <p:sp>
        <p:nvSpPr>
          <p:cNvPr id="359" name="TextBox 77"/>
          <p:cNvSpPr/>
          <p:nvPr/>
        </p:nvSpPr>
        <p:spPr>
          <a:xfrm>
            <a:off x="6858000" y="475488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2.00</a:t>
            </a:r>
            <a:endParaRPr b="0" lang="en-US" sz="1500" spc="-1" strike="noStrike">
              <a:solidFill>
                <a:srgbClr val="000000"/>
              </a:solidFill>
              <a:latin typeface="Arial"/>
            </a:endParaRPr>
          </a:p>
        </p:txBody>
      </p:sp>
      <p:sp>
        <p:nvSpPr>
          <p:cNvPr id="360" name="TextBox 78"/>
          <p:cNvSpPr/>
          <p:nvPr/>
        </p:nvSpPr>
        <p:spPr>
          <a:xfrm>
            <a:off x="7955280" y="475488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9.92</a:t>
            </a:r>
            <a:endParaRPr b="0" lang="en-US" sz="1500" spc="-1" strike="noStrike">
              <a:solidFill>
                <a:srgbClr val="000000"/>
              </a:solidFill>
              <a:latin typeface="Arial"/>
            </a:endParaRPr>
          </a:p>
        </p:txBody>
      </p:sp>
      <p:sp>
        <p:nvSpPr>
          <p:cNvPr id="361" name="TextBox 79"/>
          <p:cNvSpPr/>
          <p:nvPr/>
        </p:nvSpPr>
        <p:spPr>
          <a:xfrm>
            <a:off x="9052560" y="475488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10.00</a:t>
            </a:r>
            <a:endParaRPr b="0" lang="en-US" sz="1500" spc="-1" strike="noStrike">
              <a:solidFill>
                <a:srgbClr val="000000"/>
              </a:solidFill>
              <a:latin typeface="Arial"/>
            </a:endParaRPr>
          </a:p>
        </p:txBody>
      </p:sp>
      <p:sp>
        <p:nvSpPr>
          <p:cNvPr id="362" name="TextBox 80"/>
          <p:cNvSpPr/>
          <p:nvPr/>
        </p:nvSpPr>
        <p:spPr>
          <a:xfrm>
            <a:off x="10149840" y="475488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2.90</a:t>
            </a:r>
            <a:endParaRPr b="0" lang="en-US" sz="1500" spc="-1" strike="noStrike">
              <a:solidFill>
                <a:srgbClr val="000000"/>
              </a:solidFill>
              <a:latin typeface="Arial"/>
            </a:endParaRPr>
          </a:p>
        </p:txBody>
      </p:sp>
      <p:sp>
        <p:nvSpPr>
          <p:cNvPr id="363" name="TextBox 81"/>
          <p:cNvSpPr/>
          <p:nvPr/>
        </p:nvSpPr>
        <p:spPr>
          <a:xfrm>
            <a:off x="685800" y="5074920"/>
            <a:ext cx="384012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Chess Q8 (Qwen3 1.7B)</a:t>
            </a:r>
            <a:endParaRPr b="0" lang="en-US" sz="1500" spc="-1" strike="noStrike">
              <a:solidFill>
                <a:srgbClr val="000000"/>
              </a:solidFill>
              <a:latin typeface="Arial"/>
            </a:endParaRPr>
          </a:p>
        </p:txBody>
      </p:sp>
      <p:sp>
        <p:nvSpPr>
          <p:cNvPr id="364" name="TextBox 82"/>
          <p:cNvSpPr/>
          <p:nvPr/>
        </p:nvSpPr>
        <p:spPr>
          <a:xfrm>
            <a:off x="4663440" y="507492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0.98</a:t>
            </a:r>
            <a:endParaRPr b="0" lang="en-US" sz="1500" spc="-1" strike="noStrike">
              <a:solidFill>
                <a:srgbClr val="000000"/>
              </a:solidFill>
              <a:latin typeface="Arial"/>
            </a:endParaRPr>
          </a:p>
        </p:txBody>
      </p:sp>
      <p:sp>
        <p:nvSpPr>
          <p:cNvPr id="365" name="TextBox 83"/>
          <p:cNvSpPr/>
          <p:nvPr/>
        </p:nvSpPr>
        <p:spPr>
          <a:xfrm>
            <a:off x="5760720" y="507492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1.08</a:t>
            </a:r>
            <a:endParaRPr b="0" lang="en-US" sz="1500" spc="-1" strike="noStrike">
              <a:solidFill>
                <a:srgbClr val="000000"/>
              </a:solidFill>
              <a:latin typeface="Arial"/>
            </a:endParaRPr>
          </a:p>
        </p:txBody>
      </p:sp>
      <p:sp>
        <p:nvSpPr>
          <p:cNvPr id="366" name="TextBox 84"/>
          <p:cNvSpPr/>
          <p:nvPr/>
        </p:nvSpPr>
        <p:spPr>
          <a:xfrm>
            <a:off x="6858000" y="507492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2.17</a:t>
            </a:r>
            <a:endParaRPr b="0" lang="en-US" sz="1500" spc="-1" strike="noStrike">
              <a:solidFill>
                <a:srgbClr val="000000"/>
              </a:solidFill>
              <a:latin typeface="Arial"/>
            </a:endParaRPr>
          </a:p>
        </p:txBody>
      </p:sp>
      <p:sp>
        <p:nvSpPr>
          <p:cNvPr id="367" name="TextBox 85"/>
          <p:cNvSpPr/>
          <p:nvPr/>
        </p:nvSpPr>
        <p:spPr>
          <a:xfrm>
            <a:off x="7955280" y="507492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8.13</a:t>
            </a:r>
            <a:endParaRPr b="0" lang="en-US" sz="1500" spc="-1" strike="noStrike">
              <a:solidFill>
                <a:srgbClr val="000000"/>
              </a:solidFill>
              <a:latin typeface="Arial"/>
            </a:endParaRPr>
          </a:p>
        </p:txBody>
      </p:sp>
      <p:sp>
        <p:nvSpPr>
          <p:cNvPr id="368" name="TextBox 86"/>
          <p:cNvSpPr/>
          <p:nvPr/>
        </p:nvSpPr>
        <p:spPr>
          <a:xfrm>
            <a:off x="9052560" y="507492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9.97</a:t>
            </a:r>
            <a:endParaRPr b="0" lang="en-US" sz="1500" spc="-1" strike="noStrike">
              <a:solidFill>
                <a:srgbClr val="000000"/>
              </a:solidFill>
              <a:latin typeface="Arial"/>
            </a:endParaRPr>
          </a:p>
        </p:txBody>
      </p:sp>
      <p:sp>
        <p:nvSpPr>
          <p:cNvPr id="369" name="TextBox 87"/>
          <p:cNvSpPr/>
          <p:nvPr/>
        </p:nvSpPr>
        <p:spPr>
          <a:xfrm>
            <a:off x="10149840" y="507492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2.86</a:t>
            </a:r>
            <a:endParaRPr b="0" lang="en-US" sz="1500" spc="-1" strike="noStrike">
              <a:solidFill>
                <a:srgbClr val="000000"/>
              </a:solidFill>
              <a:latin typeface="Arial"/>
            </a:endParaRPr>
          </a:p>
        </p:txBody>
      </p:sp>
      <p:sp>
        <p:nvSpPr>
          <p:cNvPr id="370" name="Rectangle 88"/>
          <p:cNvSpPr/>
          <p:nvPr/>
        </p:nvSpPr>
        <p:spPr>
          <a:xfrm>
            <a:off x="594360" y="5372280"/>
            <a:ext cx="10972440" cy="31068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1" name="TextBox 89"/>
          <p:cNvSpPr/>
          <p:nvPr/>
        </p:nvSpPr>
        <p:spPr>
          <a:xfrm>
            <a:off x="685800" y="5394960"/>
            <a:ext cx="384012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Llama 3.2 3B (Q4)</a:t>
            </a:r>
            <a:endParaRPr b="0" lang="en-US" sz="1500" spc="-1" strike="noStrike">
              <a:solidFill>
                <a:srgbClr val="000000"/>
              </a:solidFill>
              <a:latin typeface="Arial"/>
            </a:endParaRPr>
          </a:p>
        </p:txBody>
      </p:sp>
      <p:sp>
        <p:nvSpPr>
          <p:cNvPr id="372" name="TextBox 90"/>
          <p:cNvSpPr/>
          <p:nvPr/>
        </p:nvSpPr>
        <p:spPr>
          <a:xfrm>
            <a:off x="4663440" y="539496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0.83</a:t>
            </a:r>
            <a:endParaRPr b="0" lang="en-US" sz="1500" spc="-1" strike="noStrike">
              <a:solidFill>
                <a:srgbClr val="000000"/>
              </a:solidFill>
              <a:latin typeface="Arial"/>
            </a:endParaRPr>
          </a:p>
        </p:txBody>
      </p:sp>
      <p:sp>
        <p:nvSpPr>
          <p:cNvPr id="373" name="TextBox 91"/>
          <p:cNvSpPr/>
          <p:nvPr/>
        </p:nvSpPr>
        <p:spPr>
          <a:xfrm>
            <a:off x="5760720" y="539496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0.93</a:t>
            </a:r>
            <a:endParaRPr b="0" lang="en-US" sz="1500" spc="-1" strike="noStrike">
              <a:solidFill>
                <a:srgbClr val="000000"/>
              </a:solidFill>
              <a:latin typeface="Arial"/>
            </a:endParaRPr>
          </a:p>
        </p:txBody>
      </p:sp>
      <p:sp>
        <p:nvSpPr>
          <p:cNvPr id="374" name="TextBox 92"/>
          <p:cNvSpPr/>
          <p:nvPr/>
        </p:nvSpPr>
        <p:spPr>
          <a:xfrm>
            <a:off x="6858000" y="539496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1.95</a:t>
            </a:r>
            <a:endParaRPr b="0" lang="en-US" sz="1500" spc="-1" strike="noStrike">
              <a:solidFill>
                <a:srgbClr val="000000"/>
              </a:solidFill>
              <a:latin typeface="Arial"/>
            </a:endParaRPr>
          </a:p>
        </p:txBody>
      </p:sp>
      <p:sp>
        <p:nvSpPr>
          <p:cNvPr id="375" name="TextBox 93"/>
          <p:cNvSpPr/>
          <p:nvPr/>
        </p:nvSpPr>
        <p:spPr>
          <a:xfrm>
            <a:off x="7955280" y="539496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9.40</a:t>
            </a:r>
            <a:endParaRPr b="0" lang="en-US" sz="1500" spc="-1" strike="noStrike">
              <a:solidFill>
                <a:srgbClr val="000000"/>
              </a:solidFill>
              <a:latin typeface="Arial"/>
            </a:endParaRPr>
          </a:p>
        </p:txBody>
      </p:sp>
      <p:sp>
        <p:nvSpPr>
          <p:cNvPr id="376" name="TextBox 94"/>
          <p:cNvSpPr/>
          <p:nvPr/>
        </p:nvSpPr>
        <p:spPr>
          <a:xfrm>
            <a:off x="9052560" y="539496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10.00</a:t>
            </a:r>
            <a:endParaRPr b="0" lang="en-US" sz="1500" spc="-1" strike="noStrike">
              <a:solidFill>
                <a:srgbClr val="000000"/>
              </a:solidFill>
              <a:latin typeface="Arial"/>
            </a:endParaRPr>
          </a:p>
        </p:txBody>
      </p:sp>
      <p:sp>
        <p:nvSpPr>
          <p:cNvPr id="377" name="TextBox 95"/>
          <p:cNvSpPr/>
          <p:nvPr/>
        </p:nvSpPr>
        <p:spPr>
          <a:xfrm>
            <a:off x="10149840" y="5394960"/>
            <a:ext cx="1005480" cy="228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500" spc="-1" strike="noStrike">
                <a:solidFill>
                  <a:srgbClr val="10283f"/>
                </a:solidFill>
                <a:latin typeface="Arial"/>
              </a:rPr>
              <a:t>2.86</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fffff"/>
        </a:solidFill>
      </p:bgPr>
    </p:bg>
    <p:spTree>
      <p:nvGrpSpPr>
        <p:cNvPr id="1" name=""/>
        <p:cNvGrpSpPr/>
        <p:nvPr/>
      </p:nvGrpSpPr>
      <p:grpSpPr>
        <a:xfrm>
          <a:off x="0" y="0"/>
          <a:ext cx="0" cy="0"/>
          <a:chOff x="0" y="0"/>
          <a:chExt cx="0" cy="0"/>
        </a:xfrm>
      </p:grpSpPr>
      <p:sp>
        <p:nvSpPr>
          <p:cNvPr id="378" name="Rectangle 1"/>
          <p:cNvSpPr/>
          <p:nvPr/>
        </p:nvSpPr>
        <p:spPr>
          <a:xfrm>
            <a:off x="0" y="0"/>
            <a:ext cx="12191400" cy="11844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9" name="TextBox 2"/>
          <p:cNvSpPr/>
          <p:nvPr/>
        </p:nvSpPr>
        <p:spPr>
          <a:xfrm>
            <a:off x="548640" y="320040"/>
            <a:ext cx="10972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200" spc="-1" strike="noStrike">
                <a:solidFill>
                  <a:srgbClr val="007f86"/>
                </a:solidFill>
                <a:latin typeface="Arial"/>
              </a:rPr>
              <a:t>BACKUP / METHOD</a:t>
            </a:r>
            <a:endParaRPr b="0" lang="en-US" sz="1200" spc="-1" strike="noStrike">
              <a:solidFill>
                <a:srgbClr val="000000"/>
              </a:solidFill>
              <a:latin typeface="Arial"/>
            </a:endParaRPr>
          </a:p>
        </p:txBody>
      </p:sp>
      <p:sp>
        <p:nvSpPr>
          <p:cNvPr id="380" name="TextBox 3"/>
          <p:cNvSpPr/>
          <p:nvPr/>
        </p:nvSpPr>
        <p:spPr>
          <a:xfrm>
            <a:off x="548640" y="841320"/>
            <a:ext cx="1106388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100" spc="-1" strike="noStrike">
                <a:solidFill>
                  <a:srgbClr val="10283f"/>
                </a:solidFill>
                <a:latin typeface="Arial"/>
              </a:rPr>
              <a:t>Training and implementation details</a:t>
            </a:r>
            <a:endParaRPr b="0" lang="en-US" sz="3100" spc="-1" strike="noStrike">
              <a:solidFill>
                <a:srgbClr val="000000"/>
              </a:solidFill>
              <a:latin typeface="Arial"/>
            </a:endParaRPr>
          </a:p>
        </p:txBody>
      </p:sp>
      <p:sp>
        <p:nvSpPr>
          <p:cNvPr id="381" name="TextBox 4"/>
          <p:cNvSpPr/>
          <p:nvPr/>
        </p:nvSpPr>
        <p:spPr>
          <a:xfrm>
            <a:off x="548640" y="6510600"/>
            <a:ext cx="91436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000" spc="-1" strike="noStrike">
                <a:solidFill>
                  <a:srgbClr val="526576"/>
                </a:solidFill>
                <a:latin typeface="Arial"/>
              </a:rPr>
              <a:t>Shahid Beheshti University</a:t>
            </a:r>
            <a:endParaRPr b="0" lang="en-US" sz="1000" spc="-1" strike="noStrike">
              <a:solidFill>
                <a:srgbClr val="000000"/>
              </a:solidFill>
              <a:latin typeface="Arial"/>
            </a:endParaRPr>
          </a:p>
        </p:txBody>
      </p:sp>
      <p:sp>
        <p:nvSpPr>
          <p:cNvPr id="382" name="TextBox 5"/>
          <p:cNvSpPr/>
          <p:nvPr/>
        </p:nvSpPr>
        <p:spPr>
          <a:xfrm>
            <a:off x="10515600" y="6473880"/>
            <a:ext cx="109692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200" spc="-1" strike="noStrike">
                <a:solidFill>
                  <a:srgbClr val="526576"/>
                </a:solidFill>
                <a:latin typeface="Arial"/>
              </a:rPr>
              <a:t>BACKUP</a:t>
            </a:r>
            <a:endParaRPr b="0" lang="en-US" sz="1200" spc="-1" strike="noStrike">
              <a:solidFill>
                <a:srgbClr val="000000"/>
              </a:solidFill>
              <a:latin typeface="Arial"/>
            </a:endParaRPr>
          </a:p>
        </p:txBody>
      </p:sp>
      <p:sp>
        <p:nvSpPr>
          <p:cNvPr id="383" name="TextBox 6"/>
          <p:cNvSpPr/>
          <p:nvPr/>
        </p:nvSpPr>
        <p:spPr>
          <a:xfrm>
            <a:off x="731520" y="1828800"/>
            <a:ext cx="1078956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500" spc="-1" strike="noStrike">
                <a:solidFill>
                  <a:srgbClr val="10283f"/>
                </a:solidFill>
                <a:latin typeface="Arial"/>
              </a:rPr>
              <a:t>LoRA: rank 16, alpha 32, dropout 0.05; q_proj and v_proj</a:t>
            </a:r>
            <a:endParaRPr b="0" lang="en-US" sz="2500" spc="-1" strike="noStrike">
              <a:solidFill>
                <a:srgbClr val="000000"/>
              </a:solidFill>
              <a:latin typeface="Arial"/>
            </a:endParaRPr>
          </a:p>
        </p:txBody>
      </p:sp>
      <p:sp>
        <p:nvSpPr>
          <p:cNvPr id="384" name="TextBox 7"/>
          <p:cNvSpPr/>
          <p:nvPr/>
        </p:nvSpPr>
        <p:spPr>
          <a:xfrm>
            <a:off x="731520" y="2633400"/>
            <a:ext cx="1078956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500" spc="-1" strike="noStrike">
                <a:solidFill>
                  <a:srgbClr val="10283f"/>
                </a:solidFill>
                <a:latin typeface="Arial"/>
              </a:rPr>
              <a:t>Training: 1 epoch; learning rate 2e-4; text length 256</a:t>
            </a:r>
            <a:endParaRPr b="0" lang="en-US" sz="2500" spc="-1" strike="noStrike">
              <a:solidFill>
                <a:srgbClr val="000000"/>
              </a:solidFill>
              <a:latin typeface="Arial"/>
            </a:endParaRPr>
          </a:p>
        </p:txBody>
      </p:sp>
      <p:sp>
        <p:nvSpPr>
          <p:cNvPr id="385" name="TextBox 8"/>
          <p:cNvSpPr/>
          <p:nvPr/>
        </p:nvSpPr>
        <p:spPr>
          <a:xfrm>
            <a:off x="731520" y="3438000"/>
            <a:ext cx="1078956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500" spc="-1" strike="noStrike">
                <a:solidFill>
                  <a:srgbClr val="10283f"/>
                </a:solidFill>
                <a:latin typeface="Arial"/>
              </a:rPr>
              <a:t>Batch size 2 × gradient accumulation 16</a:t>
            </a:r>
            <a:endParaRPr b="0" lang="en-US" sz="2500" spc="-1" strike="noStrike">
              <a:solidFill>
                <a:srgbClr val="000000"/>
              </a:solidFill>
              <a:latin typeface="Arial"/>
            </a:endParaRPr>
          </a:p>
        </p:txBody>
      </p:sp>
      <p:sp>
        <p:nvSpPr>
          <p:cNvPr id="386" name="TextBox 9"/>
          <p:cNvSpPr/>
          <p:nvPr/>
        </p:nvSpPr>
        <p:spPr>
          <a:xfrm>
            <a:off x="731520" y="4242960"/>
            <a:ext cx="1078956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500" spc="-1" strike="noStrike">
                <a:solidFill>
                  <a:srgbClr val="10283f"/>
                </a:solidFill>
                <a:latin typeface="Arial"/>
              </a:rPr>
              <a:t>React + Flask; Stockfish analysis; llama.cpp local inference</a:t>
            </a:r>
            <a:endParaRPr b="0" lang="en-US" sz="2500" spc="-1" strike="noStrike">
              <a:solidFill>
                <a:srgbClr val="000000"/>
              </a:solidFill>
              <a:latin typeface="Arial"/>
            </a:endParaRPr>
          </a:p>
        </p:txBody>
      </p:sp>
      <p:sp>
        <p:nvSpPr>
          <p:cNvPr id="387" name="Rectangle 10"/>
          <p:cNvSpPr/>
          <p:nvPr/>
        </p:nvSpPr>
        <p:spPr>
          <a:xfrm>
            <a:off x="548640" y="5806440"/>
            <a:ext cx="11063880" cy="47520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8" name="TextBox 11"/>
          <p:cNvSpPr/>
          <p:nvPr/>
        </p:nvSpPr>
        <p:spPr>
          <a:xfrm>
            <a:off x="731520" y="5888880"/>
            <a:ext cx="1069812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007f86"/>
                </a:solidFill>
                <a:latin typeface="Arial"/>
              </a:rPr>
              <a:t>Source: notebooks/chess.ipynb and app/chess/stockfish_analyzer.py</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fffff"/>
        </a:solidFill>
      </p:bgPr>
    </p:bg>
    <p:spTree>
      <p:nvGrpSpPr>
        <p:cNvPr id="1" name=""/>
        <p:cNvGrpSpPr/>
        <p:nvPr/>
      </p:nvGrpSpPr>
      <p:grpSpPr>
        <a:xfrm>
          <a:off x="0" y="0"/>
          <a:ext cx="0" cy="0"/>
          <a:chOff x="0" y="0"/>
          <a:chExt cx="0" cy="0"/>
        </a:xfrm>
      </p:grpSpPr>
      <p:sp>
        <p:nvSpPr>
          <p:cNvPr id="389" name="Rectangle 1"/>
          <p:cNvSpPr/>
          <p:nvPr/>
        </p:nvSpPr>
        <p:spPr>
          <a:xfrm>
            <a:off x="0" y="0"/>
            <a:ext cx="12191400" cy="11844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0" name="TextBox 2"/>
          <p:cNvSpPr/>
          <p:nvPr/>
        </p:nvSpPr>
        <p:spPr>
          <a:xfrm>
            <a:off x="548640" y="320040"/>
            <a:ext cx="10972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200" spc="-1" strike="noStrike">
                <a:solidFill>
                  <a:srgbClr val="007f86"/>
                </a:solidFill>
                <a:latin typeface="Arial"/>
              </a:rPr>
              <a:t>BACKUP / EVALUATION</a:t>
            </a:r>
            <a:endParaRPr b="0" lang="en-US" sz="1200" spc="-1" strike="noStrike">
              <a:solidFill>
                <a:srgbClr val="000000"/>
              </a:solidFill>
              <a:latin typeface="Arial"/>
            </a:endParaRPr>
          </a:p>
        </p:txBody>
      </p:sp>
      <p:sp>
        <p:nvSpPr>
          <p:cNvPr id="391" name="TextBox 3"/>
          <p:cNvSpPr/>
          <p:nvPr/>
        </p:nvSpPr>
        <p:spPr>
          <a:xfrm>
            <a:off x="548640" y="841320"/>
            <a:ext cx="1106388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100" spc="-1" strike="noStrike">
                <a:solidFill>
                  <a:srgbClr val="10283f"/>
                </a:solidFill>
                <a:latin typeface="Arial"/>
              </a:rPr>
              <a:t>Benchmark provenance and interpretation</a:t>
            </a:r>
            <a:endParaRPr b="0" lang="en-US" sz="3100" spc="-1" strike="noStrike">
              <a:solidFill>
                <a:srgbClr val="000000"/>
              </a:solidFill>
              <a:latin typeface="Arial"/>
            </a:endParaRPr>
          </a:p>
        </p:txBody>
      </p:sp>
      <p:sp>
        <p:nvSpPr>
          <p:cNvPr id="392" name="TextBox 4"/>
          <p:cNvSpPr/>
          <p:nvPr/>
        </p:nvSpPr>
        <p:spPr>
          <a:xfrm>
            <a:off x="548640" y="6510600"/>
            <a:ext cx="91436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000" spc="-1" strike="noStrike">
                <a:solidFill>
                  <a:srgbClr val="526576"/>
                </a:solidFill>
                <a:latin typeface="Arial"/>
              </a:rPr>
              <a:t>Shahid Beheshti University</a:t>
            </a:r>
            <a:endParaRPr b="0" lang="en-US" sz="1000" spc="-1" strike="noStrike">
              <a:solidFill>
                <a:srgbClr val="000000"/>
              </a:solidFill>
              <a:latin typeface="Arial"/>
            </a:endParaRPr>
          </a:p>
        </p:txBody>
      </p:sp>
      <p:sp>
        <p:nvSpPr>
          <p:cNvPr id="393" name="TextBox 5"/>
          <p:cNvSpPr/>
          <p:nvPr/>
        </p:nvSpPr>
        <p:spPr>
          <a:xfrm>
            <a:off x="10515600" y="6473880"/>
            <a:ext cx="109692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200" spc="-1" strike="noStrike">
                <a:solidFill>
                  <a:srgbClr val="526576"/>
                </a:solidFill>
                <a:latin typeface="Arial"/>
              </a:rPr>
              <a:t>BACKUP</a:t>
            </a:r>
            <a:endParaRPr b="0" lang="en-US" sz="1200" spc="-1" strike="noStrike">
              <a:solidFill>
                <a:srgbClr val="000000"/>
              </a:solidFill>
              <a:latin typeface="Arial"/>
            </a:endParaRPr>
          </a:p>
        </p:txBody>
      </p:sp>
      <p:sp>
        <p:nvSpPr>
          <p:cNvPr id="394" name="TextBox 6"/>
          <p:cNvSpPr/>
          <p:nvPr/>
        </p:nvSpPr>
        <p:spPr>
          <a:xfrm>
            <a:off x="731520" y="1828800"/>
            <a:ext cx="1078956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400" spc="-1" strike="noStrike">
                <a:solidFill>
                  <a:srgbClr val="10283f"/>
                </a:solidFill>
                <a:latin typeface="Arial"/>
              </a:rPr>
              <a:t>Source games: Lichess, February 2013; at least 30 plies</a:t>
            </a:r>
            <a:endParaRPr b="0" lang="en-US" sz="2400" spc="-1" strike="noStrike">
              <a:solidFill>
                <a:srgbClr val="000000"/>
              </a:solidFill>
              <a:latin typeface="Arial"/>
            </a:endParaRPr>
          </a:p>
        </p:txBody>
      </p:sp>
      <p:sp>
        <p:nvSpPr>
          <p:cNvPr id="395" name="TextBox 7"/>
          <p:cNvSpPr/>
          <p:nvPr/>
        </p:nvSpPr>
        <p:spPr>
          <a:xfrm>
            <a:off x="731520" y="2670120"/>
            <a:ext cx="1078956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400" spc="-1" strike="noStrike">
                <a:solidFill>
                  <a:srgbClr val="10283f"/>
                </a:solidFill>
                <a:latin typeface="Arial"/>
              </a:rPr>
              <a:t>Groups use mean player rating: &lt;1200 / 1200–1799 / ≥1800</a:t>
            </a:r>
            <a:endParaRPr b="0" lang="en-US" sz="2400" spc="-1" strike="noStrike">
              <a:solidFill>
                <a:srgbClr val="000000"/>
              </a:solidFill>
              <a:latin typeface="Arial"/>
            </a:endParaRPr>
          </a:p>
        </p:txBody>
      </p:sp>
      <p:sp>
        <p:nvSpPr>
          <p:cNvPr id="396" name="TextBox 8"/>
          <p:cNvSpPr/>
          <p:nvPr/>
        </p:nvSpPr>
        <p:spPr>
          <a:xfrm>
            <a:off x="731520" y="3511440"/>
            <a:ext cx="1078956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400" spc="-1" strike="noStrike">
                <a:solidFill>
                  <a:srgbClr val="10283f"/>
                </a:solidFill>
                <a:latin typeface="Arial"/>
              </a:rPr>
              <a:t>Pairing key: (type, row_id); 60 matched outputs per model</a:t>
            </a:r>
            <a:endParaRPr b="0" lang="en-US" sz="2400" spc="-1" strike="noStrike">
              <a:solidFill>
                <a:srgbClr val="000000"/>
              </a:solidFill>
              <a:latin typeface="Arial"/>
            </a:endParaRPr>
          </a:p>
        </p:txBody>
      </p:sp>
      <p:sp>
        <p:nvSpPr>
          <p:cNvPr id="397" name="TextBox 9"/>
          <p:cNvSpPr/>
          <p:nvPr/>
        </p:nvSpPr>
        <p:spPr>
          <a:xfrm>
            <a:off x="731520" y="4352400"/>
            <a:ext cx="10789560" cy="366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400" spc="-1" strike="noStrike">
                <a:solidFill>
                  <a:srgbClr val="10283f"/>
                </a:solidFill>
                <a:latin typeface="Arial"/>
              </a:rPr>
              <a:t>11 models; final saved outputs; fixed gemma4-12b judge</a:t>
            </a:r>
            <a:endParaRPr b="0" lang="en-US" sz="2400" spc="-1" strike="noStrike">
              <a:solidFill>
                <a:srgbClr val="000000"/>
              </a:solidFill>
              <a:latin typeface="Arial"/>
            </a:endParaRPr>
          </a:p>
        </p:txBody>
      </p:sp>
      <p:sp>
        <p:nvSpPr>
          <p:cNvPr id="398" name="Rectangle 10"/>
          <p:cNvSpPr/>
          <p:nvPr/>
        </p:nvSpPr>
        <p:spPr>
          <a:xfrm>
            <a:off x="548640" y="5806440"/>
            <a:ext cx="11063880" cy="475200"/>
          </a:xfrm>
          <a:prstGeom prst="rect">
            <a:avLst/>
          </a:prstGeom>
          <a:solidFill>
            <a:srgbClr val="eaf3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9" name="TextBox 11"/>
          <p:cNvSpPr/>
          <p:nvPr/>
        </p:nvSpPr>
        <p:spPr>
          <a:xfrm>
            <a:off x="731520" y="5888880"/>
            <a:ext cx="1069812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800" spc="-1" strike="noStrike">
                <a:solidFill>
                  <a:srgbClr val="007f86"/>
                </a:solidFill>
                <a:latin typeface="Arial"/>
              </a:rPr>
              <a:t>Shared positions do not control hardware, model size, or generation settings.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fffff"/>
        </a:solidFill>
      </p:bgPr>
    </p:bg>
    <p:spTree>
      <p:nvGrpSpPr>
        <p:cNvPr id="1" name=""/>
        <p:cNvGrpSpPr/>
        <p:nvPr/>
      </p:nvGrpSpPr>
      <p:grpSpPr>
        <a:xfrm>
          <a:off x="0" y="0"/>
          <a:ext cx="0" cy="0"/>
          <a:chOff x="0" y="0"/>
          <a:chExt cx="0" cy="0"/>
        </a:xfrm>
      </p:grpSpPr>
      <p:sp>
        <p:nvSpPr>
          <p:cNvPr id="400" name="Rectangle 1"/>
          <p:cNvSpPr/>
          <p:nvPr/>
        </p:nvSpPr>
        <p:spPr>
          <a:xfrm>
            <a:off x="0" y="0"/>
            <a:ext cx="12191400" cy="118440"/>
          </a:xfrm>
          <a:prstGeom prst="rect">
            <a:avLst/>
          </a:prstGeom>
          <a:solidFill>
            <a:srgbClr val="007f8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1" name="TextBox 2"/>
          <p:cNvSpPr/>
          <p:nvPr/>
        </p:nvSpPr>
        <p:spPr>
          <a:xfrm>
            <a:off x="548640" y="320040"/>
            <a:ext cx="10972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1200" spc="-1" strike="noStrike">
                <a:solidFill>
                  <a:srgbClr val="007f86"/>
                </a:solidFill>
                <a:latin typeface="Arial"/>
              </a:rPr>
              <a:t>BACKUP / REFERENCES</a:t>
            </a:r>
            <a:endParaRPr b="0" lang="en-US" sz="1200" spc="-1" strike="noStrike">
              <a:solidFill>
                <a:srgbClr val="000000"/>
              </a:solidFill>
              <a:latin typeface="Arial"/>
            </a:endParaRPr>
          </a:p>
        </p:txBody>
      </p:sp>
      <p:sp>
        <p:nvSpPr>
          <p:cNvPr id="402" name="TextBox 3"/>
          <p:cNvSpPr/>
          <p:nvPr/>
        </p:nvSpPr>
        <p:spPr>
          <a:xfrm>
            <a:off x="548640" y="841320"/>
            <a:ext cx="1106388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1" lang="en-US" sz="3100" spc="-1" strike="noStrike">
                <a:solidFill>
                  <a:srgbClr val="10283f"/>
                </a:solidFill>
                <a:latin typeface="Arial"/>
              </a:rPr>
              <a:t>Selected references and project evidence</a:t>
            </a:r>
            <a:endParaRPr b="0" lang="en-US" sz="3100" spc="-1" strike="noStrike">
              <a:solidFill>
                <a:srgbClr val="000000"/>
              </a:solidFill>
              <a:latin typeface="Arial"/>
            </a:endParaRPr>
          </a:p>
        </p:txBody>
      </p:sp>
      <p:sp>
        <p:nvSpPr>
          <p:cNvPr id="403" name="TextBox 4"/>
          <p:cNvSpPr/>
          <p:nvPr/>
        </p:nvSpPr>
        <p:spPr>
          <a:xfrm>
            <a:off x="548640" y="6510600"/>
            <a:ext cx="91436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000" spc="-1" strike="noStrike">
                <a:solidFill>
                  <a:srgbClr val="526576"/>
                </a:solidFill>
                <a:latin typeface="Arial"/>
              </a:rPr>
              <a:t>Shahid Beheshti University</a:t>
            </a:r>
            <a:endParaRPr b="0" lang="en-US" sz="1000" spc="-1" strike="noStrike">
              <a:solidFill>
                <a:srgbClr val="000000"/>
              </a:solidFill>
              <a:latin typeface="Arial"/>
            </a:endParaRPr>
          </a:p>
        </p:txBody>
      </p:sp>
      <p:sp>
        <p:nvSpPr>
          <p:cNvPr id="404" name="TextBox 5"/>
          <p:cNvSpPr/>
          <p:nvPr/>
        </p:nvSpPr>
        <p:spPr>
          <a:xfrm>
            <a:off x="10515600" y="6473880"/>
            <a:ext cx="109692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200" spc="-1" strike="noStrike">
                <a:solidFill>
                  <a:srgbClr val="526576"/>
                </a:solidFill>
                <a:latin typeface="Arial"/>
              </a:rPr>
              <a:t>BACKUP</a:t>
            </a:r>
            <a:endParaRPr b="0" lang="en-US" sz="1200" spc="-1" strike="noStrike">
              <a:solidFill>
                <a:srgbClr val="000000"/>
              </a:solidFill>
              <a:latin typeface="Arial"/>
            </a:endParaRPr>
          </a:p>
        </p:txBody>
      </p:sp>
      <p:sp>
        <p:nvSpPr>
          <p:cNvPr id="405" name="TextBox 6"/>
          <p:cNvSpPr/>
          <p:nvPr/>
        </p:nvSpPr>
        <p:spPr>
          <a:xfrm>
            <a:off x="731520" y="1737360"/>
            <a:ext cx="10789560" cy="3052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000" spc="-1" strike="noStrike" u="sng">
                <a:solidFill>
                  <a:srgbClr val="0000ff"/>
                </a:solidFill>
                <a:uFillTx/>
                <a:latin typeface="Arial"/>
                <a:hlinkClick r:id="rId1"/>
              </a:rPr>
              <a:t>Jhamtani et al. (2018). Learning to Generate Move-by-Move Commentary.</a:t>
            </a:r>
            <a:endParaRPr b="0" lang="en-US" sz="2000" spc="-1" strike="noStrike">
              <a:solidFill>
                <a:srgbClr val="000000"/>
              </a:solidFill>
              <a:latin typeface="Arial"/>
            </a:endParaRPr>
          </a:p>
        </p:txBody>
      </p:sp>
      <p:sp>
        <p:nvSpPr>
          <p:cNvPr id="406" name="TextBox 7"/>
          <p:cNvSpPr/>
          <p:nvPr/>
        </p:nvSpPr>
        <p:spPr>
          <a:xfrm>
            <a:off x="731520" y="2075760"/>
            <a:ext cx="1078956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400" spc="-1" strike="noStrike">
                <a:solidFill>
                  <a:srgbClr val="526576"/>
                </a:solidFill>
                <a:latin typeface="Arial"/>
              </a:rPr>
              <a:t>https://aclanthology.org/P18-1154/</a:t>
            </a:r>
            <a:endParaRPr b="0" lang="en-US" sz="1400" spc="-1" strike="noStrike">
              <a:solidFill>
                <a:srgbClr val="000000"/>
              </a:solidFill>
              <a:latin typeface="Arial"/>
            </a:endParaRPr>
          </a:p>
        </p:txBody>
      </p:sp>
      <p:sp>
        <p:nvSpPr>
          <p:cNvPr id="407" name="TextBox 8"/>
          <p:cNvSpPr/>
          <p:nvPr/>
        </p:nvSpPr>
        <p:spPr>
          <a:xfrm>
            <a:off x="731520" y="2496240"/>
            <a:ext cx="10789560" cy="3052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000" spc="-1" strike="noStrike" u="sng">
                <a:solidFill>
                  <a:srgbClr val="0000ff"/>
                </a:solidFill>
                <a:uFillTx/>
                <a:latin typeface="Arial"/>
                <a:hlinkClick r:id="rId2"/>
              </a:rPr>
              <a:t>Zang et al. (2019). Automated Chess Commentator.</a:t>
            </a:r>
            <a:endParaRPr b="0" lang="en-US" sz="2000" spc="-1" strike="noStrike">
              <a:solidFill>
                <a:srgbClr val="000000"/>
              </a:solidFill>
              <a:latin typeface="Arial"/>
            </a:endParaRPr>
          </a:p>
        </p:txBody>
      </p:sp>
      <p:sp>
        <p:nvSpPr>
          <p:cNvPr id="408" name="TextBox 9"/>
          <p:cNvSpPr/>
          <p:nvPr/>
        </p:nvSpPr>
        <p:spPr>
          <a:xfrm>
            <a:off x="731520" y="2834640"/>
            <a:ext cx="1078956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400" spc="-1" strike="noStrike">
                <a:solidFill>
                  <a:srgbClr val="526576"/>
                </a:solidFill>
                <a:latin typeface="Arial"/>
              </a:rPr>
              <a:t>https://aclanthology.org/P19-1597/</a:t>
            </a:r>
            <a:endParaRPr b="0" lang="en-US" sz="1400" spc="-1" strike="noStrike">
              <a:solidFill>
                <a:srgbClr val="000000"/>
              </a:solidFill>
              <a:latin typeface="Arial"/>
            </a:endParaRPr>
          </a:p>
        </p:txBody>
      </p:sp>
      <p:sp>
        <p:nvSpPr>
          <p:cNvPr id="409" name="TextBox 10"/>
          <p:cNvSpPr/>
          <p:nvPr/>
        </p:nvSpPr>
        <p:spPr>
          <a:xfrm>
            <a:off x="731520" y="3255120"/>
            <a:ext cx="10789560" cy="3052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000" spc="-1" strike="noStrike" u="sng">
                <a:solidFill>
                  <a:srgbClr val="0000ff"/>
                </a:solidFill>
                <a:uFillTx/>
                <a:latin typeface="Arial"/>
                <a:hlinkClick r:id="rId3"/>
              </a:rPr>
              <a:t>Stockfish — chess analysis engine</a:t>
            </a:r>
            <a:endParaRPr b="0" lang="en-US" sz="2000" spc="-1" strike="noStrike">
              <a:solidFill>
                <a:srgbClr val="000000"/>
              </a:solidFill>
              <a:latin typeface="Arial"/>
            </a:endParaRPr>
          </a:p>
        </p:txBody>
      </p:sp>
      <p:sp>
        <p:nvSpPr>
          <p:cNvPr id="410" name="TextBox 11"/>
          <p:cNvSpPr/>
          <p:nvPr/>
        </p:nvSpPr>
        <p:spPr>
          <a:xfrm>
            <a:off x="731520" y="3593520"/>
            <a:ext cx="1078956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400" spc="-1" strike="noStrike">
                <a:solidFill>
                  <a:srgbClr val="526576"/>
                </a:solidFill>
                <a:latin typeface="Arial"/>
              </a:rPr>
              <a:t>https://stockfishchess.org/</a:t>
            </a:r>
            <a:endParaRPr b="0" lang="en-US" sz="1400" spc="-1" strike="noStrike">
              <a:solidFill>
                <a:srgbClr val="000000"/>
              </a:solidFill>
              <a:latin typeface="Arial"/>
            </a:endParaRPr>
          </a:p>
        </p:txBody>
      </p:sp>
      <p:sp>
        <p:nvSpPr>
          <p:cNvPr id="411" name="TextBox 12"/>
          <p:cNvSpPr/>
          <p:nvPr/>
        </p:nvSpPr>
        <p:spPr>
          <a:xfrm>
            <a:off x="731520" y="4014360"/>
            <a:ext cx="10789560" cy="3052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2000" spc="-1" strike="noStrike" u="sng">
                <a:solidFill>
                  <a:srgbClr val="0000ff"/>
                </a:solidFill>
                <a:uFillTx/>
                <a:latin typeface="Arial"/>
                <a:hlinkClick r:id="rId4"/>
              </a:rPr>
              <a:t>llama.cpp — local model inference</a:t>
            </a:r>
            <a:endParaRPr b="0" lang="en-US" sz="2000" spc="-1" strike="noStrike">
              <a:solidFill>
                <a:srgbClr val="000000"/>
              </a:solidFill>
              <a:latin typeface="Arial"/>
            </a:endParaRPr>
          </a:p>
        </p:txBody>
      </p:sp>
      <p:sp>
        <p:nvSpPr>
          <p:cNvPr id="412" name="TextBox 13"/>
          <p:cNvSpPr/>
          <p:nvPr/>
        </p:nvSpPr>
        <p:spPr>
          <a:xfrm>
            <a:off x="731520" y="4352400"/>
            <a:ext cx="1078956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400" spc="-1" strike="noStrike">
                <a:solidFill>
                  <a:srgbClr val="526576"/>
                </a:solidFill>
                <a:latin typeface="Arial"/>
              </a:rPr>
              <a:t>https://github.com/ggml-org/llama.cpp</a:t>
            </a:r>
            <a:endParaRPr b="0" lang="en-US" sz="1400" spc="-1" strike="noStrike">
              <a:solidFill>
                <a:srgbClr val="000000"/>
              </a:solidFill>
              <a:latin typeface="Arial"/>
            </a:endParaRPr>
          </a:p>
        </p:txBody>
      </p:sp>
      <p:sp>
        <p:nvSpPr>
          <p:cNvPr id="413" name="TextBox 14"/>
          <p:cNvSpPr/>
          <p:nvPr/>
        </p:nvSpPr>
        <p:spPr>
          <a:xfrm>
            <a:off x="731520" y="5139000"/>
            <a:ext cx="10789560" cy="671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199"/>
              </a:spcAft>
            </a:pPr>
            <a:r>
              <a:rPr b="0" lang="en-US" sz="1700" spc="-1" strike="noStrike">
                <a:solidFill>
                  <a:srgbClr val="007f86"/>
                </a:solidFill>
                <a:latin typeface="Arial"/>
              </a:rPr>
              <a:t>Project evidence: evaluation/evaluation_dataset.tsv; evaluation/judged__model_*.json;</a:t>
            </a:r>
            <a:endParaRPr b="0" lang="en-US" sz="1700" spc="-1" strike="noStrike">
              <a:solidFill>
                <a:srgbClr val="000000"/>
              </a:solidFill>
              <a:latin typeface="Arial"/>
            </a:endParaRPr>
          </a:p>
          <a:p>
            <a:pPr defTabSz="457200">
              <a:lnSpc>
                <a:spcPct val="100000"/>
              </a:lnSpc>
              <a:spcAft>
                <a:spcPts val="1199"/>
              </a:spcAft>
            </a:pPr>
            <a:r>
              <a:rPr b="0" lang="en-US" sz="1700" spc="-1" strike="noStrike">
                <a:solidFill>
                  <a:srgbClr val="007f86"/>
                </a:solidFill>
                <a:latin typeface="Arial"/>
              </a:rPr>
              <a:t>notebooks/chess.ipynb; app/chess/stockfish_analyzer.py</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2026-10-12T13:25:39Z</dcterms:modified>
  <cp:revision>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